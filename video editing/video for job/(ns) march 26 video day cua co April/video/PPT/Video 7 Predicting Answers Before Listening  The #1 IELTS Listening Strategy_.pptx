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59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62323" autoAdjust="0"/>
  </p:normalViewPr>
  <p:slideViewPr>
    <p:cSldViewPr snapToGrid="0" showGuides="1">
      <p:cViewPr varScale="1">
        <p:scale>
          <a:sx n="70" d="100"/>
          <a:sy n="70" d="100"/>
        </p:scale>
        <p:origin x="1516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1/22/2026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“What if I told you that strong IELTS listeners already know many of the answers </a:t>
            </a:r>
            <a:r>
              <a:rPr lang="en-US" i="1" dirty="0"/>
              <a:t>before</a:t>
            </a:r>
            <a:r>
              <a:rPr lang="en-US" dirty="0"/>
              <a:t> the audio even starts?”</a:t>
            </a:r>
          </a:p>
          <a:p>
            <a:br>
              <a:rPr lang="en-US" dirty="0"/>
            </a:br>
            <a:r>
              <a:rPr lang="en-US" dirty="0"/>
              <a:t>“Most candidates press </a:t>
            </a:r>
            <a:r>
              <a:rPr lang="en-US" i="1" dirty="0"/>
              <a:t>play</a:t>
            </a:r>
            <a:r>
              <a:rPr lang="en-US" dirty="0"/>
              <a:t> and hope for the best.”</a:t>
            </a:r>
          </a:p>
          <a:p>
            <a:br>
              <a:rPr lang="en-US" dirty="0"/>
            </a:br>
            <a:r>
              <a:rPr lang="en-US" dirty="0"/>
              <a:t>“High-band candidates do something different.</a:t>
            </a:r>
            <a:br>
              <a:rPr lang="en-US" dirty="0"/>
            </a:br>
            <a:r>
              <a:rPr lang="en-US" dirty="0"/>
              <a:t>They </a:t>
            </a:r>
            <a:r>
              <a:rPr lang="en-US" b="1" dirty="0"/>
              <a:t>predict first</a:t>
            </a:r>
            <a:r>
              <a:rPr lang="en-US" dirty="0"/>
              <a:t>—then listen to confirm.”</a:t>
            </a:r>
          </a:p>
          <a:p>
            <a:br>
              <a:rPr lang="en-US" dirty="0"/>
            </a:br>
            <a:r>
              <a:rPr lang="en-US" dirty="0"/>
              <a:t>“In this video, I’ll show you how to predict answers </a:t>
            </a:r>
            <a:r>
              <a:rPr lang="en-US" i="1" dirty="0"/>
              <a:t>before listening</a:t>
            </a: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a simple strategy that can immediately improve your IELTS Listening score.”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“Hello, my name is April Ampong, and I’m an instructor at IELTS NINER REVIEW CENTER— an international-standard IELTS training system that helps learners progress from beginner level to Band 7.0–9.0 in the most time-efficient way.”</a:t>
            </a:r>
            <a:endParaRPr lang="en-US" dirty="0"/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“Predicting does </a:t>
            </a:r>
            <a:r>
              <a:rPr lang="en-US" i="1" dirty="0"/>
              <a:t>not</a:t>
            </a:r>
            <a:r>
              <a:rPr lang="en-US" dirty="0"/>
              <a:t> mean guessing the exact answer.”</a:t>
            </a:r>
          </a:p>
          <a:p>
            <a:br>
              <a:rPr lang="en-US" dirty="0"/>
            </a:br>
            <a:r>
              <a:rPr lang="en-US" dirty="0"/>
              <a:t>“It means predicting:</a:t>
            </a:r>
            <a:br>
              <a:rPr lang="en-US" dirty="0"/>
            </a:br>
            <a:r>
              <a:rPr lang="en-US" dirty="0"/>
              <a:t>• the </a:t>
            </a:r>
            <a:r>
              <a:rPr lang="en-US" b="1" dirty="0"/>
              <a:t>type</a:t>
            </a:r>
            <a:r>
              <a:rPr lang="en-US" dirty="0"/>
              <a:t> of answer,</a:t>
            </a:r>
            <a:br>
              <a:rPr lang="en-US" dirty="0"/>
            </a:br>
            <a:r>
              <a:rPr lang="en-US" dirty="0"/>
              <a:t>• the </a:t>
            </a:r>
            <a:r>
              <a:rPr lang="en-US" b="1" dirty="0"/>
              <a:t>form</a:t>
            </a:r>
            <a:r>
              <a:rPr lang="en-US" dirty="0"/>
              <a:t> of the answer,</a:t>
            </a:r>
            <a:br>
              <a:rPr lang="en-US" dirty="0"/>
            </a:br>
            <a:r>
              <a:rPr lang="en-US" dirty="0"/>
              <a:t>• and the </a:t>
            </a:r>
            <a:r>
              <a:rPr lang="en-US" b="1" dirty="0"/>
              <a:t>kind of information</a:t>
            </a:r>
            <a:r>
              <a:rPr lang="en-US" dirty="0"/>
              <a:t> you’re listening for.”</a:t>
            </a:r>
          </a:p>
          <a:p>
            <a:br>
              <a:rPr lang="en-US" dirty="0"/>
            </a:br>
            <a:r>
              <a:rPr lang="en-US" dirty="0"/>
              <a:t>“When you predict correctly, your brain is already prepared to catch the answer.”</a:t>
            </a:r>
          </a:p>
          <a:p>
            <a:br>
              <a:rPr lang="en-US" dirty="0"/>
            </a:br>
            <a:r>
              <a:rPr lang="en-US" dirty="0"/>
              <a:t>“You’re no longer listening blindly.</a:t>
            </a:r>
            <a:br>
              <a:rPr lang="en-US" dirty="0"/>
            </a:br>
            <a:r>
              <a:rPr lang="en-US" dirty="0"/>
              <a:t>You’re listening with a purpose.”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46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“Here’s a simple </a:t>
            </a:r>
            <a:r>
              <a:rPr lang="en-US" b="1" dirty="0"/>
              <a:t>three-step process</a:t>
            </a:r>
            <a:r>
              <a:rPr lang="en-US" dirty="0"/>
              <a:t> you can use in every IELTS Listening section.”</a:t>
            </a:r>
          </a:p>
          <a:p>
            <a:endParaRPr lang="en-US" dirty="0"/>
          </a:p>
          <a:p>
            <a:r>
              <a:rPr lang="en-US" b="1" dirty="0"/>
              <a:t>Step one:</a:t>
            </a:r>
            <a:br>
              <a:rPr lang="en-US" dirty="0"/>
            </a:br>
            <a:r>
              <a:rPr lang="en-US" dirty="0"/>
              <a:t>“Before the audio starts, look at the question carefully.</a:t>
            </a:r>
            <a:br>
              <a:rPr lang="en-US" dirty="0"/>
            </a:br>
            <a:r>
              <a:rPr lang="en-US" dirty="0"/>
              <a:t>Don’t rush. Don’t skip it.</a:t>
            </a:r>
            <a:br>
              <a:rPr lang="en-US" dirty="0"/>
            </a:br>
            <a:r>
              <a:rPr lang="en-US" dirty="0"/>
              <a:t>This is where strong listeners already get ahead.”</a:t>
            </a:r>
          </a:p>
          <a:p>
            <a:endParaRPr lang="en-US" dirty="0"/>
          </a:p>
          <a:p>
            <a:r>
              <a:rPr lang="en-US" b="1" dirty="0"/>
              <a:t>Step two:</a:t>
            </a:r>
            <a:br>
              <a:rPr lang="en-US" dirty="0"/>
            </a:br>
            <a:r>
              <a:rPr lang="en-US" dirty="0"/>
              <a:t>“Now identify what is missing in the gap.</a:t>
            </a:r>
            <a:br>
              <a:rPr lang="en-US" dirty="0"/>
            </a:br>
            <a:r>
              <a:rPr lang="en-US" dirty="0"/>
              <a:t>Ask yourself:</a:t>
            </a:r>
            <a:br>
              <a:rPr lang="en-US" dirty="0"/>
            </a:br>
            <a:r>
              <a:rPr lang="en-US" dirty="0"/>
              <a:t>Is the answer a </a:t>
            </a:r>
            <a:r>
              <a:rPr lang="en-US" b="1" dirty="0"/>
              <a:t>number</a:t>
            </a:r>
            <a:r>
              <a:rPr lang="en-US" dirty="0"/>
              <a:t>, like a price or a time?</a:t>
            </a:r>
            <a:br>
              <a:rPr lang="en-US" dirty="0"/>
            </a:br>
            <a:r>
              <a:rPr lang="en-US" dirty="0"/>
              <a:t>Is it a </a:t>
            </a:r>
            <a:r>
              <a:rPr lang="en-US" b="1" dirty="0"/>
              <a:t>name</a:t>
            </a:r>
            <a:r>
              <a:rPr lang="en-US" dirty="0"/>
              <a:t>, maybe a person or an organization?</a:t>
            </a:r>
            <a:br>
              <a:rPr lang="en-US" dirty="0"/>
            </a:br>
            <a:r>
              <a:rPr lang="en-US" dirty="0"/>
              <a:t>Is it a </a:t>
            </a:r>
            <a:r>
              <a:rPr lang="en-US" b="1" dirty="0"/>
              <a:t>place</a:t>
            </a:r>
            <a:r>
              <a:rPr lang="en-US" dirty="0"/>
              <a:t>, like a street, a building, or a city?</a:t>
            </a:r>
            <a:br>
              <a:rPr lang="en-US" dirty="0"/>
            </a:br>
            <a:r>
              <a:rPr lang="en-US" dirty="0"/>
              <a:t>Or is it a </a:t>
            </a:r>
            <a:r>
              <a:rPr lang="en-US" b="1" dirty="0"/>
              <a:t>word</a:t>
            </a:r>
            <a:r>
              <a:rPr lang="en-US" dirty="0"/>
              <a:t>—a noun, a verb, or an adjective?”</a:t>
            </a:r>
          </a:p>
          <a:p>
            <a:r>
              <a:rPr lang="en-US" b="1" dirty="0"/>
              <a:t>Step three:</a:t>
            </a:r>
            <a:br>
              <a:rPr lang="en-US" dirty="0"/>
            </a:br>
            <a:r>
              <a:rPr lang="en-US" dirty="0"/>
              <a:t>“Next, think logically about what would fit in that space.</a:t>
            </a:r>
            <a:br>
              <a:rPr lang="en-US" dirty="0"/>
            </a:br>
            <a:r>
              <a:rPr lang="en-US" dirty="0"/>
              <a:t>You’re not guessing the exact answer.</a:t>
            </a:r>
            <a:br>
              <a:rPr lang="en-US" dirty="0"/>
            </a:br>
            <a:r>
              <a:rPr lang="en-US" dirty="0"/>
              <a:t>You’re preparing your brain for the </a:t>
            </a:r>
            <a:r>
              <a:rPr lang="en-US" i="1" dirty="0"/>
              <a:t>kind</a:t>
            </a:r>
            <a:r>
              <a:rPr lang="en-US" dirty="0"/>
              <a:t> of answer you’ll hear.”</a:t>
            </a:r>
          </a:p>
          <a:p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“When you do this, your brain switches from passive listening to active listening.</a:t>
            </a:r>
            <a:br>
              <a:rPr lang="en-US" dirty="0"/>
            </a:br>
            <a:r>
              <a:rPr lang="en-US" dirty="0"/>
              <a:t>Instead of panicking or trying to catch every word,</a:t>
            </a:r>
            <a:br>
              <a:rPr lang="en-US" dirty="0"/>
            </a:br>
            <a:r>
              <a:rPr lang="en-US" dirty="0"/>
              <a:t>you’re listening with a clear purpose.”</a:t>
            </a:r>
          </a:p>
          <a:p>
            <a:endParaRPr lang="en-US" dirty="0"/>
          </a:p>
          <a:p>
            <a:r>
              <a:rPr lang="en-US" b="1" dirty="0"/>
              <a:t>Reassurance:</a:t>
            </a:r>
            <a:br>
              <a:rPr lang="en-US" dirty="0"/>
            </a:br>
            <a:r>
              <a:rPr lang="en-US" dirty="0"/>
              <a:t>“This entire process takes just a few seconds.</a:t>
            </a:r>
            <a:br>
              <a:rPr lang="en-US" dirty="0"/>
            </a:br>
            <a:r>
              <a:rPr lang="en-US" dirty="0"/>
              <a:t>But it makes a huge difference during the audio.”</a:t>
            </a:r>
          </a:p>
          <a:p>
            <a:endParaRPr lang="en-US" dirty="0"/>
          </a:p>
          <a:p>
            <a:r>
              <a:rPr lang="en-US" b="1" dirty="0"/>
              <a:t>Strong close:</a:t>
            </a:r>
            <a:br>
              <a:rPr lang="en-US" dirty="0"/>
            </a:br>
            <a:r>
              <a:rPr lang="en-US" dirty="0"/>
              <a:t>“Prepared listeners don’t panic.</a:t>
            </a:r>
            <a:br>
              <a:rPr lang="en-US" dirty="0"/>
            </a:br>
            <a:r>
              <a:rPr lang="en-US" dirty="0"/>
              <a:t>They recognize the answer when they hear it.”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29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“For example, if the question says:</a:t>
            </a:r>
            <a:br>
              <a:rPr lang="en-US" dirty="0"/>
            </a:br>
            <a:r>
              <a:rPr lang="en-US" dirty="0"/>
              <a:t>‘The course starts on ______.’”</a:t>
            </a:r>
          </a:p>
          <a:p>
            <a:r>
              <a:rPr lang="en-US" dirty="0"/>
              <a:t>“Even before the audio begins, you can already predict a few important things.”</a:t>
            </a:r>
          </a:p>
          <a:p>
            <a:r>
              <a:rPr lang="en-US" dirty="0"/>
              <a:t>“First, the answer will be a </a:t>
            </a:r>
            <a:r>
              <a:rPr lang="en-US" b="1" dirty="0"/>
              <a:t>date or a day</a:t>
            </a:r>
            <a:r>
              <a:rPr lang="en-US" dirty="0"/>
              <a:t>, not a long phrase.”</a:t>
            </a:r>
          </a:p>
          <a:p>
            <a:r>
              <a:rPr lang="en-US" dirty="0"/>
              <a:t>“Second, it will be </a:t>
            </a:r>
            <a:r>
              <a:rPr lang="en-US" b="1" dirty="0"/>
              <a:t>singular</a:t>
            </a:r>
            <a:r>
              <a:rPr lang="en-US" dirty="0"/>
              <a:t>.”</a:t>
            </a:r>
          </a:p>
          <a:p>
            <a:r>
              <a:rPr lang="en-US" dirty="0"/>
              <a:t>“And third, it will probably be </a:t>
            </a:r>
            <a:r>
              <a:rPr lang="en-US" b="1" dirty="0"/>
              <a:t>clearly and directly stated</a:t>
            </a:r>
            <a:r>
              <a:rPr lang="en-US" dirty="0"/>
              <a:t> in the recording.”</a:t>
            </a:r>
          </a:p>
          <a:p>
            <a:r>
              <a:rPr lang="en-US" dirty="0"/>
              <a:t>“Now, when you listen, your attention is no longer spread everywhere.”</a:t>
            </a:r>
          </a:p>
          <a:p>
            <a:r>
              <a:rPr lang="en-US" dirty="0"/>
              <a:t>“You’re listening specifically for </a:t>
            </a:r>
            <a:r>
              <a:rPr lang="en-US" b="1" dirty="0"/>
              <a:t>time information</a:t>
            </a:r>
            <a:r>
              <a:rPr lang="en-US" dirty="0"/>
              <a:t>.”</a:t>
            </a:r>
          </a:p>
          <a:p>
            <a:r>
              <a:rPr lang="en-US" dirty="0"/>
              <a:t>“So when you hear something like:</a:t>
            </a:r>
            <a:br>
              <a:rPr lang="en-US" dirty="0"/>
            </a:br>
            <a:r>
              <a:rPr lang="en-US" dirty="0"/>
              <a:t>‘The course actually begins on Monday, the 14th of September,’</a:t>
            </a:r>
            <a:br>
              <a:rPr lang="en-US" dirty="0"/>
            </a:br>
            <a:r>
              <a:rPr lang="en-US" dirty="0"/>
              <a:t>your brain immediately recognizes it as the answer.”</a:t>
            </a:r>
          </a:p>
          <a:p>
            <a:br>
              <a:rPr lang="en-US" dirty="0"/>
            </a:br>
            <a:r>
              <a:rPr lang="en-US" dirty="0"/>
              <a:t>“This is why prediction works.”</a:t>
            </a:r>
          </a:p>
          <a:p>
            <a:r>
              <a:rPr lang="en-US" dirty="0"/>
              <a:t>“You’re not trying to understand every word.</a:t>
            </a:r>
            <a:br>
              <a:rPr lang="en-US" dirty="0"/>
            </a:br>
            <a:r>
              <a:rPr lang="en-US" dirty="0"/>
              <a:t>You’re listening for </a:t>
            </a:r>
            <a:r>
              <a:rPr lang="en-US" i="1" dirty="0"/>
              <a:t>meaning</a:t>
            </a:r>
            <a:r>
              <a:rPr lang="en-US" dirty="0"/>
              <a:t>—with a clear target.”</a:t>
            </a:r>
          </a:p>
          <a:p>
            <a:br>
              <a:rPr lang="en-US" dirty="0"/>
            </a:br>
            <a:r>
              <a:rPr lang="en-US" dirty="0"/>
              <a:t>“That’s how high-band candidates stay calm and accurate during IELTS Listening.”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854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“Prediction works because </a:t>
            </a:r>
            <a:r>
              <a:rPr lang="en-US" b="1" dirty="0"/>
              <a:t>IELTS Listening is highly structured</a:t>
            </a:r>
            <a:r>
              <a:rPr lang="en-US" dirty="0"/>
              <a:t>.”</a:t>
            </a:r>
          </a:p>
          <a:p>
            <a:r>
              <a:rPr lang="en-US" dirty="0"/>
              <a:t>“This is something many candidates don’t realize.”</a:t>
            </a:r>
          </a:p>
          <a:p>
            <a:r>
              <a:rPr lang="en-US" dirty="0"/>
              <a:t>“In IELTS Listening, the answers come in </a:t>
            </a:r>
            <a:r>
              <a:rPr lang="en-US" b="1" dirty="0"/>
              <a:t>the same order as the questions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You’re not listening randomly—you’re moving forward step by step with the test.”</a:t>
            </a:r>
          </a:p>
          <a:p>
            <a:r>
              <a:rPr lang="en-US" dirty="0"/>
              <a:t>“That’s exactly why prediction is so powerful.”</a:t>
            </a:r>
          </a:p>
          <a:p>
            <a:r>
              <a:rPr lang="en-US" dirty="0"/>
              <a:t>“When you predict correctly, a few important things happen.”</a:t>
            </a:r>
          </a:p>
          <a:p>
            <a:r>
              <a:rPr lang="en-US" dirty="0"/>
              <a:t>“First, you listen </a:t>
            </a:r>
            <a:r>
              <a:rPr lang="en-US" b="1" dirty="0"/>
              <a:t>more actively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You’re not trying to catch every word—you’re listening for specific information.”</a:t>
            </a:r>
          </a:p>
          <a:p>
            <a:r>
              <a:rPr lang="en-US" dirty="0"/>
              <a:t>“Second, you avoid </a:t>
            </a:r>
            <a:r>
              <a:rPr lang="en-US" b="1" dirty="0"/>
              <a:t>distractions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Background details, extra explanations, and unfamiliar vocabulary don’t pull your attention away.”</a:t>
            </a:r>
          </a:p>
          <a:p>
            <a:r>
              <a:rPr lang="en-US" dirty="0"/>
              <a:t>“And third, you catch </a:t>
            </a:r>
            <a:r>
              <a:rPr lang="en-US" b="1" dirty="0"/>
              <a:t>paraphrased information</a:t>
            </a:r>
            <a:r>
              <a:rPr lang="en-US" dirty="0"/>
              <a:t> much more easily.</a:t>
            </a:r>
            <a:br>
              <a:rPr lang="en-US" dirty="0"/>
            </a:br>
            <a:r>
              <a:rPr lang="en-US" dirty="0"/>
              <a:t>Even if the speaker doesn’t use the same words as the question,</a:t>
            </a:r>
            <a:br>
              <a:rPr lang="en-US" dirty="0"/>
            </a:br>
            <a:r>
              <a:rPr lang="en-US" dirty="0"/>
              <a:t>you recognize the idea immediately.”</a:t>
            </a:r>
          </a:p>
          <a:p>
            <a:r>
              <a:rPr lang="en-US" dirty="0"/>
              <a:t>“This is also why candidates who </a:t>
            </a:r>
            <a:r>
              <a:rPr lang="en-US" i="1" dirty="0"/>
              <a:t>don’t</a:t>
            </a:r>
            <a:r>
              <a:rPr lang="en-US" dirty="0"/>
              <a:t> predict often miss answers—</a:t>
            </a:r>
            <a:br>
              <a:rPr lang="en-US" dirty="0"/>
            </a:br>
            <a:r>
              <a:rPr lang="en-US" dirty="0"/>
              <a:t>even when the audio is clear.”</a:t>
            </a:r>
          </a:p>
          <a:p>
            <a:r>
              <a:rPr lang="en-US" dirty="0"/>
              <a:t>“They hear the information,</a:t>
            </a:r>
            <a:br>
              <a:rPr lang="en-US" dirty="0"/>
            </a:br>
            <a:r>
              <a:rPr lang="en-US" dirty="0"/>
              <a:t>but they don’t recognize it as the answer.”</a:t>
            </a:r>
          </a:p>
          <a:p>
            <a:br>
              <a:rPr lang="en-US" dirty="0"/>
            </a:br>
            <a:r>
              <a:rPr lang="en-US" dirty="0"/>
              <a:t>“Prediction turns IELTS Listening from a guessing game into a controlled process.”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81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“Strong listeners don’t predict once or twice.</a:t>
            </a:r>
            <a:br>
              <a:rPr lang="en-US" dirty="0"/>
            </a:br>
            <a:r>
              <a:rPr lang="en-US" dirty="0"/>
              <a:t>They practice predicting answers in </a:t>
            </a:r>
            <a:r>
              <a:rPr lang="en-US" b="1" dirty="0"/>
              <a:t>every</a:t>
            </a:r>
            <a:r>
              <a:rPr lang="en-US" dirty="0"/>
              <a:t> Listening exercise—</a:t>
            </a:r>
            <a:br>
              <a:rPr lang="en-US" dirty="0"/>
            </a:br>
            <a:r>
              <a:rPr lang="en-US" dirty="0"/>
              <a:t>until the process becomes automatic.”</a:t>
            </a:r>
          </a:p>
          <a:p>
            <a:r>
              <a:rPr lang="en-US" dirty="0"/>
              <a:t>“At that point, prediction is no longer something you think about.</a:t>
            </a:r>
            <a:br>
              <a:rPr lang="en-US" dirty="0"/>
            </a:br>
            <a:r>
              <a:rPr lang="en-US" dirty="0"/>
              <a:t>It happens naturally, before the audio even starts.”</a:t>
            </a:r>
          </a:p>
          <a:p>
            <a:r>
              <a:rPr lang="en-US" dirty="0"/>
              <a:t>“This is one of the </a:t>
            </a:r>
            <a:r>
              <a:rPr lang="en-US" b="1" dirty="0"/>
              <a:t>fastest ways</a:t>
            </a:r>
            <a:r>
              <a:rPr lang="en-US" dirty="0"/>
              <a:t> to move from </a:t>
            </a:r>
            <a:r>
              <a:rPr lang="en-US" b="1" dirty="0"/>
              <a:t>Band 5–6 to Band 7+</a:t>
            </a:r>
            <a:r>
              <a:rPr lang="en-US" dirty="0"/>
              <a:t> in IELTS Listening.”</a:t>
            </a:r>
          </a:p>
          <a:p>
            <a:r>
              <a:rPr lang="en-US" dirty="0"/>
              <a:t>“Not because your English suddenly improves—</a:t>
            </a:r>
            <a:br>
              <a:rPr lang="en-US" dirty="0"/>
            </a:br>
            <a:r>
              <a:rPr lang="en-US" dirty="0"/>
              <a:t>but because your listening becomes </a:t>
            </a:r>
            <a:r>
              <a:rPr lang="en-US" b="1" dirty="0"/>
              <a:t>focused, calm, and controlled</a:t>
            </a:r>
            <a:r>
              <a:rPr lang="en-US" dirty="0"/>
              <a:t>.”</a:t>
            </a:r>
          </a:p>
          <a:p>
            <a:r>
              <a:rPr lang="en-US" dirty="0"/>
              <a:t>“Train the skill. The score will follow.”</a:t>
            </a:r>
          </a:p>
          <a:p>
            <a:r>
              <a:rPr lang="en-US" dirty="0"/>
              <a:t>“This is how high-band listeners think.”</a:t>
            </a:r>
          </a:p>
          <a:p>
            <a:r>
              <a:rPr lang="en-US" dirty="0"/>
              <a:t>“Predict first—then listen.”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that you know how to predict answers, the next challenge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recognizing them when they sound different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next video, we’ll focus on: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Paraphrasing in IELTS Listening—and why keywords often mislead you.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“See you in the next video.”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26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that you know how to predict answers, the next challenge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recognizing them when they sound different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next video, we’ll focus on: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Paraphrasing in IELTS Listening—and why keywords often mislead you.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“See you in the next video.”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84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73152" y="2292094"/>
            <a:ext cx="6765798" cy="2219691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b="1" dirty="0"/>
              <a:t>Predicting Answers Before Listening | The #1 IELTS Listening Strategy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6DA6ABD-A696-B8A3-4FA1-74AF5CA805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BC2DA-38DF-DBA3-26B8-9883752FD9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138" y="3976160"/>
            <a:ext cx="2966259" cy="2577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What Does ‘Predicting’ Mean?</a:t>
            </a:r>
            <a:endParaRPr lang="en-US" sz="4000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5332476" cy="457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Predicting does not mean guessing the exact answer.</a:t>
            </a:r>
          </a:p>
          <a:p>
            <a:pPr marL="0" indent="0">
              <a:buNone/>
            </a:pPr>
            <a:r>
              <a:rPr lang="en-US" dirty="0"/>
              <a:t>It means predicting:</a:t>
            </a:r>
          </a:p>
          <a:p>
            <a:pPr mar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The </a:t>
            </a:r>
            <a:r>
              <a:rPr lang="en-US" b="1" dirty="0"/>
              <a:t>type</a:t>
            </a:r>
            <a:r>
              <a:rPr lang="en-US" dirty="0"/>
              <a:t> of answer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The </a:t>
            </a:r>
            <a:r>
              <a:rPr lang="en-US" b="1" dirty="0"/>
              <a:t>form</a:t>
            </a:r>
            <a:r>
              <a:rPr lang="en-US" dirty="0"/>
              <a:t> of the answer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And the </a:t>
            </a:r>
            <a:r>
              <a:rPr lang="en-US" b="1" dirty="0"/>
              <a:t>kind of information</a:t>
            </a:r>
            <a:r>
              <a:rPr lang="en-US" dirty="0"/>
              <a:t> you will hear</a:t>
            </a:r>
          </a:p>
          <a:p>
            <a:pPr marL="0" lvl="0" indent="0">
              <a:buNone/>
            </a:pPr>
            <a:endParaRPr lang="en-US" dirty="0"/>
          </a:p>
          <a:p>
            <a:r>
              <a:rPr lang="en-US" dirty="0"/>
              <a:t>When you predict correctly, your brain is already prepared to catch the answer.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43D895-A851-F215-4B80-65AD7C32E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654" y="4584879"/>
            <a:ext cx="2334654" cy="2028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How to Predict Step by Step</a:t>
            </a:r>
            <a:endParaRPr lang="en-US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E79B1-122A-8D13-A5C1-61F49A054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402" y="1585210"/>
            <a:ext cx="9410700" cy="52727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600" b="1" dirty="0"/>
              <a:t>Here’s a simple three-step process.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Step one: Look at the question carefully.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Step two: Identify what is missing: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A number?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A name?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A place?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A noun or verb?”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Step three: Think about what would logically fit in that space.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process takes </a:t>
            </a:r>
            <a:r>
              <a:rPr lang="en-US" b="1" dirty="0"/>
              <a:t>seconds</a:t>
            </a:r>
            <a:r>
              <a:rPr lang="en-US" dirty="0"/>
              <a:t>, but it saves you from panic during the audio.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873CB-859C-4225-2147-BA94BD0FE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255" y="4570815"/>
            <a:ext cx="2334654" cy="2028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Example of Prediction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51114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example, if the question says:</a:t>
            </a:r>
          </a:p>
          <a:p>
            <a:pPr marL="0" indent="0">
              <a:buNone/>
            </a:pP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‘The course starts on ______.</a:t>
            </a:r>
          </a:p>
          <a:p>
            <a:pPr marL="0" indent="0">
              <a:buNone/>
            </a:pPr>
            <a:r>
              <a:rPr lang="en-US" dirty="0"/>
              <a:t>You can already predict: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The answer will be a </a:t>
            </a:r>
            <a:r>
              <a:rPr lang="en-US" b="1" dirty="0"/>
              <a:t>date or day</a:t>
            </a:r>
            <a:endParaRPr lang="en-US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It will be </a:t>
            </a:r>
            <a:r>
              <a:rPr lang="en-US" b="1" dirty="0"/>
              <a:t>singular</a:t>
            </a:r>
            <a:endParaRPr lang="en-US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And it will probably be clearly stated”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Now, when you hear the recording, your attention is focused.”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E64349-50B9-EFE3-917B-C81187839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654" y="4584879"/>
            <a:ext cx="2334654" cy="2028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Why Prediction Works</a:t>
            </a:r>
            <a:endParaRPr 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A6725-3660-03DE-158C-47791B5E0151}"/>
              </a:ext>
            </a:extLst>
          </p:cNvPr>
          <p:cNvSpPr txBox="1"/>
          <p:nvPr/>
        </p:nvSpPr>
        <p:spPr>
          <a:xfrm>
            <a:off x="1104901" y="2136339"/>
            <a:ext cx="683209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Prediction works because IELTS Listening is </a:t>
            </a:r>
            <a:r>
              <a:rPr lang="en-US" sz="2000" b="1" dirty="0">
                <a:effectLst/>
                <a:ea typeface="Times New Roman" panose="02020603050405020304" pitchFamily="18" charset="0"/>
              </a:rPr>
              <a:t>highly structured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.</a:t>
            </a:r>
            <a:r>
              <a:rPr lang="en-US" sz="2000" dirty="0">
                <a:ea typeface="Times New Roman" panose="02020603050405020304" pitchFamily="18" charset="0"/>
              </a:rPr>
              <a:t>-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The answers come in the same order as the questions.</a:t>
            </a:r>
          </a:p>
          <a:p>
            <a:pPr marL="0" marR="0">
              <a:buNone/>
            </a:pP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“If you predict correctly: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ea typeface="Times New Roman" panose="02020603050405020304" pitchFamily="18" charset="0"/>
              </a:rPr>
              <a:t>You listen more actively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ea typeface="Times New Roman" panose="02020603050405020304" pitchFamily="18" charset="0"/>
              </a:rPr>
              <a:t>You avoid distractions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ea typeface="Times New Roman" panose="02020603050405020304" pitchFamily="18" charset="0"/>
              </a:rPr>
              <a:t>You catch paraphrased information more easily”</a:t>
            </a:r>
          </a:p>
          <a:p>
            <a:pPr marR="0" lvl="0">
              <a:buSzPts val="1000"/>
              <a:tabLst>
                <a:tab pos="457200" algn="l"/>
              </a:tabLst>
            </a:pP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Candidates who don’t predict often miss answers—even when the audio is clear.”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19E3B8-6744-000C-7DE5-6C3128FF8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654" y="4584879"/>
            <a:ext cx="2334654" cy="2028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Advice from IELTS NINER REVIEW CENTER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7E1B1-C192-E9B7-E8F4-082029B6A316}"/>
              </a:ext>
            </a:extLst>
          </p:cNvPr>
          <p:cNvSpPr txBox="1"/>
          <p:nvPr/>
        </p:nvSpPr>
        <p:spPr>
          <a:xfrm>
            <a:off x="1104900" y="1810104"/>
            <a:ext cx="968349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Students practice predicting answers in </a:t>
            </a:r>
            <a:r>
              <a:rPr lang="en-US" sz="2400" b="1" dirty="0">
                <a:effectLst/>
                <a:ea typeface="Times New Roman" panose="02020603050405020304" pitchFamily="18" charset="0"/>
              </a:rPr>
              <a:t>every Listening exercise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, until it becomes automatic.</a:t>
            </a:r>
          </a:p>
          <a:p>
            <a:pPr marL="0" marR="0">
              <a:buNone/>
            </a:pP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This is one of the fastest ways to move from Band 5–6 to Band 7+ in Listening.</a:t>
            </a:r>
          </a:p>
          <a:p>
            <a:pPr marL="0" marR="0">
              <a:buNone/>
            </a:pPr>
            <a:endParaRPr lang="en-US" sz="2400" dirty="0">
              <a:ea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Train the skill. The score will follow.</a:t>
            </a:r>
          </a:p>
          <a:p>
            <a:endParaRPr lang="en-US" sz="24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51F13-DE4F-089B-5FB6-C0D57557C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55" b="98047" l="3125" r="96289">
                        <a14:foregroundMark x1="54883" y1="6055" x2="3320" y2="61328"/>
                        <a14:foregroundMark x1="89844" y1="29102" x2="91211" y2="72266"/>
                        <a14:foregroundMark x1="29883" y1="45313" x2="71094" y2="91992"/>
                        <a14:foregroundMark x1="43359" y1="98242" x2="55859" y2="98242"/>
                        <a14:foregroundMark x1="95703" y1="41602" x2="96289" y2="58203"/>
                        <a14:foregroundMark x1="26563" y1="27930" x2="17383" y2="61133"/>
                        <a14:foregroundMark x1="7422" y1="52148" x2="70898" y2="46680"/>
                        <a14:foregroundMark x1="70898" y1="46680" x2="91016" y2="47852"/>
                        <a14:foregroundMark x1="60156" y1="20898" x2="37695" y2="34570"/>
                        <a14:foregroundMark x1="42578" y1="23242" x2="57813" y2="32422"/>
                        <a14:foregroundMark x1="57813" y1="32422" x2="39453" y2="29102"/>
                        <a14:foregroundMark x1="39453" y1="29102" x2="57031" y2="27344"/>
                        <a14:foregroundMark x1="57031" y1="27344" x2="49609" y2="32227"/>
                        <a14:foregroundMark x1="25000" y1="45508" x2="51953" y2="47852"/>
                        <a14:foregroundMark x1="51953" y1="47852" x2="44336" y2="57227"/>
                        <a14:foregroundMark x1="64063" y1="44922" x2="55469" y2="59766"/>
                        <a14:foregroundMark x1="55469" y1="59766" x2="55469" y2="60156"/>
                        <a14:foregroundMark x1="56641" y1="45898" x2="50781" y2="57813"/>
                        <a14:foregroundMark x1="25977" y1="49414" x2="30859" y2="58594"/>
                        <a14:foregroundMark x1="81055" y1="44336" x2="79492" y2="5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654" y="4584879"/>
            <a:ext cx="2334654" cy="2028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38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518</TotalTime>
  <Words>1353</Words>
  <Application>Microsoft Office PowerPoint</Application>
  <PresentationFormat>Widescreen</PresentationFormat>
  <Paragraphs>112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Euphemia</vt:lpstr>
      <vt:lpstr>Plantagenet Cherokee</vt:lpstr>
      <vt:lpstr>Symbol</vt:lpstr>
      <vt:lpstr>Times New Roman</vt:lpstr>
      <vt:lpstr>Wingdings</vt:lpstr>
      <vt:lpstr>Academic Literature 16x9</vt:lpstr>
      <vt:lpstr>Predicting Answers Before Listening | The #1 IELTS Listening Strategy</vt:lpstr>
      <vt:lpstr>What Does ‘Predicting’ Mean?</vt:lpstr>
      <vt:lpstr>How to Predict Step by Step</vt:lpstr>
      <vt:lpstr>Example of Prediction</vt:lpstr>
      <vt:lpstr>Why Prediction Works</vt:lpstr>
      <vt:lpstr>Advice from IELTS NINER REVIEW CENTER</vt:lpstr>
      <vt:lpstr>PowerPoint Presentation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April Ampong</dc:creator>
  <cp:lastModifiedBy>April Ampong</cp:lastModifiedBy>
  <cp:revision>7</cp:revision>
  <dcterms:created xsi:type="dcterms:W3CDTF">2026-01-16T02:25:21Z</dcterms:created>
  <dcterms:modified xsi:type="dcterms:W3CDTF">2026-01-22T13:07:52Z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