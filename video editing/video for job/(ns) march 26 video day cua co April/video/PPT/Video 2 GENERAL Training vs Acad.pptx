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257" r:id="rId6"/>
    <p:sldId id="258" r:id="rId7"/>
    <p:sldId id="259" r:id="rId8"/>
    <p:sldId id="260" r:id="rId9"/>
    <p:sldId id="266" r:id="rId10"/>
    <p:sldId id="268"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67092" autoAdjust="0"/>
  </p:normalViewPr>
  <p:slideViewPr>
    <p:cSldViewPr snapToGrid="0" showGuides="1">
      <p:cViewPr varScale="1">
        <p:scale>
          <a:sx n="73" d="100"/>
          <a:sy n="73" d="100"/>
        </p:scale>
        <p:origin x="1232" y="3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1/13/2026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1/13/2026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i="1" dirty="0">
                <a:latin typeface="Arial" pitchFamily="34" charset="0"/>
                <a:cs typeface="Arial" pitchFamily="34" charset="0"/>
              </a:rPr>
              <a:t>NOTE:</a:t>
            </a:r>
          </a:p>
          <a:p>
            <a:r>
              <a:rPr lang="en-US" sz="1400" kern="1200" dirty="0">
                <a:solidFill>
                  <a:schemeClr val="tx1"/>
                </a:solidFill>
                <a:effectLst/>
                <a:latin typeface="+mn-lt"/>
                <a:ea typeface="+mn-ea"/>
                <a:cs typeface="+mn-cs"/>
              </a:rPr>
              <a:t>“Choosing the wrong IELTS test doesn’t just lower your score—</a:t>
            </a:r>
            <a:br>
              <a:rPr lang="en-US" sz="1400" kern="1200" dirty="0">
                <a:solidFill>
                  <a:schemeClr val="tx1"/>
                </a:solidFill>
                <a:effectLst/>
                <a:latin typeface="+mn-lt"/>
                <a:ea typeface="+mn-ea"/>
                <a:cs typeface="+mn-cs"/>
              </a:rPr>
            </a:br>
            <a:r>
              <a:rPr lang="en-US" sz="1400" kern="1200" dirty="0">
                <a:solidFill>
                  <a:schemeClr val="tx1"/>
                </a:solidFill>
                <a:effectLst/>
                <a:latin typeface="+mn-lt"/>
                <a:ea typeface="+mn-ea"/>
                <a:cs typeface="+mn-cs"/>
              </a:rPr>
              <a:t>it can cost you </a:t>
            </a:r>
            <a:r>
              <a:rPr lang="en-US" sz="1400" b="1" kern="1200" dirty="0">
                <a:solidFill>
                  <a:schemeClr val="tx1"/>
                </a:solidFill>
                <a:effectLst/>
                <a:latin typeface="+mn-lt"/>
                <a:ea typeface="+mn-ea"/>
                <a:cs typeface="+mn-cs"/>
              </a:rPr>
              <a:t>months of study</a:t>
            </a:r>
            <a:r>
              <a:rPr lang="en-US" sz="1400" kern="1200" dirty="0">
                <a:solidFill>
                  <a:schemeClr val="tx1"/>
                </a:solidFill>
                <a:effectLst/>
                <a:latin typeface="+mn-lt"/>
                <a:ea typeface="+mn-ea"/>
                <a:cs typeface="+mn-cs"/>
              </a:rPr>
              <a:t>, extra exam fees, and even </a:t>
            </a:r>
            <a:r>
              <a:rPr lang="en-US" sz="1400" b="1" kern="1200" dirty="0">
                <a:solidFill>
                  <a:schemeClr val="tx1"/>
                </a:solidFill>
                <a:effectLst/>
                <a:latin typeface="+mn-lt"/>
                <a:ea typeface="+mn-ea"/>
                <a:cs typeface="+mn-cs"/>
              </a:rPr>
              <a:t>visa rejection</a:t>
            </a:r>
            <a:r>
              <a:rPr lang="en-US" sz="1400" kern="1200" dirty="0">
                <a:solidFill>
                  <a:schemeClr val="tx1"/>
                </a:solidFill>
                <a:effectLst/>
                <a:latin typeface="+mn-lt"/>
                <a:ea typeface="+mn-ea"/>
                <a:cs typeface="+mn-cs"/>
              </a:rPr>
              <a:t>.”</a:t>
            </a:r>
          </a:p>
          <a:p>
            <a:endParaRPr lang="en-US" sz="14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“Hello, my name is </a:t>
            </a:r>
            <a:r>
              <a:rPr lang="en-US" sz="1400" b="1" kern="1200" dirty="0">
                <a:solidFill>
                  <a:schemeClr val="tx1"/>
                </a:solidFill>
                <a:effectLst/>
                <a:latin typeface="+mn-lt"/>
                <a:ea typeface="+mn-ea"/>
                <a:cs typeface="+mn-cs"/>
              </a:rPr>
              <a:t>April Ampong</a:t>
            </a:r>
            <a:r>
              <a:rPr lang="en-US" sz="1400" kern="1200" dirty="0">
                <a:solidFill>
                  <a:schemeClr val="tx1"/>
                </a:solidFill>
                <a:effectLst/>
                <a:latin typeface="+mn-lt"/>
                <a:ea typeface="+mn-ea"/>
                <a:cs typeface="+mn-cs"/>
              </a:rPr>
              <a:t>, and I’m an instructor at </a:t>
            </a:r>
            <a:r>
              <a:rPr lang="en-US" sz="1400" b="1" kern="1200" dirty="0">
                <a:solidFill>
                  <a:schemeClr val="tx1"/>
                </a:solidFill>
                <a:effectLst/>
                <a:latin typeface="+mn-lt"/>
                <a:ea typeface="+mn-ea"/>
                <a:cs typeface="+mn-cs"/>
              </a:rPr>
              <a:t>IELTS NINER REVIEW CENTER</a:t>
            </a:r>
            <a:r>
              <a:rPr lang="en-US" sz="1400" kern="1200" dirty="0">
                <a:solidFill>
                  <a:schemeClr val="tx1"/>
                </a:solidFill>
                <a:effectLst/>
                <a:latin typeface="+mn-lt"/>
                <a:ea typeface="+mn-ea"/>
                <a:cs typeface="+mn-cs"/>
              </a:rPr>
              <a:t>—</a:t>
            </a:r>
            <a:br>
              <a:rPr lang="en-US" sz="1400" kern="1200" dirty="0">
                <a:solidFill>
                  <a:schemeClr val="tx1"/>
                </a:solidFill>
                <a:effectLst/>
                <a:latin typeface="+mn-lt"/>
                <a:ea typeface="+mn-ea"/>
                <a:cs typeface="+mn-cs"/>
              </a:rPr>
            </a:br>
            <a:r>
              <a:rPr lang="en-US" sz="1400" kern="1200" dirty="0">
                <a:solidFill>
                  <a:schemeClr val="tx1"/>
                </a:solidFill>
                <a:effectLst/>
                <a:latin typeface="+mn-lt"/>
                <a:ea typeface="+mn-ea"/>
                <a:cs typeface="+mn-cs"/>
              </a:rPr>
              <a:t>an international-standard IELTS training system that helps learners progress </a:t>
            </a:r>
            <a:r>
              <a:rPr lang="en-US" sz="1400" b="1" kern="1200" dirty="0">
                <a:solidFill>
                  <a:schemeClr val="tx1"/>
                </a:solidFill>
                <a:effectLst/>
                <a:latin typeface="+mn-lt"/>
                <a:ea typeface="+mn-ea"/>
                <a:cs typeface="+mn-cs"/>
              </a:rPr>
              <a:t>from beginner level to Band 7.0–9.0</a:t>
            </a:r>
            <a:r>
              <a:rPr lang="en-US" sz="1400" kern="1200" dirty="0">
                <a:solidFill>
                  <a:schemeClr val="tx1"/>
                </a:solidFill>
                <a:effectLst/>
                <a:latin typeface="+mn-lt"/>
                <a:ea typeface="+mn-ea"/>
                <a:cs typeface="+mn-cs"/>
              </a:rPr>
              <a:t> in the most time-efficient way.”</a:t>
            </a:r>
          </a:p>
          <a:p>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“In this video, I’ll help you clearly understand the difference between </a:t>
            </a:r>
            <a:r>
              <a:rPr lang="en-US" sz="1400" b="1" kern="1200" dirty="0">
                <a:solidFill>
                  <a:schemeClr val="tx1"/>
                </a:solidFill>
                <a:effectLst/>
                <a:latin typeface="+mn-lt"/>
                <a:ea typeface="+mn-ea"/>
                <a:cs typeface="+mn-cs"/>
              </a:rPr>
              <a:t>IELTS Academic</a:t>
            </a:r>
            <a:r>
              <a:rPr lang="en-US" sz="1400" kern="1200" dirty="0">
                <a:solidFill>
                  <a:schemeClr val="tx1"/>
                </a:solidFill>
                <a:effectLst/>
                <a:latin typeface="+mn-lt"/>
                <a:ea typeface="+mn-ea"/>
                <a:cs typeface="+mn-cs"/>
              </a:rPr>
              <a:t> and </a:t>
            </a:r>
            <a:r>
              <a:rPr lang="en-US" sz="1400" b="1" kern="1200" dirty="0">
                <a:solidFill>
                  <a:schemeClr val="tx1"/>
                </a:solidFill>
                <a:effectLst/>
                <a:latin typeface="+mn-lt"/>
                <a:ea typeface="+mn-ea"/>
                <a:cs typeface="+mn-cs"/>
              </a:rPr>
              <a:t>IELTS General Training</a:t>
            </a:r>
            <a:r>
              <a:rPr lang="en-US" sz="1400" kern="1200" dirty="0">
                <a:solidFill>
                  <a:schemeClr val="tx1"/>
                </a:solidFill>
                <a:effectLst/>
                <a:latin typeface="+mn-lt"/>
                <a:ea typeface="+mn-ea"/>
                <a:cs typeface="+mn-cs"/>
              </a:rPr>
              <a:t>, so you can choose the </a:t>
            </a:r>
            <a:r>
              <a:rPr lang="en-US" sz="1400" b="1" kern="1200" dirty="0">
                <a:solidFill>
                  <a:schemeClr val="tx1"/>
                </a:solidFill>
                <a:effectLst/>
                <a:latin typeface="+mn-lt"/>
                <a:ea typeface="+mn-ea"/>
                <a:cs typeface="+mn-cs"/>
              </a:rPr>
              <a:t>right test from the start</a:t>
            </a:r>
            <a:r>
              <a:rPr lang="en-US" sz="1400" kern="1200" dirty="0">
                <a:solidFill>
                  <a:schemeClr val="tx1"/>
                </a:solidFill>
                <a:effectLst/>
                <a:latin typeface="+mn-lt"/>
                <a:ea typeface="+mn-ea"/>
                <a:cs typeface="+mn-cs"/>
              </a:rPr>
              <a:t>.”</a:t>
            </a:r>
          </a:p>
          <a:p>
            <a:endParaRPr lang="en-US" sz="1400" kern="1200" dirty="0">
              <a:solidFill>
                <a:schemeClr val="tx1"/>
              </a:solidFill>
              <a:effectLst/>
              <a:latin typeface="+mn-lt"/>
              <a:ea typeface="+mn-ea"/>
              <a:cs typeface="+mn-cs"/>
            </a:endParaRPr>
          </a:p>
          <a:p>
            <a:endParaRPr lang="en-US" sz="1400" b="1"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200" dirty="0">
                <a:solidFill>
                  <a:schemeClr val="tx1"/>
                </a:solidFill>
                <a:effectLst/>
                <a:latin typeface="+mn-lt"/>
                <a:ea typeface="+mn-ea"/>
                <a:cs typeface="+mn-cs"/>
              </a:rPr>
              <a:t>“In the previous video, we learned what IELTS really is and how it is marked.</a:t>
            </a:r>
            <a:br>
              <a:rPr lang="en-US" sz="1800" kern="1200" dirty="0">
                <a:solidFill>
                  <a:schemeClr val="tx1"/>
                </a:solidFill>
                <a:effectLst/>
                <a:latin typeface="+mn-lt"/>
                <a:ea typeface="+mn-ea"/>
                <a:cs typeface="+mn-cs"/>
              </a:rPr>
            </a:br>
            <a:r>
              <a:rPr lang="en-US" sz="1800" kern="1200" dirty="0">
                <a:solidFill>
                  <a:schemeClr val="tx1"/>
                </a:solidFill>
                <a:effectLst/>
                <a:latin typeface="+mn-lt"/>
                <a:ea typeface="+mn-ea"/>
                <a:cs typeface="+mn-cs"/>
              </a:rPr>
              <a:t>Now comes the </a:t>
            </a:r>
            <a:r>
              <a:rPr lang="en-US" sz="1800" b="1" kern="1200" dirty="0">
                <a:solidFill>
                  <a:schemeClr val="tx1"/>
                </a:solidFill>
                <a:effectLst/>
                <a:latin typeface="+mn-lt"/>
                <a:ea typeface="+mn-ea"/>
                <a:cs typeface="+mn-cs"/>
              </a:rPr>
              <a:t>most important decision before you start studying</a:t>
            </a:r>
            <a:r>
              <a:rPr lang="en-US" sz="1800" kern="1200" dirty="0">
                <a:solidFill>
                  <a:schemeClr val="tx1"/>
                </a:solidFill>
                <a:effectLst/>
                <a:latin typeface="+mn-lt"/>
                <a:ea typeface="+mn-ea"/>
                <a:cs typeface="+mn-cs"/>
              </a:rPr>
              <a:t>.”</a:t>
            </a:r>
          </a:p>
          <a:p>
            <a:endParaRPr lang="en-US" sz="1800" kern="1200" dirty="0">
              <a:solidFill>
                <a:schemeClr val="tx1"/>
              </a:solidFill>
              <a:effectLst/>
              <a:latin typeface="+mn-lt"/>
              <a:ea typeface="+mn-ea"/>
              <a:cs typeface="+mn-cs"/>
            </a:endParaRPr>
          </a:p>
          <a:p>
            <a:r>
              <a:rPr lang="en-US" sz="1800" dirty="0"/>
              <a:t>“IELTS Academic… IELTS General Training…</a:t>
            </a:r>
            <a:br>
              <a:rPr lang="en-US" sz="1800" dirty="0"/>
            </a:br>
            <a:r>
              <a:rPr lang="en-US" sz="1800" dirty="0"/>
              <a:t>Are they the same?</a:t>
            </a:r>
          </a:p>
          <a:p>
            <a:r>
              <a:rPr lang="en-US" sz="1800" dirty="0"/>
              <a:t>This is one of the </a:t>
            </a:r>
            <a:r>
              <a:rPr lang="en-US" sz="1800" b="1" dirty="0"/>
              <a:t>most common questions</a:t>
            </a:r>
            <a:r>
              <a:rPr lang="en-US" sz="1800" dirty="0"/>
              <a:t> we get — and the short answer is </a:t>
            </a:r>
            <a:r>
              <a:rPr lang="en-US" sz="1800" b="1" dirty="0"/>
              <a:t>no, they are not the same</a:t>
            </a:r>
            <a:r>
              <a:rPr lang="en-US" sz="1800" dirty="0"/>
              <a:t>, but they are </a:t>
            </a:r>
            <a:r>
              <a:rPr lang="en-US" sz="1800" b="1" dirty="0"/>
              <a:t>related</a:t>
            </a:r>
            <a:r>
              <a:rPr lang="en-US" sz="1800" dirty="0"/>
              <a:t>.</a:t>
            </a:r>
          </a:p>
          <a:p>
            <a:r>
              <a:rPr lang="en-US" sz="1800" dirty="0"/>
              <a:t>Both tests measure your English ability in </a:t>
            </a:r>
            <a:r>
              <a:rPr lang="en-US" sz="1800" b="1" dirty="0"/>
              <a:t>Listening, Reading, Writing, and Speaking</a:t>
            </a:r>
            <a:r>
              <a:rPr lang="en-US" sz="1800" dirty="0"/>
              <a:t>, and both are internationally recognized.</a:t>
            </a:r>
            <a:br>
              <a:rPr lang="en-US" sz="1800" dirty="0"/>
            </a:br>
            <a:endParaRPr lang="en-US" sz="1800" dirty="0"/>
          </a:p>
          <a:p>
            <a:r>
              <a:rPr lang="en-US" sz="1800" dirty="0"/>
              <a:t>They also differ in </a:t>
            </a:r>
            <a:r>
              <a:rPr lang="en-US" sz="1800" b="1" dirty="0"/>
              <a:t>Reading and Writing</a:t>
            </a:r>
            <a:r>
              <a:rPr lang="en-US" sz="1800" dirty="0"/>
              <a:t>.</a:t>
            </a:r>
            <a:br>
              <a:rPr lang="en-US" sz="1800" dirty="0"/>
            </a:br>
            <a:r>
              <a:rPr lang="en-US" sz="1800" dirty="0"/>
              <a:t>Academic focuses on </a:t>
            </a:r>
            <a:r>
              <a:rPr lang="en-US" sz="1800" b="1" dirty="0"/>
              <a:t>academic texts and data</a:t>
            </a:r>
            <a:r>
              <a:rPr lang="en-US" sz="1800" dirty="0"/>
              <a:t>, while General Training focuses on </a:t>
            </a:r>
            <a:r>
              <a:rPr lang="en-US" sz="1800" b="1" dirty="0"/>
              <a:t>everyday and workplace English</a:t>
            </a:r>
            <a:r>
              <a:rPr lang="en-US" sz="1800" dirty="0"/>
              <a:t>.</a:t>
            </a:r>
            <a:br>
              <a:rPr lang="en-US" sz="1800" dirty="0"/>
            </a:br>
            <a:r>
              <a:rPr lang="en-US" sz="1800" dirty="0"/>
              <a:t>In Writing Task 1, Academic candidates describe </a:t>
            </a:r>
            <a:r>
              <a:rPr lang="en-US" sz="1800" b="1" dirty="0"/>
              <a:t>graphs or charts</a:t>
            </a:r>
            <a:r>
              <a:rPr lang="en-US" sz="1800" dirty="0"/>
              <a:t>, while General Training candidates write a </a:t>
            </a:r>
            <a:r>
              <a:rPr lang="en-US" sz="1800" b="1" dirty="0"/>
              <a:t>letter</a:t>
            </a:r>
            <a:r>
              <a:rPr lang="en-US" sz="1800" dirty="0"/>
              <a:t>.</a:t>
            </a:r>
          </a:p>
          <a:p>
            <a:endParaRPr lang="en-US" sz="1800" kern="1200" dirty="0">
              <a:solidFill>
                <a:schemeClr val="tx1"/>
              </a:solidFill>
              <a:effectLst/>
              <a:latin typeface="+mn-lt"/>
              <a:ea typeface="+mn-ea"/>
              <a:cs typeface="+mn-cs"/>
            </a:endParaRPr>
          </a:p>
          <a:p>
            <a:r>
              <a:rPr lang="en-US" sz="1800" dirty="0"/>
              <a:t>Understanding this difference is very important, because </a:t>
            </a:r>
            <a:r>
              <a:rPr lang="en-US" sz="1800" b="1" dirty="0"/>
              <a:t>choosing the wrong test can delay your goals</a:t>
            </a:r>
            <a:r>
              <a:rPr lang="en-US" sz="1800" dirty="0"/>
              <a:t>.</a:t>
            </a:r>
          </a:p>
          <a:p>
            <a:r>
              <a:rPr lang="en-US" sz="1800" dirty="0"/>
              <a:t>In the next slides, we’ll help you decide </a:t>
            </a:r>
            <a:r>
              <a:rPr lang="en-US" sz="1800" b="1" dirty="0"/>
              <a:t>which IELTS test is right for you</a:t>
            </a:r>
            <a:r>
              <a:rPr lang="en-US" sz="1800" dirty="0"/>
              <a:t>.”</a:t>
            </a:r>
          </a:p>
          <a:p>
            <a:pPr lvl="0"/>
            <a:endParaRPr lang="en-US" sz="1800" kern="1200" dirty="0">
              <a:solidFill>
                <a:schemeClr val="tx1"/>
              </a:solidFill>
              <a:effectLst/>
              <a:latin typeface="+mn-lt"/>
              <a:ea typeface="+mn-ea"/>
              <a:cs typeface="+mn-cs"/>
            </a:endParaRPr>
          </a:p>
          <a:p>
            <a:endParaRPr lang="en-US" sz="1400"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3445059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IELTS Academic</a:t>
            </a:r>
            <a:r>
              <a:rPr lang="en-US" dirty="0"/>
              <a:t> is intended for people who plan to </a:t>
            </a:r>
            <a:r>
              <a:rPr lang="en-US" b="1" dirty="0"/>
              <a:t>study at universities</a:t>
            </a:r>
            <a:r>
              <a:rPr lang="en-US" dirty="0"/>
              <a:t>, apply for </a:t>
            </a:r>
            <a:r>
              <a:rPr lang="en-US" b="1" dirty="0"/>
              <a:t>professional registration</a:t>
            </a:r>
            <a:r>
              <a:rPr lang="en-US" dirty="0"/>
              <a:t>, or enter an </a:t>
            </a:r>
            <a:r>
              <a:rPr lang="en-US" b="1" dirty="0"/>
              <a:t>academic environment</a:t>
            </a:r>
            <a:r>
              <a:rPr lang="en-US" dirty="0"/>
              <a:t>. The reading and writing tasks focus on </a:t>
            </a:r>
            <a:r>
              <a:rPr lang="en-US" b="1" dirty="0"/>
              <a:t>academic language</a:t>
            </a:r>
            <a:r>
              <a:rPr lang="en-US" dirty="0"/>
              <a:t>, research, and formal analysis.</a:t>
            </a:r>
          </a:p>
          <a:p>
            <a:endParaRPr lang="en-US" dirty="0"/>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2176254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Academic Reading</a:t>
            </a:r>
            <a:r>
              <a:rPr lang="en-US" dirty="0"/>
              <a:t> is the </a:t>
            </a:r>
            <a:r>
              <a:rPr lang="en-US" b="1" dirty="0"/>
              <a:t>Reading section of the IELTS Academic test</a:t>
            </a:r>
            <a:r>
              <a:rPr lang="en-US" dirty="0"/>
              <a:t>. It checks how well you can understand </a:t>
            </a:r>
            <a:r>
              <a:rPr lang="en-US" b="1" dirty="0"/>
              <a:t>formal, academic-style texts</a:t>
            </a:r>
            <a:r>
              <a:rPr lang="en-US" dirty="0"/>
              <a:t> like the ones used at </a:t>
            </a:r>
            <a:r>
              <a:rPr lang="en-US" b="1" dirty="0"/>
              <a:t>university level</a:t>
            </a:r>
            <a:r>
              <a:rPr lang="en-US" dirty="0"/>
              <a:t>.</a:t>
            </a:r>
          </a:p>
          <a:p>
            <a:endParaRPr lang="en-US" dirty="0"/>
          </a:p>
          <a:p>
            <a:r>
              <a:rPr lang="en-US" dirty="0"/>
              <a:t>It consists of </a:t>
            </a:r>
            <a:r>
              <a:rPr lang="en-US" b="1" dirty="0"/>
              <a:t>3 long reading passages</a:t>
            </a:r>
            <a:r>
              <a:rPr lang="en-US" dirty="0"/>
              <a:t> taken from:</a:t>
            </a:r>
          </a:p>
          <a:p>
            <a:r>
              <a:rPr lang="en-US" dirty="0"/>
              <a:t>Books</a:t>
            </a:r>
          </a:p>
          <a:p>
            <a:r>
              <a:rPr lang="en-US" dirty="0"/>
              <a:t>Academic journals</a:t>
            </a:r>
          </a:p>
          <a:p>
            <a:r>
              <a:rPr lang="en-US" dirty="0"/>
              <a:t>Research articles</a:t>
            </a:r>
          </a:p>
          <a:p>
            <a:r>
              <a:rPr lang="en-US" dirty="0"/>
              <a:t>Newspapers or magazines (academic tone)</a:t>
            </a:r>
          </a:p>
          <a:p>
            <a:r>
              <a:rPr lang="en-US" dirty="0"/>
              <a:t>These texts are </a:t>
            </a:r>
            <a:r>
              <a:rPr lang="en-US" b="1" dirty="0"/>
              <a:t>written for non-specialist readers</a:t>
            </a:r>
            <a:r>
              <a:rPr lang="en-US" dirty="0"/>
              <a:t>, so you don’t need expert knowledge of the topic.</a:t>
            </a:r>
          </a:p>
          <a:p>
            <a:endParaRPr lang="en-US" dirty="0"/>
          </a:p>
          <a:p>
            <a:r>
              <a:rPr lang="en-US" dirty="0"/>
              <a:t>You may see:</a:t>
            </a:r>
          </a:p>
          <a:p>
            <a:r>
              <a:rPr lang="en-US" dirty="0"/>
              <a:t>Descriptions of </a:t>
            </a:r>
            <a:r>
              <a:rPr lang="en-US" b="1" dirty="0"/>
              <a:t>scientific research</a:t>
            </a:r>
            <a:endParaRPr lang="en-US" dirty="0"/>
          </a:p>
          <a:p>
            <a:r>
              <a:rPr lang="en-US" dirty="0"/>
              <a:t>Articles about </a:t>
            </a:r>
            <a:r>
              <a:rPr lang="en-US" b="1" dirty="0"/>
              <a:t>history, education, environment, or technology</a:t>
            </a:r>
            <a:endParaRPr lang="en-US" dirty="0"/>
          </a:p>
          <a:p>
            <a:r>
              <a:rPr lang="en-US" dirty="0"/>
              <a:t>Texts with </a:t>
            </a:r>
            <a:r>
              <a:rPr lang="en-US" b="1" dirty="0"/>
              <a:t>graphs, charts, or diagrams</a:t>
            </a:r>
            <a:endParaRPr lang="en-US" dirty="0"/>
          </a:p>
          <a:p>
            <a:r>
              <a:rPr lang="en-US" dirty="0"/>
              <a:t>Arguments and opinions supported by evidence</a:t>
            </a:r>
          </a:p>
          <a:p>
            <a:endParaRPr lang="en-US" dirty="0"/>
          </a:p>
          <a:p>
            <a:r>
              <a:rPr lang="en-US" b="1" dirty="0"/>
              <a:t>Common question types</a:t>
            </a:r>
          </a:p>
          <a:p>
            <a:r>
              <a:rPr lang="en-US" dirty="0"/>
              <a:t>Multiple choice</a:t>
            </a:r>
          </a:p>
          <a:p>
            <a:r>
              <a:rPr lang="en-US" dirty="0"/>
              <a:t>True / False / Not Given</a:t>
            </a:r>
          </a:p>
          <a:p>
            <a:r>
              <a:rPr lang="en-US" dirty="0"/>
              <a:t>Matching headings</a:t>
            </a:r>
          </a:p>
          <a:p>
            <a:r>
              <a:rPr lang="en-US" dirty="0"/>
              <a:t>Matching information</a:t>
            </a:r>
          </a:p>
          <a:p>
            <a:r>
              <a:rPr lang="en-US" dirty="0"/>
              <a:t>Sentence completion</a:t>
            </a:r>
          </a:p>
          <a:p>
            <a:r>
              <a:rPr lang="en-US" dirty="0"/>
              <a:t>Summary completion</a:t>
            </a:r>
          </a:p>
          <a:p>
            <a:r>
              <a:rPr lang="en-US" dirty="0"/>
              <a:t>Diagram or flow-chart completion</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2310668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IELTS Writing Task 1</a:t>
            </a:r>
            <a:r>
              <a:rPr lang="en-US" sz="1800" dirty="0"/>
              <a:t> is the </a:t>
            </a:r>
            <a:r>
              <a:rPr lang="en-US" sz="1800" b="1" dirty="0"/>
              <a:t>first part of the IELTS Writing test</a:t>
            </a:r>
            <a:r>
              <a:rPr lang="en-US" sz="1800" dirty="0"/>
              <a:t>. The task is </a:t>
            </a:r>
            <a:r>
              <a:rPr lang="en-US" sz="1800" b="1" dirty="0"/>
              <a:t>different for Academic and General Training</a:t>
            </a:r>
            <a:r>
              <a:rPr lang="en-US" sz="1800" dirty="0"/>
              <a:t>, but both test your ability to </a:t>
            </a:r>
            <a:r>
              <a:rPr lang="en-US" sz="1800" b="1" dirty="0"/>
              <a:t>describe information clearly and accurately</a:t>
            </a:r>
            <a:r>
              <a:rPr lang="en-US" sz="1800" dirty="0"/>
              <a:t>.</a:t>
            </a:r>
          </a:p>
          <a:p>
            <a:endParaRPr lang="en-US" sz="1800" dirty="0"/>
          </a:p>
          <a:p>
            <a:r>
              <a:rPr lang="en-US" sz="1800" b="1" dirty="0"/>
              <a:t>Time recommended:</a:t>
            </a:r>
            <a:r>
              <a:rPr lang="en-US" sz="1800" dirty="0"/>
              <a:t> 20 minutes</a:t>
            </a:r>
          </a:p>
          <a:p>
            <a:r>
              <a:rPr lang="en-US" sz="1800" b="1" dirty="0"/>
              <a:t>Word count:</a:t>
            </a:r>
            <a:r>
              <a:rPr lang="en-US" sz="1800" dirty="0"/>
              <a:t> At least </a:t>
            </a:r>
            <a:r>
              <a:rPr lang="en-US" sz="1800" b="1" dirty="0"/>
              <a:t>150 words</a:t>
            </a:r>
            <a:endParaRPr lang="en-US" sz="1800" dirty="0"/>
          </a:p>
          <a:p>
            <a:r>
              <a:rPr lang="en-US" sz="1800" b="1" dirty="0"/>
              <a:t>Weight:</a:t>
            </a:r>
            <a:r>
              <a:rPr lang="en-US" sz="1800" dirty="0"/>
              <a:t> About </a:t>
            </a:r>
            <a:r>
              <a:rPr lang="en-US" sz="1800" b="1" dirty="0"/>
              <a:t>33%</a:t>
            </a:r>
            <a:r>
              <a:rPr lang="en-US" sz="1800" dirty="0"/>
              <a:t> of the Writing score</a:t>
            </a:r>
          </a:p>
          <a:p>
            <a:endParaRPr lang="en-US" sz="1800" dirty="0"/>
          </a:p>
          <a:p>
            <a:r>
              <a:rPr lang="en-US" sz="1800" dirty="0"/>
              <a:t>In </a:t>
            </a:r>
            <a:r>
              <a:rPr lang="en-US" sz="1800" b="1" dirty="0"/>
              <a:t>Academic Task 1</a:t>
            </a:r>
            <a:r>
              <a:rPr lang="en-US" sz="1800" dirty="0"/>
              <a:t>, you must </a:t>
            </a:r>
            <a:r>
              <a:rPr lang="en-US" sz="1800" b="1" dirty="0"/>
              <a:t>describe visual information</a:t>
            </a:r>
            <a:r>
              <a:rPr lang="en-US" sz="1800" dirty="0"/>
              <a:t>, such as:</a:t>
            </a:r>
          </a:p>
          <a:p>
            <a:r>
              <a:rPr lang="en-US" sz="1800" dirty="0"/>
              <a:t>Line graphs</a:t>
            </a:r>
          </a:p>
          <a:p>
            <a:r>
              <a:rPr lang="en-US" sz="1800" dirty="0"/>
              <a:t>Bar charts</a:t>
            </a:r>
          </a:p>
          <a:p>
            <a:r>
              <a:rPr lang="en-US" sz="1800" dirty="0"/>
              <a:t>Pie charts</a:t>
            </a:r>
          </a:p>
          <a:p>
            <a:r>
              <a:rPr lang="en-US" sz="1800" dirty="0"/>
              <a:t>Tables</a:t>
            </a:r>
          </a:p>
          <a:p>
            <a:r>
              <a:rPr lang="en-US" sz="1800" dirty="0"/>
              <a:t>Maps</a:t>
            </a:r>
          </a:p>
          <a:p>
            <a:r>
              <a:rPr lang="en-US" sz="1800" dirty="0"/>
              <a:t>Processes (e.g. how something works)</a:t>
            </a:r>
          </a:p>
          <a:p>
            <a:r>
              <a:rPr lang="en-US" sz="1800" b="1" dirty="0"/>
              <a:t>What you need to do:</a:t>
            </a:r>
          </a:p>
          <a:p>
            <a:r>
              <a:rPr lang="en-US" sz="1800" dirty="0" err="1"/>
              <a:t>Summarise</a:t>
            </a:r>
            <a:r>
              <a:rPr lang="en-US" sz="1800" dirty="0"/>
              <a:t> the </a:t>
            </a:r>
            <a:r>
              <a:rPr lang="en-US" sz="1800" b="1" dirty="0"/>
              <a:t>main features</a:t>
            </a:r>
            <a:endParaRPr lang="en-US" sz="1800" dirty="0"/>
          </a:p>
          <a:p>
            <a:r>
              <a:rPr lang="en-US" sz="1800" dirty="0"/>
              <a:t>Compare data where relevant</a:t>
            </a:r>
          </a:p>
          <a:p>
            <a:r>
              <a:rPr lang="en-US" sz="1800" dirty="0"/>
              <a:t>Report trends (increase, decrease, stability)</a:t>
            </a:r>
          </a:p>
          <a:p>
            <a:r>
              <a:rPr lang="en-US" sz="1800" b="1" dirty="0"/>
              <a:t>Do NOT give opinions</a:t>
            </a:r>
          </a:p>
          <a:p>
            <a:endParaRPr lang="en-US" sz="1800" b="1" dirty="0"/>
          </a:p>
          <a:p>
            <a:r>
              <a:rPr lang="en-US" sz="1800" b="1" dirty="0"/>
              <a:t>IELTS Writing Task 2</a:t>
            </a:r>
            <a:r>
              <a:rPr lang="en-US" sz="1800" dirty="0"/>
              <a:t> is the </a:t>
            </a:r>
            <a:r>
              <a:rPr lang="en-US" sz="1800" b="1" dirty="0"/>
              <a:t>second and most important part of the Writing test</a:t>
            </a:r>
            <a:r>
              <a:rPr lang="en-US" sz="1800" dirty="0"/>
              <a:t>. In this task, you must write an </a:t>
            </a:r>
            <a:r>
              <a:rPr lang="en-US" sz="1800" b="1" dirty="0"/>
              <a:t>essay</a:t>
            </a:r>
            <a:r>
              <a:rPr lang="en-US" sz="1800" dirty="0"/>
              <a:t> responding to a point of view, argument, or problem.</a:t>
            </a:r>
          </a:p>
          <a:p>
            <a:endParaRPr lang="en-US" sz="1800" dirty="0"/>
          </a:p>
          <a:p>
            <a:r>
              <a:rPr lang="en-US" sz="1800" dirty="0"/>
              <a:t>You are given a </a:t>
            </a:r>
            <a:r>
              <a:rPr lang="en-US" sz="1800" b="1" dirty="0"/>
              <a:t>topic and a question</a:t>
            </a:r>
            <a:r>
              <a:rPr lang="en-US" sz="1800" dirty="0"/>
              <a:t>, and you must:</a:t>
            </a:r>
          </a:p>
          <a:p>
            <a:r>
              <a:rPr lang="en-US" sz="1800" dirty="0"/>
              <a:t>Present ideas clearly</a:t>
            </a:r>
          </a:p>
          <a:p>
            <a:r>
              <a:rPr lang="en-US" sz="1800" dirty="0"/>
              <a:t>Support your ideas with reasons and examples</a:t>
            </a:r>
          </a:p>
          <a:p>
            <a:r>
              <a:rPr lang="en-US" sz="1800" dirty="0" err="1"/>
              <a:t>Organise</a:t>
            </a:r>
            <a:r>
              <a:rPr lang="en-US" sz="1800" dirty="0"/>
              <a:t> your essay logically</a:t>
            </a:r>
          </a:p>
          <a:p>
            <a:r>
              <a:rPr lang="en-US" sz="1800" dirty="0"/>
              <a:t>Use accurate grammar and vocabulary</a:t>
            </a:r>
          </a:p>
          <a:p>
            <a:r>
              <a:rPr lang="en-US" sz="1800" dirty="0"/>
              <a:t>📌 </a:t>
            </a:r>
            <a:r>
              <a:rPr lang="en-US" sz="1800" b="1" dirty="0"/>
              <a:t>Both IELTS Academic and General Training have Writing Task 2 essays</a:t>
            </a:r>
            <a:endParaRPr lang="en-US" sz="1800" dirty="0"/>
          </a:p>
          <a:p>
            <a:endParaRPr lang="en-US" sz="1800" dirty="0"/>
          </a:p>
          <a:p>
            <a:endParaRPr lang="en-US" sz="1800" dirty="0"/>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3535428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IELTS General Training (GT) is designed for people who need English for </a:t>
            </a:r>
            <a:r>
              <a:rPr lang="en-US" sz="1600" b="1" dirty="0"/>
              <a:t>everyday life, work, and migration</a:t>
            </a:r>
            <a:r>
              <a:rPr lang="en-US" sz="1600" dirty="0"/>
              <a:t>, rather than academic study.</a:t>
            </a:r>
          </a:p>
          <a:p>
            <a:r>
              <a:rPr lang="en-US" sz="1600" b="1" dirty="0"/>
              <a:t>People applying for immigration or permanent residence</a:t>
            </a:r>
            <a:br>
              <a:rPr lang="en-US" sz="1600" dirty="0"/>
            </a:br>
            <a:r>
              <a:rPr lang="en-US" sz="1600" dirty="0"/>
              <a:t>(e.g. Canada, Australia, UK, New Zealand)</a:t>
            </a:r>
          </a:p>
          <a:p>
            <a:r>
              <a:rPr lang="en-US" sz="1600" b="1" dirty="0"/>
              <a:t>Workers and professionals</a:t>
            </a:r>
            <a:br>
              <a:rPr lang="en-US" sz="1600" dirty="0"/>
            </a:br>
            <a:r>
              <a:rPr lang="en-US" sz="1600" dirty="0"/>
              <a:t>Who need English for the </a:t>
            </a:r>
            <a:r>
              <a:rPr lang="en-US" sz="1600" b="1" dirty="0"/>
              <a:t>workplace</a:t>
            </a:r>
            <a:r>
              <a:rPr lang="en-US" sz="1600" dirty="0"/>
              <a:t> or job applications</a:t>
            </a:r>
          </a:p>
          <a:p>
            <a:r>
              <a:rPr lang="en-US" sz="1600" b="1" dirty="0"/>
              <a:t>People applying for work visas</a:t>
            </a:r>
            <a:br>
              <a:rPr lang="en-US" sz="1600" dirty="0"/>
            </a:br>
            <a:r>
              <a:rPr lang="en-US" sz="1600" dirty="0"/>
              <a:t>Or employment-related training programs</a:t>
            </a:r>
          </a:p>
          <a:p>
            <a:r>
              <a:rPr lang="en-US" sz="1600" b="1" dirty="0"/>
              <a:t>Students planning non-degree courses</a:t>
            </a:r>
            <a:br>
              <a:rPr lang="en-US" sz="1600" dirty="0"/>
            </a:br>
            <a:r>
              <a:rPr lang="en-US" sz="1600" dirty="0"/>
              <a:t>Such as </a:t>
            </a:r>
            <a:r>
              <a:rPr lang="en-US" sz="1600" b="1" dirty="0"/>
              <a:t>vocational training</a:t>
            </a:r>
            <a:r>
              <a:rPr lang="en-US" sz="1600" dirty="0"/>
              <a:t> or short-term certificates</a:t>
            </a:r>
          </a:p>
          <a:p>
            <a:endParaRPr lang="en-US" sz="1600" dirty="0"/>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4238285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In </a:t>
            </a:r>
            <a:r>
              <a:rPr lang="en-US" sz="1800" b="1" dirty="0"/>
              <a:t>General Training Task 1</a:t>
            </a:r>
            <a:r>
              <a:rPr lang="en-US" sz="1800" dirty="0"/>
              <a:t>, you must </a:t>
            </a:r>
            <a:r>
              <a:rPr lang="en-US" sz="1800" b="1" dirty="0"/>
              <a:t>write a letter</a:t>
            </a:r>
            <a:r>
              <a:rPr lang="en-US" sz="1800" dirty="0"/>
              <a:t>, which can be:</a:t>
            </a:r>
          </a:p>
          <a:p>
            <a:r>
              <a:rPr lang="en-US" sz="1800" b="1" dirty="0"/>
              <a:t>Formal</a:t>
            </a:r>
            <a:endParaRPr lang="en-US" sz="1800" dirty="0"/>
          </a:p>
          <a:p>
            <a:r>
              <a:rPr lang="en-US" sz="1800" b="1" dirty="0"/>
              <a:t>Semi-formal</a:t>
            </a:r>
            <a:endParaRPr lang="en-US" sz="1800" dirty="0"/>
          </a:p>
          <a:p>
            <a:r>
              <a:rPr lang="en-US" sz="1800" b="1" dirty="0"/>
              <a:t>Informal</a:t>
            </a:r>
            <a:endParaRPr lang="en-US" sz="1800" dirty="0"/>
          </a:p>
          <a:p>
            <a:r>
              <a:rPr lang="en-US" sz="1800" b="1" dirty="0"/>
              <a:t>Common situations:</a:t>
            </a:r>
          </a:p>
          <a:p>
            <a:r>
              <a:rPr lang="en-US" sz="1800" dirty="0"/>
              <a:t>Asking for information</a:t>
            </a:r>
          </a:p>
          <a:p>
            <a:r>
              <a:rPr lang="en-US" sz="1800" dirty="0"/>
              <a:t>Making a complaint</a:t>
            </a:r>
          </a:p>
          <a:p>
            <a:r>
              <a:rPr lang="en-US" sz="1800" dirty="0"/>
              <a:t>Explaining a problem</a:t>
            </a:r>
          </a:p>
          <a:p>
            <a:r>
              <a:rPr lang="en-US" sz="1800" dirty="0"/>
              <a:t>Requesting or giving advice</a:t>
            </a:r>
          </a:p>
          <a:p>
            <a:endParaRPr lang="en-US" sz="1800" dirty="0"/>
          </a:p>
          <a:p>
            <a:endParaRPr lang="en-US" sz="1800" dirty="0"/>
          </a:p>
          <a:p>
            <a:r>
              <a:rPr lang="en-US" sz="1800" dirty="0"/>
              <a:t>“Now, let’s talk about </a:t>
            </a:r>
            <a:r>
              <a:rPr lang="en-US" sz="1800" b="1" dirty="0"/>
              <a:t>IELTS General Training Reading</a:t>
            </a:r>
            <a:r>
              <a:rPr lang="en-US" sz="1800" dirty="0"/>
              <a:t>.</a:t>
            </a:r>
          </a:p>
          <a:p>
            <a:r>
              <a:rPr lang="en-US" sz="1800" dirty="0"/>
              <a:t>The General Training Reading test is designed to assess your ability to understand </a:t>
            </a:r>
            <a:r>
              <a:rPr lang="en-US" sz="1800" b="1" dirty="0"/>
              <a:t>everyday English</a:t>
            </a:r>
            <a:r>
              <a:rPr lang="en-US" sz="1800" dirty="0"/>
              <a:t> used in </a:t>
            </a:r>
            <a:r>
              <a:rPr lang="en-US" sz="1800" b="1" dirty="0"/>
              <a:t>daily life and the workplace</a:t>
            </a:r>
            <a:r>
              <a:rPr lang="en-US" sz="1800" dirty="0"/>
              <a:t>.</a:t>
            </a:r>
          </a:p>
          <a:p>
            <a:r>
              <a:rPr lang="en-US" sz="1800" dirty="0"/>
              <a:t>This section lasts </a:t>
            </a:r>
            <a:r>
              <a:rPr lang="en-US" sz="1800" b="1" dirty="0"/>
              <a:t>60 minutes</a:t>
            </a:r>
            <a:r>
              <a:rPr lang="en-US" sz="1800" dirty="0"/>
              <a:t> and contains </a:t>
            </a:r>
            <a:r>
              <a:rPr lang="en-US" sz="1800" b="1" dirty="0"/>
              <a:t>40 questions</a:t>
            </a:r>
            <a:r>
              <a:rPr lang="en-US" sz="1800" dirty="0"/>
              <a:t>. All questions carry one mark each.</a:t>
            </a:r>
          </a:p>
          <a:p>
            <a:r>
              <a:rPr lang="en-US" sz="1800" dirty="0"/>
              <a:t>The test is divided into </a:t>
            </a:r>
            <a:r>
              <a:rPr lang="en-US" sz="1800" b="1" dirty="0"/>
              <a:t>three sections</a:t>
            </a:r>
            <a:r>
              <a:rPr lang="en-US" sz="1800" dirty="0"/>
              <a:t>, and the difficulty increases as you move forward.</a:t>
            </a:r>
          </a:p>
          <a:p>
            <a:r>
              <a:rPr lang="en-US" sz="1800" b="1" dirty="0"/>
              <a:t>Section 1</a:t>
            </a:r>
            <a:r>
              <a:rPr lang="en-US" sz="1800" dirty="0"/>
              <a:t> focuses on </a:t>
            </a:r>
            <a:r>
              <a:rPr lang="en-US" sz="1800" b="1" dirty="0"/>
              <a:t>social survival</a:t>
            </a:r>
            <a:r>
              <a:rPr lang="en-US" sz="1800" dirty="0"/>
              <a:t>.</a:t>
            </a:r>
            <a:br>
              <a:rPr lang="en-US" sz="1800" dirty="0"/>
            </a:br>
            <a:r>
              <a:rPr lang="en-US" sz="1800" dirty="0"/>
              <a:t>You will read short texts such as </a:t>
            </a:r>
            <a:r>
              <a:rPr lang="en-US" sz="1800" b="1" dirty="0"/>
              <a:t>advertisements, notices, timetables, and emails</a:t>
            </a:r>
            <a:r>
              <a:rPr lang="en-US" sz="1800" dirty="0"/>
              <a:t>. These are situations you may encounter in daily life, such as finding accommodation or understanding public information.</a:t>
            </a:r>
          </a:p>
          <a:p>
            <a:r>
              <a:rPr lang="en-US" sz="1800" b="1" dirty="0"/>
              <a:t>Section 2</a:t>
            </a:r>
            <a:r>
              <a:rPr lang="en-US" sz="1800" dirty="0"/>
              <a:t> focuses on </a:t>
            </a:r>
            <a:r>
              <a:rPr lang="en-US" sz="1800" b="1" dirty="0"/>
              <a:t>workplace survival</a:t>
            </a:r>
            <a:r>
              <a:rPr lang="en-US" sz="1800" dirty="0"/>
              <a:t>.</a:t>
            </a:r>
            <a:br>
              <a:rPr lang="en-US" sz="1800" dirty="0"/>
            </a:br>
            <a:r>
              <a:rPr lang="en-US" sz="1800" dirty="0"/>
              <a:t>The texts are related to </a:t>
            </a:r>
            <a:r>
              <a:rPr lang="en-US" sz="1800" b="1" dirty="0"/>
              <a:t>jobs and work environments</a:t>
            </a:r>
            <a:r>
              <a:rPr lang="en-US" sz="1800" dirty="0"/>
              <a:t>, such as company policies, job descriptions, or staff announcements.</a:t>
            </a:r>
          </a:p>
          <a:p>
            <a:r>
              <a:rPr lang="en-US" sz="1800" b="1" dirty="0"/>
              <a:t>Section 3</a:t>
            </a:r>
            <a:r>
              <a:rPr lang="en-US" sz="1800" dirty="0"/>
              <a:t> is the most challenging part.</a:t>
            </a:r>
            <a:br>
              <a:rPr lang="en-US" sz="1800" dirty="0"/>
            </a:br>
            <a:r>
              <a:rPr lang="en-US" sz="1800" dirty="0"/>
              <a:t>It includes </a:t>
            </a:r>
            <a:r>
              <a:rPr lang="en-US" sz="1800" b="1" dirty="0"/>
              <a:t>one longer article</a:t>
            </a:r>
            <a:r>
              <a:rPr lang="en-US" sz="1800" dirty="0"/>
              <a:t> on a general topic, often taken from newspapers or magazines. This section tests your ability to understand detailed information and main ideas.</a:t>
            </a:r>
          </a:p>
          <a:p>
            <a:r>
              <a:rPr lang="en-US" sz="1800" dirty="0"/>
              <a:t>Overall, IELTS General Training Reading measures how well you can use English in </a:t>
            </a:r>
            <a:r>
              <a:rPr lang="en-US" sz="1800" b="1" dirty="0"/>
              <a:t>real-life, practical situations</a:t>
            </a:r>
            <a:r>
              <a:rPr lang="en-US" sz="1800" dirty="0"/>
              <a:t>, especially for </a:t>
            </a:r>
            <a:r>
              <a:rPr lang="en-US" sz="1800" b="1" dirty="0"/>
              <a:t>work and migration purposes</a:t>
            </a:r>
            <a:r>
              <a:rPr lang="en-US" sz="1800" dirty="0"/>
              <a:t>.”</a:t>
            </a:r>
          </a:p>
          <a:p>
            <a:endParaRPr lang="en-US" sz="1800"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1276802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“Before choosing an IELTS test, ask yourself just </a:t>
            </a:r>
            <a:r>
              <a:rPr lang="en-US" sz="1800" b="1" dirty="0"/>
              <a:t>one important question</a:t>
            </a:r>
            <a:r>
              <a:rPr lang="en-US" sz="1800" dirty="0"/>
              <a:t>:</a:t>
            </a:r>
            <a:br>
              <a:rPr lang="en-US" sz="1800" dirty="0"/>
            </a:br>
            <a:r>
              <a:rPr lang="en-US" sz="1800" i="1" dirty="0"/>
              <a:t>What does the organization or country require?</a:t>
            </a:r>
            <a:endParaRPr lang="en-US" sz="1800" dirty="0"/>
          </a:p>
          <a:p>
            <a:r>
              <a:rPr lang="en-US" sz="1800" dirty="0"/>
              <a:t>You should </a:t>
            </a:r>
            <a:r>
              <a:rPr lang="en-US" sz="1800" b="1" dirty="0"/>
              <a:t>never choose a test just because you think it is easier</a:t>
            </a:r>
            <a:r>
              <a:rPr lang="en-US" sz="1800" dirty="0"/>
              <a:t>. Choosing the wrong test can cause serious problems.</a:t>
            </a:r>
          </a:p>
          <a:p>
            <a:r>
              <a:rPr lang="en-US" sz="1800" dirty="0"/>
              <a:t>Always take time to check the official requirements.</a:t>
            </a:r>
            <a:br>
              <a:rPr lang="en-US" sz="1800" dirty="0"/>
            </a:br>
            <a:r>
              <a:rPr lang="en-US" sz="1800" dirty="0"/>
              <a:t>This includes </a:t>
            </a:r>
            <a:r>
              <a:rPr lang="en-US" sz="1800" b="1" dirty="0"/>
              <a:t>university admission requirements</a:t>
            </a:r>
            <a:r>
              <a:rPr lang="en-US" sz="1800" dirty="0"/>
              <a:t>, </a:t>
            </a:r>
            <a:r>
              <a:rPr lang="en-US" sz="1800" b="1" dirty="0"/>
              <a:t>immigration websites</a:t>
            </a:r>
            <a:r>
              <a:rPr lang="en-US" sz="1800" dirty="0"/>
              <a:t>, and </a:t>
            </a:r>
            <a:r>
              <a:rPr lang="en-US" sz="1800" b="1" dirty="0"/>
              <a:t>employer or institution guidelines</a:t>
            </a:r>
            <a:r>
              <a:rPr lang="en-US" sz="1800" dirty="0"/>
              <a:t>.</a:t>
            </a:r>
          </a:p>
          <a:p>
            <a:r>
              <a:rPr lang="en-US" sz="1800" dirty="0"/>
              <a:t>Remember, if you choose the </a:t>
            </a:r>
            <a:r>
              <a:rPr lang="en-US" sz="1800" b="1" dirty="0"/>
              <a:t>wrong IELTS test</a:t>
            </a:r>
            <a:r>
              <a:rPr lang="en-US" sz="1800" dirty="0"/>
              <a:t>, your score may be </a:t>
            </a:r>
            <a:r>
              <a:rPr lang="en-US" sz="1800" b="1" dirty="0"/>
              <a:t>completely invalid</a:t>
            </a:r>
            <a:r>
              <a:rPr lang="en-US" sz="1800" dirty="0"/>
              <a:t> for your purpose, even if your band score is high.</a:t>
            </a:r>
          </a:p>
          <a:p>
            <a:r>
              <a:rPr lang="en-US" sz="1800" dirty="0"/>
              <a:t>So, always check first—then choose the correct test.”</a:t>
            </a:r>
          </a:p>
          <a:p>
            <a:endParaRPr lang="en-US" sz="1800" dirty="0"/>
          </a:p>
        </p:txBody>
      </p:sp>
      <p:sp>
        <p:nvSpPr>
          <p:cNvPr id="4" name="Slide Number Placeholder 3"/>
          <p:cNvSpPr>
            <a:spLocks noGrp="1"/>
          </p:cNvSpPr>
          <p:nvPr>
            <p:ph type="sldNum" sz="quarter" idx="5"/>
          </p:nvPr>
        </p:nvSpPr>
        <p:spPr/>
        <p:txBody>
          <a:bodyPr/>
          <a:lstStyle/>
          <a:p>
            <a:fld id="{0A3C37BE-C303-496D-B5CD-85F2937540FC}" type="slidenum">
              <a:rPr lang="en-US" smtClean="0"/>
              <a:t>8</a:t>
            </a:fld>
            <a:endParaRPr lang="en-US"/>
          </a:p>
        </p:txBody>
      </p:sp>
    </p:spTree>
    <p:extLst>
      <p:ext uri="{BB962C8B-B14F-4D97-AF65-F5344CB8AC3E}">
        <p14:creationId xmlns:p14="http://schemas.microsoft.com/office/powerpoint/2010/main" val="394475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a:t>“At </a:t>
            </a:r>
            <a:r>
              <a:rPr lang="en-US" sz="2800" b="1" dirty="0"/>
              <a:t>IELTS Niner Review Center</a:t>
            </a:r>
            <a:r>
              <a:rPr lang="en-US" sz="2800" dirty="0"/>
              <a:t>, we don’t guess—we </a:t>
            </a:r>
            <a:r>
              <a:rPr lang="en-US" sz="2800" b="1" dirty="0"/>
              <a:t>plan smart</a:t>
            </a:r>
            <a:r>
              <a:rPr lang="en-US" sz="2800" dirty="0"/>
              <a:t>.</a:t>
            </a:r>
          </a:p>
          <a:p>
            <a:r>
              <a:rPr lang="en-US" sz="2800" dirty="0"/>
              <a:t>We identify </a:t>
            </a:r>
            <a:r>
              <a:rPr lang="en-US" sz="2800" b="1" dirty="0"/>
              <a:t>your goal</a:t>
            </a:r>
            <a:r>
              <a:rPr lang="en-US" sz="2800" dirty="0"/>
              <a:t>, </a:t>
            </a:r>
            <a:r>
              <a:rPr lang="en-US" sz="2800" b="1" dirty="0"/>
              <a:t>the correct IELTS test</a:t>
            </a:r>
            <a:r>
              <a:rPr lang="en-US" sz="2800" dirty="0"/>
              <a:t>, and </a:t>
            </a:r>
            <a:r>
              <a:rPr lang="en-US" sz="2800" b="1" dirty="0"/>
              <a:t>your target band score</a:t>
            </a:r>
            <a:r>
              <a:rPr lang="en-US" sz="2800" dirty="0"/>
              <a:t> first.</a:t>
            </a:r>
            <a:br>
              <a:rPr lang="en-US" sz="2800" dirty="0"/>
            </a:br>
            <a:r>
              <a:rPr lang="en-US" sz="2800" dirty="0"/>
              <a:t>Then we design your study plan.</a:t>
            </a:r>
          </a:p>
          <a:p>
            <a:r>
              <a:rPr lang="en-US" sz="2800" dirty="0"/>
              <a:t>This simple step saves our students </a:t>
            </a:r>
            <a:r>
              <a:rPr lang="en-US" sz="2800" b="1" dirty="0"/>
              <a:t>months of wasted time</a:t>
            </a:r>
            <a:r>
              <a:rPr lang="en-US" sz="2800" dirty="0"/>
              <a:t> and gets results faster.</a:t>
            </a:r>
          </a:p>
          <a:p>
            <a:endParaRPr lang="en-US" sz="2800" dirty="0"/>
          </a:p>
          <a:p>
            <a:r>
              <a:rPr lang="en-US" sz="2800" kern="1200" dirty="0">
                <a:solidFill>
                  <a:schemeClr val="tx1"/>
                </a:solidFill>
                <a:effectLst/>
                <a:latin typeface="+mn-lt"/>
                <a:ea typeface="+mn-ea"/>
                <a:cs typeface="+mn-cs"/>
              </a:rPr>
              <a:t>“Now that you know which IELTS test to take, the next big question is this:”</a:t>
            </a:r>
          </a:p>
          <a:p>
            <a:r>
              <a:rPr lang="en-US" sz="2800" kern="1200" dirty="0">
                <a:solidFill>
                  <a:schemeClr val="tx1"/>
                </a:solidFill>
                <a:effectLst/>
                <a:latin typeface="+mn-lt"/>
                <a:ea typeface="+mn-ea"/>
                <a:cs typeface="+mn-cs"/>
              </a:rPr>
              <a:t>“</a:t>
            </a:r>
            <a:r>
              <a:rPr lang="en-US" sz="2800" i="1" kern="1200" dirty="0">
                <a:solidFill>
                  <a:schemeClr val="tx1"/>
                </a:solidFill>
                <a:effectLst/>
                <a:latin typeface="+mn-lt"/>
                <a:ea typeface="+mn-ea"/>
                <a:cs typeface="+mn-cs"/>
              </a:rPr>
              <a:t>What do IELTS band scores really mean—and what level do you actually need?</a:t>
            </a:r>
            <a:r>
              <a:rPr lang="en-US" sz="2800" kern="1200" dirty="0">
                <a:solidFill>
                  <a:schemeClr val="tx1"/>
                </a:solidFill>
                <a:effectLst/>
                <a:latin typeface="+mn-lt"/>
                <a:ea typeface="+mn-ea"/>
                <a:cs typeface="+mn-cs"/>
              </a:rPr>
              <a:t>”</a:t>
            </a:r>
          </a:p>
          <a:p>
            <a:r>
              <a:rPr lang="en-US" sz="2800" kern="1200" dirty="0">
                <a:solidFill>
                  <a:schemeClr val="tx1"/>
                </a:solidFill>
                <a:effectLst/>
                <a:latin typeface="+mn-lt"/>
                <a:ea typeface="+mn-ea"/>
                <a:cs typeface="+mn-cs"/>
              </a:rPr>
              <a:t>“In the next video, I’ll break down </a:t>
            </a:r>
            <a:r>
              <a:rPr lang="en-US" sz="2800" b="1" kern="1200" dirty="0">
                <a:solidFill>
                  <a:schemeClr val="tx1"/>
                </a:solidFill>
                <a:effectLst/>
                <a:latin typeface="+mn-lt"/>
                <a:ea typeface="+mn-ea"/>
                <a:cs typeface="+mn-cs"/>
              </a:rPr>
              <a:t>IELTS band scores</a:t>
            </a:r>
            <a:r>
              <a:rPr lang="en-US" sz="2800" kern="1200" dirty="0">
                <a:solidFill>
                  <a:schemeClr val="tx1"/>
                </a:solidFill>
                <a:effectLst/>
                <a:latin typeface="+mn-lt"/>
                <a:ea typeface="+mn-ea"/>
                <a:cs typeface="+mn-cs"/>
              </a:rPr>
              <a:t> so you know exactly where you are and where you need to go.”</a:t>
            </a:r>
          </a:p>
          <a:p>
            <a:r>
              <a:rPr lang="en-US" sz="2800" kern="1200" dirty="0">
                <a:solidFill>
                  <a:schemeClr val="tx1"/>
                </a:solidFill>
                <a:effectLst/>
                <a:latin typeface="+mn-lt"/>
                <a:ea typeface="+mn-ea"/>
                <a:cs typeface="+mn-cs"/>
              </a:rPr>
              <a:t>“See you in the next video.”</a:t>
            </a:r>
          </a:p>
          <a:p>
            <a:endParaRPr lang="en-US" sz="2800" dirty="0"/>
          </a:p>
          <a:p>
            <a:endParaRPr lang="en-US" sz="2800" dirty="0"/>
          </a:p>
        </p:txBody>
      </p:sp>
      <p:sp>
        <p:nvSpPr>
          <p:cNvPr id="4" name="Slide Number Placeholder 3"/>
          <p:cNvSpPr>
            <a:spLocks noGrp="1"/>
          </p:cNvSpPr>
          <p:nvPr>
            <p:ph type="sldNum" sz="quarter" idx="5"/>
          </p:nvPr>
        </p:nvSpPr>
        <p:spPr/>
        <p:txBody>
          <a:bodyPr/>
          <a:lstStyle/>
          <a:p>
            <a:fld id="{0A3C37BE-C303-496D-B5CD-85F2937540FC}" type="slidenum">
              <a:rPr lang="en-US" smtClean="0"/>
              <a:t>9</a:t>
            </a:fld>
            <a:endParaRPr lang="en-US"/>
          </a:p>
        </p:txBody>
      </p:sp>
    </p:spTree>
    <p:extLst>
      <p:ext uri="{BB962C8B-B14F-4D97-AF65-F5344CB8AC3E}">
        <p14:creationId xmlns:p14="http://schemas.microsoft.com/office/powerpoint/2010/main" val="106896425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1/13/2026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1/13/2026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1/13/2026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1/13/2026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1/13/2026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1/13/2026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microsoft.com/office/2007/relationships/hdphoto" Target="../media/hdphoto2.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pPr algn="ctr"/>
            <a:r>
              <a:rPr lang="en-US" dirty="0"/>
              <a:t>GENERAL Training</a:t>
            </a:r>
            <a:br>
              <a:rPr lang="en-US" dirty="0"/>
            </a:br>
            <a:r>
              <a:rPr lang="en-US" dirty="0"/>
              <a:t>VS</a:t>
            </a:r>
            <a:br>
              <a:rPr lang="en-US" dirty="0"/>
            </a:br>
            <a:r>
              <a:rPr lang="en-US" dirty="0"/>
              <a:t>ACADEMIC IELTS</a:t>
            </a:r>
          </a:p>
        </p:txBody>
      </p:sp>
      <p:sp>
        <p:nvSpPr>
          <p:cNvPr id="7" name="Subtitle 6"/>
          <p:cNvSpPr>
            <a:spLocks noGrp="1"/>
          </p:cNvSpPr>
          <p:nvPr>
            <p:ph type="subTitle" idx="1"/>
          </p:nvPr>
        </p:nvSpPr>
        <p:spPr/>
        <p:txBody>
          <a:bodyPr/>
          <a:lstStyle/>
          <a:p>
            <a:pPr algn="ctr"/>
            <a:r>
              <a:rPr lang="en-US" b="1" dirty="0"/>
              <a:t>Choose the Right Test</a:t>
            </a:r>
          </a:p>
          <a:p>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pic>
        <p:nvPicPr>
          <p:cNvPr id="3" name="Picture 2">
            <a:extLst>
              <a:ext uri="{FF2B5EF4-FFF2-40B4-BE49-F238E27FC236}">
                <a16:creationId xmlns:a16="http://schemas.microsoft.com/office/drawing/2014/main" id="{23B6AEC3-2D0C-E892-50DA-0801632850D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9700654" y="4584879"/>
            <a:ext cx="2334654" cy="20284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832002" y="215206"/>
            <a:ext cx="9980682" cy="1096962"/>
          </a:xfrm>
        </p:spPr>
        <p:txBody>
          <a:bodyPr/>
          <a:lstStyle/>
          <a:p>
            <a:pPr algn="ctr"/>
            <a:r>
              <a:rPr lang="en-US" dirty="0"/>
              <a:t>There are two main versions of IELTS</a:t>
            </a:r>
            <a:br>
              <a:rPr lang="en-US" dirty="0"/>
            </a:br>
            <a:endParaRPr lang="en-US" dirty="0"/>
          </a:p>
        </p:txBody>
      </p:sp>
      <p:sp>
        <p:nvSpPr>
          <p:cNvPr id="14" name="Content Placeholder 13"/>
          <p:cNvSpPr>
            <a:spLocks noGrp="1"/>
          </p:cNvSpPr>
          <p:nvPr>
            <p:ph idx="1"/>
          </p:nvPr>
        </p:nvSpPr>
        <p:spPr>
          <a:xfrm>
            <a:off x="975793" y="1143000"/>
            <a:ext cx="9982200" cy="1813034"/>
          </a:xfrm>
        </p:spPr>
        <p:txBody>
          <a:bodyPr>
            <a:normAutofit fontScale="47500" lnSpcReduction="20000"/>
          </a:bodyPr>
          <a:lstStyle/>
          <a:p>
            <a:pPr marL="0" lvl="0" indent="0" algn="ctr">
              <a:buNone/>
            </a:pPr>
            <a:r>
              <a:rPr lang="en-US" sz="2400" dirty="0"/>
              <a:t>I</a:t>
            </a:r>
          </a:p>
          <a:p>
            <a:pPr marL="0" lvl="0" indent="0" algn="ctr">
              <a:buNone/>
            </a:pPr>
            <a:r>
              <a:rPr lang="en-US" sz="5900" b="1" dirty="0">
                <a:latin typeface="Arial Black" panose="020B0A04020102020204" pitchFamily="34" charset="0"/>
              </a:rPr>
              <a:t>IELTS Academic</a:t>
            </a:r>
          </a:p>
          <a:p>
            <a:pPr marL="0" lvl="0" indent="0" algn="ctr">
              <a:buNone/>
            </a:pPr>
            <a:r>
              <a:rPr lang="en-US" sz="5900" b="1" dirty="0">
                <a:latin typeface="Arial Black" panose="020B0A04020102020204" pitchFamily="34" charset="0"/>
              </a:rPr>
              <a:t>IELTS General Training</a:t>
            </a:r>
          </a:p>
          <a:p>
            <a:pPr marL="0" lvl="0" indent="0" algn="ctr">
              <a:buNone/>
            </a:pPr>
            <a:r>
              <a:rPr lang="en-US" sz="4800" dirty="0"/>
              <a:t>ARE THEY THE SAME????</a:t>
            </a:r>
          </a:p>
          <a:p>
            <a:pPr marL="0" lv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7186C530-77D9-32CF-D3D1-8ED8400FFF5F}"/>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10373932" y="167165"/>
            <a:ext cx="1685591" cy="1667814"/>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01163882-705A-DA40-46A7-84A4BF6DE954}"/>
              </a:ext>
            </a:extLst>
          </p:cNvPr>
          <p:cNvSpPr txBox="1"/>
          <p:nvPr/>
        </p:nvSpPr>
        <p:spPr>
          <a:xfrm>
            <a:off x="465083" y="3982262"/>
            <a:ext cx="4895193" cy="3077766"/>
          </a:xfrm>
          <a:prstGeom prst="rect">
            <a:avLst/>
          </a:prstGeom>
          <a:noFill/>
        </p:spPr>
        <p:txBody>
          <a:bodyPr wrap="square" rtlCol="0">
            <a:spAutoFit/>
          </a:bodyPr>
          <a:lstStyle/>
          <a:p>
            <a:r>
              <a:rPr lang="en-US" sz="1400" b="1" dirty="0"/>
              <a:t>             </a:t>
            </a:r>
            <a:r>
              <a:rPr lang="en-US" sz="1600" b="1" dirty="0">
                <a:highlight>
                  <a:srgbClr val="FFFF00"/>
                </a:highlight>
                <a:latin typeface="Arial" panose="020B0604020202020204" pitchFamily="34" charset="0"/>
                <a:cs typeface="Arial" panose="020B0604020202020204" pitchFamily="34" charset="0"/>
              </a:rPr>
              <a:t>Similarities</a:t>
            </a:r>
          </a:p>
          <a:p>
            <a:r>
              <a:rPr lang="en-US" sz="1600" b="1" dirty="0">
                <a:latin typeface="Arial" panose="020B0604020202020204" pitchFamily="34" charset="0"/>
                <a:cs typeface="Arial" panose="020B0604020202020204" pitchFamily="34" charset="0"/>
              </a:rPr>
              <a:t>Listening</a:t>
            </a:r>
            <a:r>
              <a:rPr lang="en-US" sz="1600" dirty="0">
                <a:latin typeface="Arial" panose="020B0604020202020204" pitchFamily="34" charset="0"/>
                <a:cs typeface="Arial" panose="020B0604020202020204" pitchFamily="34" charset="0"/>
              </a:rPr>
              <a:t> – same format, same questions, same difficulty</a:t>
            </a:r>
          </a:p>
          <a:p>
            <a:r>
              <a:rPr lang="en-US" sz="1600" b="1" dirty="0">
                <a:latin typeface="Arial" panose="020B0604020202020204" pitchFamily="34" charset="0"/>
                <a:cs typeface="Arial" panose="020B0604020202020204" pitchFamily="34" charset="0"/>
              </a:rPr>
              <a:t>Speaking</a:t>
            </a:r>
            <a:r>
              <a:rPr lang="en-US" sz="1600" dirty="0">
                <a:latin typeface="Arial" panose="020B0604020202020204" pitchFamily="34" charset="0"/>
                <a:cs typeface="Arial" panose="020B0604020202020204" pitchFamily="34" charset="0"/>
              </a:rPr>
              <a:t> – same test, same examiner, same marking criteria</a:t>
            </a:r>
          </a:p>
          <a:p>
            <a:r>
              <a:rPr lang="en-US" sz="1600" b="1" dirty="0">
                <a:latin typeface="Arial" panose="020B0604020202020204" pitchFamily="34" charset="0"/>
                <a:cs typeface="Arial" panose="020B0604020202020204" pitchFamily="34" charset="0"/>
              </a:rPr>
              <a:t>Band score system</a:t>
            </a:r>
            <a:r>
              <a:rPr lang="en-US" sz="1600" dirty="0">
                <a:latin typeface="Arial" panose="020B0604020202020204" pitchFamily="34" charset="0"/>
                <a:cs typeface="Arial" panose="020B0604020202020204" pitchFamily="34" charset="0"/>
              </a:rPr>
              <a:t> – both use </a:t>
            </a:r>
            <a:r>
              <a:rPr lang="en-US" sz="1600" b="1" dirty="0">
                <a:latin typeface="Arial" panose="020B0604020202020204" pitchFamily="34" charset="0"/>
                <a:cs typeface="Arial" panose="020B0604020202020204" pitchFamily="34" charset="0"/>
              </a:rPr>
              <a:t>0–9 bands</a:t>
            </a: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Test length</a:t>
            </a:r>
            <a:r>
              <a:rPr lang="en-US" sz="1600" dirty="0">
                <a:latin typeface="Arial" panose="020B0604020202020204" pitchFamily="34" charset="0"/>
                <a:cs typeface="Arial" panose="020B0604020202020204" pitchFamily="34" charset="0"/>
              </a:rPr>
              <a:t> – about </a:t>
            </a:r>
            <a:r>
              <a:rPr lang="en-US" sz="1600" b="1" dirty="0">
                <a:latin typeface="Arial" panose="020B0604020202020204" pitchFamily="34" charset="0"/>
                <a:cs typeface="Arial" panose="020B0604020202020204" pitchFamily="34" charset="0"/>
              </a:rPr>
              <a:t>2 hours 45 minutes</a:t>
            </a: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Examiners &amp; assessment criteria</a:t>
            </a:r>
            <a:r>
              <a:rPr lang="en-US" sz="1600" dirty="0">
                <a:latin typeface="Arial" panose="020B0604020202020204" pitchFamily="34" charset="0"/>
                <a:cs typeface="Arial" panose="020B0604020202020204" pitchFamily="34" charset="0"/>
              </a:rPr>
              <a:t> – exactly the same</a:t>
            </a:r>
          </a:p>
          <a:p>
            <a:r>
              <a:rPr lang="en-US" sz="1600" b="1" dirty="0">
                <a:latin typeface="Arial" panose="020B0604020202020204" pitchFamily="34" charset="0"/>
                <a:cs typeface="Arial" panose="020B0604020202020204" pitchFamily="34" charset="0"/>
              </a:rPr>
              <a:t>Accepted worldwide</a:t>
            </a:r>
            <a:r>
              <a:rPr lang="en-US" sz="1600" dirty="0">
                <a:latin typeface="Arial" panose="020B0604020202020204" pitchFamily="34" charset="0"/>
                <a:cs typeface="Arial" panose="020B0604020202020204" pitchFamily="34" charset="0"/>
              </a:rPr>
              <a:t> – universities, employers, and immigration bodies</a:t>
            </a:r>
          </a:p>
          <a:p>
            <a:endParaRPr lang="en-US" dirty="0"/>
          </a:p>
        </p:txBody>
      </p:sp>
      <p:graphicFrame>
        <p:nvGraphicFramePr>
          <p:cNvPr id="5" name="Table 4">
            <a:extLst>
              <a:ext uri="{FF2B5EF4-FFF2-40B4-BE49-F238E27FC236}">
                <a16:creationId xmlns:a16="http://schemas.microsoft.com/office/drawing/2014/main" id="{4F3A00D6-81DB-CF67-9DE7-621F433950C6}"/>
              </a:ext>
            </a:extLst>
          </p:cNvPr>
          <p:cNvGraphicFramePr>
            <a:graphicFrameLocks noGrp="1"/>
          </p:cNvGraphicFramePr>
          <p:nvPr>
            <p:extLst>
              <p:ext uri="{D42A27DB-BD31-4B8C-83A1-F6EECF244321}">
                <p14:modId xmlns:p14="http://schemas.microsoft.com/office/powerpoint/2010/main" val="2783153148"/>
              </p:ext>
            </p:extLst>
          </p:nvPr>
        </p:nvGraphicFramePr>
        <p:xfrm>
          <a:off x="7078717" y="3965027"/>
          <a:ext cx="9128589" cy="2133600"/>
        </p:xfrm>
        <a:graphic>
          <a:graphicData uri="http://schemas.openxmlformats.org/drawingml/2006/table">
            <a:tbl>
              <a:tblPr/>
              <a:tblGrid>
                <a:gridCol w="3042863">
                  <a:extLst>
                    <a:ext uri="{9D8B030D-6E8A-4147-A177-3AD203B41FA5}">
                      <a16:colId xmlns:a16="http://schemas.microsoft.com/office/drawing/2014/main" val="2930879805"/>
                    </a:ext>
                  </a:extLst>
                </a:gridCol>
                <a:gridCol w="3042863">
                  <a:extLst>
                    <a:ext uri="{9D8B030D-6E8A-4147-A177-3AD203B41FA5}">
                      <a16:colId xmlns:a16="http://schemas.microsoft.com/office/drawing/2014/main" val="2359386183"/>
                    </a:ext>
                  </a:extLst>
                </a:gridCol>
                <a:gridCol w="3042863">
                  <a:extLst>
                    <a:ext uri="{9D8B030D-6E8A-4147-A177-3AD203B41FA5}">
                      <a16:colId xmlns:a16="http://schemas.microsoft.com/office/drawing/2014/main" val="3705366968"/>
                    </a:ext>
                  </a:extLst>
                </a:gridCol>
              </a:tblGrid>
              <a:tr h="260882">
                <a:tc>
                  <a:txBody>
                    <a:bodyPr/>
                    <a:lstStyle/>
                    <a:p>
                      <a:pPr>
                        <a:buNone/>
                      </a:pPr>
                      <a:endParaRPr lang="en-US" sz="1400" dirty="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extLst>
                  <a:ext uri="{0D108BD9-81ED-4DB2-BD59-A6C34878D82A}">
                    <a16:rowId xmlns:a16="http://schemas.microsoft.com/office/drawing/2014/main" val="1196001740"/>
                  </a:ext>
                </a:extLst>
              </a:tr>
              <a:tr h="260882">
                <a:tc>
                  <a:txBody>
                    <a:bodyPr/>
                    <a:lstStyle/>
                    <a:p>
                      <a:pPr>
                        <a:buNone/>
                      </a:pPr>
                      <a:endParaRPr lang="en-US" sz="1400" dirty="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extLst>
                  <a:ext uri="{0D108BD9-81ED-4DB2-BD59-A6C34878D82A}">
                    <a16:rowId xmlns:a16="http://schemas.microsoft.com/office/drawing/2014/main" val="2737157778"/>
                  </a:ext>
                </a:extLst>
              </a:tr>
              <a:tr h="260882">
                <a:tc>
                  <a:txBody>
                    <a:bodyPr/>
                    <a:lstStyle/>
                    <a:p>
                      <a:pPr>
                        <a:buNone/>
                      </a:pPr>
                      <a:endParaRPr lang="en-US" sz="1400" dirty="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extLst>
                  <a:ext uri="{0D108BD9-81ED-4DB2-BD59-A6C34878D82A}">
                    <a16:rowId xmlns:a16="http://schemas.microsoft.com/office/drawing/2014/main" val="910379551"/>
                  </a:ext>
                </a:extLst>
              </a:tr>
              <a:tr h="260882">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extLst>
                  <a:ext uri="{0D108BD9-81ED-4DB2-BD59-A6C34878D82A}">
                    <a16:rowId xmlns:a16="http://schemas.microsoft.com/office/drawing/2014/main" val="2485889281"/>
                  </a:ext>
                </a:extLst>
              </a:tr>
              <a:tr h="260882">
                <a:tc>
                  <a:txBody>
                    <a:bodyPr/>
                    <a:lstStyle/>
                    <a:p>
                      <a:pPr>
                        <a:buNone/>
                      </a:pPr>
                      <a:endParaRPr lang="en-US" sz="1400" dirty="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extLst>
                  <a:ext uri="{0D108BD9-81ED-4DB2-BD59-A6C34878D82A}">
                    <a16:rowId xmlns:a16="http://schemas.microsoft.com/office/drawing/2014/main" val="1467121765"/>
                  </a:ext>
                </a:extLst>
              </a:tr>
              <a:tr h="260882">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extLst>
                  <a:ext uri="{0D108BD9-81ED-4DB2-BD59-A6C34878D82A}">
                    <a16:rowId xmlns:a16="http://schemas.microsoft.com/office/drawing/2014/main" val="3676574841"/>
                  </a:ext>
                </a:extLst>
              </a:tr>
              <a:tr h="260882">
                <a:tc>
                  <a:txBody>
                    <a:bodyPr/>
                    <a:lstStyle/>
                    <a:p>
                      <a:pPr>
                        <a:buNone/>
                      </a:pP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endParaRPr lang="en-US" sz="1400" dirty="0"/>
                    </a:p>
                  </a:txBody>
                  <a:tcPr anchor="ctr">
                    <a:lnL>
                      <a:noFill/>
                    </a:lnL>
                    <a:lnR>
                      <a:noFill/>
                    </a:lnR>
                    <a:lnT>
                      <a:noFill/>
                    </a:lnT>
                    <a:lnB>
                      <a:noFill/>
                    </a:lnB>
                    <a:noFill/>
                  </a:tcPr>
                </a:tc>
                <a:extLst>
                  <a:ext uri="{0D108BD9-81ED-4DB2-BD59-A6C34878D82A}">
                    <a16:rowId xmlns:a16="http://schemas.microsoft.com/office/drawing/2014/main" val="1712913800"/>
                  </a:ext>
                </a:extLst>
              </a:tr>
            </a:tbl>
          </a:graphicData>
        </a:graphic>
      </p:graphicFrame>
      <p:sp>
        <p:nvSpPr>
          <p:cNvPr id="6" name="Rectangle 1">
            <a:extLst>
              <a:ext uri="{FF2B5EF4-FFF2-40B4-BE49-F238E27FC236}">
                <a16:creationId xmlns:a16="http://schemas.microsoft.com/office/drawing/2014/main" id="{107BC605-DC0D-4C9F-D6C1-371F56FFEE80}"/>
              </a:ext>
            </a:extLst>
          </p:cNvPr>
          <p:cNvSpPr>
            <a:spLocks noChangeArrowheads="1"/>
          </p:cNvSpPr>
          <p:nvPr/>
        </p:nvSpPr>
        <p:spPr bwMode="auto">
          <a:xfrm>
            <a:off x="7844657" y="4062331"/>
            <a:ext cx="22932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Differences</a:t>
            </a:r>
            <a:r>
              <a:rPr kumimoji="0" lang="en-US" altLang="en-US" sz="1800" b="1" i="0" u="none" strike="noStrike" cap="none" normalizeH="0" baseline="0" dirty="0">
                <a:ln>
                  <a:noFill/>
                </a:ln>
                <a:solidFill>
                  <a:schemeClr val="tx1"/>
                </a:solidFill>
                <a:effectLst/>
                <a:latin typeface="Arial" panose="020B0604020202020204" pitchFamily="34" charset="0"/>
              </a:rPr>
              <a:t>:</a:t>
            </a:r>
          </a:p>
          <a:p>
            <a:pPr lvl="0" eaLnBrk="0" fontAlgn="base" hangingPunct="0">
              <a:spcBef>
                <a:spcPct val="0"/>
              </a:spcBef>
              <a:spcAft>
                <a:spcPct val="0"/>
              </a:spcAft>
            </a:pPr>
            <a:r>
              <a:rPr lang="en-US" altLang="en-US" dirty="0">
                <a:latin typeface="Arial" panose="020B0604020202020204" pitchFamily="34" charset="0"/>
              </a:rPr>
              <a:t>Reading and Wri</a:t>
            </a:r>
            <a:r>
              <a:rPr lang="en-US" dirty="0"/>
              <a:t>ting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26A6C1F4-3A4D-D98B-E8AB-9F0A5E8E35C1}"/>
              </a:ext>
            </a:extLst>
          </p:cNvPr>
          <p:cNvSpPr txBox="1"/>
          <p:nvPr/>
        </p:nvSpPr>
        <p:spPr>
          <a:xfrm>
            <a:off x="4627178" y="3301066"/>
            <a:ext cx="2672255" cy="923330"/>
          </a:xfrm>
          <a:prstGeom prst="rect">
            <a:avLst/>
          </a:prstGeom>
          <a:noFill/>
        </p:spPr>
        <p:txBody>
          <a:bodyPr wrap="square" rtlCol="0">
            <a:spAutoFit/>
          </a:bodyPr>
          <a:lstStyle/>
          <a:p>
            <a:pPr lvl="0" algn="ctr"/>
            <a:r>
              <a:rPr lang="en-US" b="1" dirty="0">
                <a:solidFill>
                  <a:srgbClr val="FF0000"/>
                </a:solidFill>
              </a:rPr>
              <a:t>NO</a:t>
            </a:r>
          </a:p>
          <a:p>
            <a:pPr lvl="0" algn="ctr"/>
            <a:r>
              <a:rPr lang="en-US" b="1" dirty="0">
                <a:solidFill>
                  <a:srgbClr val="FF0000"/>
                </a:solidFill>
              </a:rPr>
              <a:t>But they are related</a:t>
            </a:r>
          </a:p>
          <a:p>
            <a:endParaRPr lang="en-US"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3" end="3"/>
                                            </p:txEl>
                                          </p:spTgt>
                                        </p:tgtEl>
                                        <p:attrNameLst>
                                          <p:attrName>style.visibility</p:attrName>
                                        </p:attrNameLst>
                                      </p:cBhvr>
                                      <p:to>
                                        <p:strVal val="visible"/>
                                      </p:to>
                                    </p:set>
                                    <p:anim calcmode="lin" valueType="num">
                                      <p:cBhvr additive="base">
                                        <p:cTn id="7"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wipe(down)">
                                      <p:cBhvr>
                                        <p:cTn id="19" dur="500"/>
                                        <p:tgtEl>
                                          <p:spTgt spid="2">
                                            <p:txEl>
                                              <p:pRg st="0" end="0"/>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wipe(down)">
                                      <p:cBhvr>
                                        <p:cTn id="22" dur="500"/>
                                        <p:tgtEl>
                                          <p:spTgt spid="2">
                                            <p:txEl>
                                              <p:pRg st="1" end="1"/>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wipe(down)">
                                      <p:cBhvr>
                                        <p:cTn id="25" dur="500"/>
                                        <p:tgtEl>
                                          <p:spTgt spid="2">
                                            <p:txEl>
                                              <p:pRg st="2" end="2"/>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wipe(down)">
                                      <p:cBhvr>
                                        <p:cTn id="28" dur="500"/>
                                        <p:tgtEl>
                                          <p:spTgt spid="2">
                                            <p:txEl>
                                              <p:pRg st="3" end="3"/>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wipe(down)">
                                      <p:cBhvr>
                                        <p:cTn id="31" dur="500"/>
                                        <p:tgtEl>
                                          <p:spTgt spid="2">
                                            <p:txEl>
                                              <p:pRg st="4" end="4"/>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2">
                                            <p:txEl>
                                              <p:pRg st="5" end="5"/>
                                            </p:txEl>
                                          </p:spTgt>
                                        </p:tgtEl>
                                        <p:attrNameLst>
                                          <p:attrName>style.visibility</p:attrName>
                                        </p:attrNameLst>
                                      </p:cBhvr>
                                      <p:to>
                                        <p:strVal val="visible"/>
                                      </p:to>
                                    </p:set>
                                    <p:animEffect transition="in" filter="wipe(down)">
                                      <p:cBhvr>
                                        <p:cTn id="34" dur="500"/>
                                        <p:tgtEl>
                                          <p:spTgt spid="2">
                                            <p:txEl>
                                              <p:pRg st="5" end="5"/>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down)">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Effect transition="in" filter="barn(inVertical)">
                                      <p:cBhvr>
                                        <p:cTn id="42" dur="500"/>
                                        <p:tgtEl>
                                          <p:spTgt spid="6">
                                            <p:txEl>
                                              <p:pRg st="0" end="0"/>
                                            </p:txEl>
                                          </p:spTgt>
                                        </p:tgtEl>
                                      </p:cBhvr>
                                    </p:animEffect>
                                  </p:childTnLst>
                                </p:cTn>
                              </p:par>
                              <p:par>
                                <p:cTn id="43" presetID="16" presetClass="entr" presetSubtype="21" fill="hold" nodeType="withEffect">
                                  <p:stCondLst>
                                    <p:cond delay="0"/>
                                  </p:stCondLst>
                                  <p:childTnLst>
                                    <p:set>
                                      <p:cBhvr>
                                        <p:cTn id="44" dur="1" fill="hold">
                                          <p:stCondLst>
                                            <p:cond delay="0"/>
                                          </p:stCondLst>
                                        </p:cTn>
                                        <p:tgtEl>
                                          <p:spTgt spid="6">
                                            <p:txEl>
                                              <p:pRg st="1" end="1"/>
                                            </p:txEl>
                                          </p:spTgt>
                                        </p:tgtEl>
                                        <p:attrNameLst>
                                          <p:attrName>style.visibility</p:attrName>
                                        </p:attrNameLst>
                                      </p:cBhvr>
                                      <p:to>
                                        <p:strVal val="visible"/>
                                      </p:to>
                                    </p:set>
                                    <p:animEffect transition="in" filter="barn(inVertical)">
                                      <p:cBhvr>
                                        <p:cTn id="4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IELTS Academic – Who Is It For?</a:t>
            </a:r>
          </a:p>
        </p:txBody>
      </p:sp>
      <p:sp>
        <p:nvSpPr>
          <p:cNvPr id="4" name="Content Placeholder 3">
            <a:extLst>
              <a:ext uri="{FF2B5EF4-FFF2-40B4-BE49-F238E27FC236}">
                <a16:creationId xmlns:a16="http://schemas.microsoft.com/office/drawing/2014/main" id="{E7D8DE62-7F55-508E-C550-F42D3C9C6D7C}"/>
              </a:ext>
            </a:extLst>
          </p:cNvPr>
          <p:cNvSpPr>
            <a:spLocks noGrp="1"/>
          </p:cNvSpPr>
          <p:nvPr>
            <p:ph idx="1"/>
          </p:nvPr>
        </p:nvSpPr>
        <p:spPr>
          <a:xfrm>
            <a:off x="1104900" y="1600200"/>
            <a:ext cx="10164462" cy="4572000"/>
          </a:xfrm>
        </p:spPr>
        <p:txBody>
          <a:bodyPr/>
          <a:lstStyle/>
          <a:p>
            <a:pPr marL="0" indent="0">
              <a:buNone/>
            </a:pPr>
            <a:r>
              <a:rPr lang="en-US" b="1" dirty="0"/>
              <a:t>IELTS Academic is designed for Academic and Professional study</a:t>
            </a:r>
          </a:p>
          <a:p>
            <a:pPr marL="0" indent="0">
              <a:buNone/>
            </a:pPr>
            <a:r>
              <a:rPr lang="en-US" dirty="0"/>
              <a:t>If you plan to: </a:t>
            </a:r>
          </a:p>
          <a:p>
            <a:pPr lvl="0"/>
            <a:r>
              <a:rPr lang="en-US" dirty="0"/>
              <a:t>Study at a university or college</a:t>
            </a:r>
          </a:p>
          <a:p>
            <a:pPr lvl="0"/>
            <a:r>
              <a:rPr lang="en-US" dirty="0"/>
              <a:t>Apply for a master’s or PhD program</a:t>
            </a:r>
          </a:p>
          <a:p>
            <a:r>
              <a:rPr lang="en-US" dirty="0"/>
              <a:t>Register with professional bodies such as medicine, nursing, or engineering</a:t>
            </a:r>
          </a:p>
          <a:p>
            <a:pPr marL="0" indent="0">
              <a:buNone/>
            </a:pPr>
            <a:endParaRPr lang="en-US" dirty="0"/>
          </a:p>
        </p:txBody>
      </p:sp>
      <p:pic>
        <p:nvPicPr>
          <p:cNvPr id="5" name="Picture 4">
            <a:extLst>
              <a:ext uri="{FF2B5EF4-FFF2-40B4-BE49-F238E27FC236}">
                <a16:creationId xmlns:a16="http://schemas.microsoft.com/office/drawing/2014/main" id="{A9934FC5-54CD-ED52-BF1C-5847BCAB5385}"/>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10354614" y="76200"/>
            <a:ext cx="1685591" cy="16678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p:cTn id="7"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 calcmode="lin" valueType="num">
                                      <p:cBhvr>
                                        <p:cTn id="12"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4">
                                            <p:txEl>
                                              <p:pRg st="3" end="3"/>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p:cTn id="17"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4">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 calcmode="lin" valueType="num">
                                      <p:cBhvr>
                                        <p:cTn id="22"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9" name="Content Placeholder 8" descr="A screenshot of a computer&#10;&#10;AI-generated content may be incorrect.">
            <a:extLst>
              <a:ext uri="{FF2B5EF4-FFF2-40B4-BE49-F238E27FC236}">
                <a16:creationId xmlns:a16="http://schemas.microsoft.com/office/drawing/2014/main" id="{F7E49322-B0B9-567F-C8C6-11C8BC1F497A}"/>
              </a:ext>
            </a:extLst>
          </p:cNvPr>
          <p:cNvPicPr>
            <a:picLocks noGrp="1" noChangeAspect="1"/>
          </p:cNvPicPr>
          <p:nvPr>
            <p:ph sz="half" idx="2"/>
          </p:nvPr>
        </p:nvPicPr>
        <p:blipFill>
          <a:blip r:embed="rId3"/>
          <a:stretch>
            <a:fillRect/>
          </a:stretch>
        </p:blipFill>
        <p:spPr>
          <a:xfrm>
            <a:off x="6611691" y="2916195"/>
            <a:ext cx="5319914" cy="3527854"/>
          </a:xfrm>
          <a:prstGeom prst="rect">
            <a:avLst/>
          </a:prstGeom>
        </p:spPr>
      </p:pic>
      <p:sp>
        <p:nvSpPr>
          <p:cNvPr id="11" name="Content Placeholder 10">
            <a:extLst>
              <a:ext uri="{FF2B5EF4-FFF2-40B4-BE49-F238E27FC236}">
                <a16:creationId xmlns:a16="http://schemas.microsoft.com/office/drawing/2014/main" id="{A908DB2C-0DCC-1DC6-3B43-341424ED22FC}"/>
              </a:ext>
            </a:extLst>
          </p:cNvPr>
          <p:cNvSpPr>
            <a:spLocks noGrp="1"/>
          </p:cNvSpPr>
          <p:nvPr>
            <p:ph sz="half" idx="1"/>
          </p:nvPr>
        </p:nvSpPr>
        <p:spPr/>
        <p:txBody>
          <a:bodyPr/>
          <a:lstStyle/>
          <a:p>
            <a:endParaRPr lang="en-US"/>
          </a:p>
        </p:txBody>
      </p:sp>
      <p:pic>
        <p:nvPicPr>
          <p:cNvPr id="13" name="Picture 12" descr="A close up of a newspaper">
            <a:extLst>
              <a:ext uri="{FF2B5EF4-FFF2-40B4-BE49-F238E27FC236}">
                <a16:creationId xmlns:a16="http://schemas.microsoft.com/office/drawing/2014/main" id="{02E7FED0-808A-3DE2-2689-3687C8B1C720}"/>
              </a:ext>
            </a:extLst>
          </p:cNvPr>
          <p:cNvPicPr>
            <a:picLocks noChangeAspect="1"/>
          </p:cNvPicPr>
          <p:nvPr/>
        </p:nvPicPr>
        <p:blipFill>
          <a:blip r:embed="rId4"/>
          <a:stretch>
            <a:fillRect/>
          </a:stretch>
        </p:blipFill>
        <p:spPr>
          <a:xfrm>
            <a:off x="327656" y="475820"/>
            <a:ext cx="6284035" cy="6305980"/>
          </a:xfrm>
          <a:prstGeom prst="rect">
            <a:avLst/>
          </a:prstGeom>
        </p:spPr>
      </p:pic>
      <p:sp>
        <p:nvSpPr>
          <p:cNvPr id="14" name="Rectangle 13">
            <a:extLst>
              <a:ext uri="{FF2B5EF4-FFF2-40B4-BE49-F238E27FC236}">
                <a16:creationId xmlns:a16="http://schemas.microsoft.com/office/drawing/2014/main" id="{566469B1-CAD4-3574-04DB-454AC3AD7EE6}"/>
              </a:ext>
            </a:extLst>
          </p:cNvPr>
          <p:cNvSpPr/>
          <p:nvPr/>
        </p:nvSpPr>
        <p:spPr>
          <a:xfrm>
            <a:off x="6391746" y="522982"/>
            <a:ext cx="2273763" cy="1077218"/>
          </a:xfrm>
          <a:prstGeom prst="rect">
            <a:avLst/>
          </a:prstGeom>
          <a:noFill/>
        </p:spPr>
        <p:txBody>
          <a:bodyPr wrap="none" lIns="91440" tIns="45720" rIns="91440" bIns="45720">
            <a:spAutoFit/>
          </a:bodyPr>
          <a:lstStyle/>
          <a:p>
            <a:pPr algn="ctr"/>
            <a:r>
              <a:rPr lang="en-US"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ACADEMIC </a:t>
            </a:r>
          </a:p>
          <a:p>
            <a:pPr algn="ctr"/>
            <a:r>
              <a:rPr lang="en-US"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READING</a:t>
            </a:r>
          </a:p>
        </p:txBody>
      </p:sp>
      <p:sp>
        <p:nvSpPr>
          <p:cNvPr id="15" name="TextBox 14">
            <a:extLst>
              <a:ext uri="{FF2B5EF4-FFF2-40B4-BE49-F238E27FC236}">
                <a16:creationId xmlns:a16="http://schemas.microsoft.com/office/drawing/2014/main" id="{4D014F61-852C-03F9-4271-F32A8AF26516}"/>
              </a:ext>
            </a:extLst>
          </p:cNvPr>
          <p:cNvSpPr txBox="1"/>
          <p:nvPr/>
        </p:nvSpPr>
        <p:spPr>
          <a:xfrm>
            <a:off x="6703541" y="1875501"/>
            <a:ext cx="4904932" cy="369332"/>
          </a:xfrm>
          <a:prstGeom prst="rect">
            <a:avLst/>
          </a:prstGeom>
          <a:noFill/>
        </p:spPr>
        <p:txBody>
          <a:bodyPr wrap="none" rtlCol="0">
            <a:spAutoFit/>
          </a:bodyPr>
          <a:lstStyle/>
          <a:p>
            <a:r>
              <a:rPr lang="en-US" b="1" dirty="0"/>
              <a:t>Reading texts are longer and more academic</a:t>
            </a:r>
          </a:p>
        </p:txBody>
      </p:sp>
      <p:pic>
        <p:nvPicPr>
          <p:cNvPr id="3" name="Picture 2">
            <a:extLst>
              <a:ext uri="{FF2B5EF4-FFF2-40B4-BE49-F238E27FC236}">
                <a16:creationId xmlns:a16="http://schemas.microsoft.com/office/drawing/2014/main" id="{6EAE6E61-02B4-023F-9D08-FCC56A54CFC6}"/>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10212946" y="176710"/>
            <a:ext cx="1685591" cy="16678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6" name="Rectangle 5">
            <a:extLst>
              <a:ext uri="{FF2B5EF4-FFF2-40B4-BE49-F238E27FC236}">
                <a16:creationId xmlns:a16="http://schemas.microsoft.com/office/drawing/2014/main" id="{0A290C25-9BE1-56F5-AF46-D952388FFBE2}"/>
              </a:ext>
            </a:extLst>
          </p:cNvPr>
          <p:cNvSpPr/>
          <p:nvPr/>
        </p:nvSpPr>
        <p:spPr>
          <a:xfrm>
            <a:off x="7655701" y="2587591"/>
            <a:ext cx="3863942" cy="584775"/>
          </a:xfrm>
          <a:prstGeom prst="rect">
            <a:avLst/>
          </a:prstGeom>
          <a:noFill/>
        </p:spPr>
        <p:txBody>
          <a:bodyPr wrap="none" lIns="91440" tIns="45720" rIns="91440" bIns="45720">
            <a:spAutoFit/>
          </a:bodyPr>
          <a:lstStyle/>
          <a:p>
            <a:pPr algn="ctr"/>
            <a:r>
              <a:rPr lang="en-US"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ACADEMIC WRITING</a:t>
            </a:r>
          </a:p>
        </p:txBody>
      </p:sp>
      <p:pic>
        <p:nvPicPr>
          <p:cNvPr id="8" name="Picture 7" descr="A graph showing a number of different colored bars">
            <a:extLst>
              <a:ext uri="{FF2B5EF4-FFF2-40B4-BE49-F238E27FC236}">
                <a16:creationId xmlns:a16="http://schemas.microsoft.com/office/drawing/2014/main" id="{4AB2A763-A2ED-2698-D09F-E6C1F53276EB}"/>
              </a:ext>
            </a:extLst>
          </p:cNvPr>
          <p:cNvPicPr>
            <a:picLocks noChangeAspect="1"/>
          </p:cNvPicPr>
          <p:nvPr/>
        </p:nvPicPr>
        <p:blipFill>
          <a:blip r:embed="rId3"/>
          <a:stretch>
            <a:fillRect/>
          </a:stretch>
        </p:blipFill>
        <p:spPr>
          <a:xfrm>
            <a:off x="53848" y="0"/>
            <a:ext cx="3470208" cy="2201875"/>
          </a:xfrm>
          <a:prstGeom prst="rect">
            <a:avLst/>
          </a:prstGeom>
        </p:spPr>
      </p:pic>
      <p:pic>
        <p:nvPicPr>
          <p:cNvPr id="10" name="Picture 9" descr="A graph showing the number of university enrolments in accounting">
            <a:extLst>
              <a:ext uri="{FF2B5EF4-FFF2-40B4-BE49-F238E27FC236}">
                <a16:creationId xmlns:a16="http://schemas.microsoft.com/office/drawing/2014/main" id="{64031ABA-F558-632C-C469-9306A3D35B10}"/>
              </a:ext>
            </a:extLst>
          </p:cNvPr>
          <p:cNvPicPr>
            <a:picLocks noChangeAspect="1"/>
          </p:cNvPicPr>
          <p:nvPr/>
        </p:nvPicPr>
        <p:blipFill>
          <a:blip r:embed="rId4"/>
          <a:stretch>
            <a:fillRect/>
          </a:stretch>
        </p:blipFill>
        <p:spPr>
          <a:xfrm>
            <a:off x="0" y="2229202"/>
            <a:ext cx="3470208" cy="2376330"/>
          </a:xfrm>
          <a:prstGeom prst="rect">
            <a:avLst/>
          </a:prstGeom>
        </p:spPr>
      </p:pic>
      <p:pic>
        <p:nvPicPr>
          <p:cNvPr id="12" name="Picture 11" descr="A screenshot of a graph">
            <a:extLst>
              <a:ext uri="{FF2B5EF4-FFF2-40B4-BE49-F238E27FC236}">
                <a16:creationId xmlns:a16="http://schemas.microsoft.com/office/drawing/2014/main" id="{7F602263-3CE8-5FE7-97DD-047416684699}"/>
              </a:ext>
            </a:extLst>
          </p:cNvPr>
          <p:cNvPicPr>
            <a:picLocks noChangeAspect="1"/>
          </p:cNvPicPr>
          <p:nvPr/>
        </p:nvPicPr>
        <p:blipFill>
          <a:blip r:embed="rId5"/>
          <a:stretch>
            <a:fillRect/>
          </a:stretch>
        </p:blipFill>
        <p:spPr>
          <a:xfrm>
            <a:off x="0" y="4605532"/>
            <a:ext cx="3524056" cy="2252468"/>
          </a:xfrm>
          <a:prstGeom prst="rect">
            <a:avLst/>
          </a:prstGeom>
        </p:spPr>
      </p:pic>
      <p:sp>
        <p:nvSpPr>
          <p:cNvPr id="13" name="TextBox 12">
            <a:extLst>
              <a:ext uri="{FF2B5EF4-FFF2-40B4-BE49-F238E27FC236}">
                <a16:creationId xmlns:a16="http://schemas.microsoft.com/office/drawing/2014/main" id="{47FAA69C-14F4-3547-3E33-4CFC1B85DD17}"/>
              </a:ext>
            </a:extLst>
          </p:cNvPr>
          <p:cNvSpPr txBox="1"/>
          <p:nvPr/>
        </p:nvSpPr>
        <p:spPr>
          <a:xfrm>
            <a:off x="3830378" y="1120676"/>
            <a:ext cx="3465153" cy="230832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softEdge rad="31750"/>
          </a:effectLst>
        </p:spPr>
        <p:txBody>
          <a:bodyPr wrap="square" rtlCol="0">
            <a:spAutoFit/>
          </a:bodyPr>
          <a:lstStyle/>
          <a:p>
            <a:r>
              <a:rPr lang="en-US" b="1" dirty="0"/>
              <a:t>Some people think that parents should teach their children how to be good members of society. Others, however, believe that school is the best place to learn this. Discuss both views and give your own opinion.</a:t>
            </a:r>
            <a:endParaRPr lang="en-US" dirty="0"/>
          </a:p>
        </p:txBody>
      </p:sp>
      <p:sp>
        <p:nvSpPr>
          <p:cNvPr id="14" name="TextBox 13">
            <a:extLst>
              <a:ext uri="{FF2B5EF4-FFF2-40B4-BE49-F238E27FC236}">
                <a16:creationId xmlns:a16="http://schemas.microsoft.com/office/drawing/2014/main" id="{3639FF60-9298-68CA-095B-2F0316E7C806}"/>
              </a:ext>
            </a:extLst>
          </p:cNvPr>
          <p:cNvSpPr txBox="1"/>
          <p:nvPr/>
        </p:nvSpPr>
        <p:spPr>
          <a:xfrm>
            <a:off x="3830378" y="4128654"/>
            <a:ext cx="3524056" cy="2031325"/>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a:softEdge rad="31750"/>
          </a:effectLst>
        </p:spPr>
        <p:txBody>
          <a:bodyPr wrap="square" rtlCol="0">
            <a:spAutoFit/>
          </a:bodyPr>
          <a:lstStyle/>
          <a:p>
            <a:r>
              <a:rPr lang="en-US" b="1" dirty="0"/>
              <a:t>In many countries around the world, rural people are moving to cities, so the population in the countryside is decreasing.</a:t>
            </a:r>
          </a:p>
          <a:p>
            <a:r>
              <a:rPr lang="en-US" b="1" dirty="0"/>
              <a:t>Do you think this is a positive or a negative development?</a:t>
            </a:r>
          </a:p>
          <a:p>
            <a:endParaRPr lang="en-US" dirty="0"/>
          </a:p>
        </p:txBody>
      </p:sp>
      <p:sp>
        <p:nvSpPr>
          <p:cNvPr id="15" name="TextBox 14">
            <a:extLst>
              <a:ext uri="{FF2B5EF4-FFF2-40B4-BE49-F238E27FC236}">
                <a16:creationId xmlns:a16="http://schemas.microsoft.com/office/drawing/2014/main" id="{B9F0297C-1FA9-4CF1-8EF1-F1D379FFF210}"/>
              </a:ext>
            </a:extLst>
          </p:cNvPr>
          <p:cNvSpPr txBox="1"/>
          <p:nvPr/>
        </p:nvSpPr>
        <p:spPr>
          <a:xfrm>
            <a:off x="7959876" y="3685634"/>
            <a:ext cx="3125706" cy="2585323"/>
          </a:xfrm>
          <a:prstGeom prst="rect">
            <a:avLst/>
          </a:prstGeom>
          <a:noFill/>
        </p:spPr>
        <p:txBody>
          <a:bodyPr wrap="square" rtlCol="0">
            <a:spAutoFit/>
          </a:bodyPr>
          <a:lstStyle/>
          <a:p>
            <a:r>
              <a:rPr lang="en-US" b="1" dirty="0"/>
              <a:t>Writing Task 1 </a:t>
            </a:r>
            <a:r>
              <a:rPr lang="en-US" dirty="0"/>
              <a:t>requires you to describe </a:t>
            </a:r>
            <a:r>
              <a:rPr lang="en-US" b="1" dirty="0"/>
              <a:t>charts, graphs, or diagrams</a:t>
            </a:r>
            <a:endParaRPr lang="en-US" dirty="0"/>
          </a:p>
          <a:p>
            <a:endParaRPr lang="en-US" dirty="0"/>
          </a:p>
          <a:p>
            <a:endParaRPr lang="en-US" dirty="0"/>
          </a:p>
          <a:p>
            <a:endParaRPr lang="en-US" dirty="0"/>
          </a:p>
          <a:p>
            <a:r>
              <a:rPr lang="en-US" b="1" dirty="0"/>
              <a:t>Writing Task 2 </a:t>
            </a:r>
            <a:r>
              <a:rPr lang="en-US" dirty="0"/>
              <a:t>is an academic essay”</a:t>
            </a:r>
          </a:p>
          <a:p>
            <a:endParaRPr lang="en-US" dirty="0"/>
          </a:p>
        </p:txBody>
      </p:sp>
      <p:pic>
        <p:nvPicPr>
          <p:cNvPr id="3" name="Picture 2">
            <a:extLst>
              <a:ext uri="{FF2B5EF4-FFF2-40B4-BE49-F238E27FC236}">
                <a16:creationId xmlns:a16="http://schemas.microsoft.com/office/drawing/2014/main" id="{FD49DF1B-4751-050B-8CDD-003E3169D207}"/>
              </a:ext>
            </a:extLst>
          </p:cNvPr>
          <p:cNvPicPr>
            <a:picLocks noChangeAspect="1"/>
          </p:cNvPicPr>
          <p:nvPr/>
        </p:nvPicPr>
        <p:blipFill>
          <a:blip r:embed="rId6" cstate="print">
            <a:extLst>
              <a:ext uri="{BEBA8EAE-BF5A-486C-A8C5-ECC9F3942E4B}">
                <a14:imgProps xmlns:a14="http://schemas.microsoft.com/office/drawing/2010/main">
                  <a14:imgLayer r:embed="rId7">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10378668" y="76200"/>
            <a:ext cx="1757966" cy="19373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style.rotation</p:attrName>
                                        </p:attrNameLst>
                                      </p:cBhvr>
                                      <p:tavLst>
                                        <p:tav tm="0">
                                          <p:val>
                                            <p:fltVal val="90"/>
                                          </p:val>
                                        </p:tav>
                                        <p:tav tm="100000">
                                          <p:val>
                                            <p:fltVal val="0"/>
                                          </p:val>
                                        </p:tav>
                                      </p:tavLst>
                                    </p:anim>
                                    <p:animEffect transition="in" filter="fade">
                                      <p:cBhvr>
                                        <p:cTn id="10" dur="10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1000" fill="hold"/>
                                        <p:tgtEl>
                                          <p:spTgt spid="14"/>
                                        </p:tgtEl>
                                        <p:attrNameLst>
                                          <p:attrName>ppt_w</p:attrName>
                                        </p:attrNameLst>
                                      </p:cBhvr>
                                      <p:tavLst>
                                        <p:tav tm="0">
                                          <p:val>
                                            <p:fltVal val="0"/>
                                          </p:val>
                                        </p:tav>
                                        <p:tav tm="100000">
                                          <p:val>
                                            <p:strVal val="#ppt_w"/>
                                          </p:val>
                                        </p:tav>
                                      </p:tavLst>
                                    </p:anim>
                                    <p:anim calcmode="lin" valueType="num">
                                      <p:cBhvr>
                                        <p:cTn id="16" dur="1000" fill="hold"/>
                                        <p:tgtEl>
                                          <p:spTgt spid="14"/>
                                        </p:tgtEl>
                                        <p:attrNameLst>
                                          <p:attrName>ppt_h</p:attrName>
                                        </p:attrNameLst>
                                      </p:cBhvr>
                                      <p:tavLst>
                                        <p:tav tm="0">
                                          <p:val>
                                            <p:fltVal val="0"/>
                                          </p:val>
                                        </p:tav>
                                        <p:tav tm="100000">
                                          <p:val>
                                            <p:strVal val="#ppt_h"/>
                                          </p:val>
                                        </p:tav>
                                      </p:tavLst>
                                    </p:anim>
                                    <p:anim calcmode="lin" valueType="num">
                                      <p:cBhvr>
                                        <p:cTn id="17" dur="1000" fill="hold"/>
                                        <p:tgtEl>
                                          <p:spTgt spid="14"/>
                                        </p:tgtEl>
                                        <p:attrNameLst>
                                          <p:attrName>style.rotation</p:attrName>
                                        </p:attrNameLst>
                                      </p:cBhvr>
                                      <p:tavLst>
                                        <p:tav tm="0">
                                          <p:val>
                                            <p:fltVal val="90"/>
                                          </p:val>
                                        </p:tav>
                                        <p:tav tm="100000">
                                          <p:val>
                                            <p:fltVal val="0"/>
                                          </p:val>
                                        </p:tav>
                                      </p:tavLst>
                                    </p:anim>
                                    <p:animEffect transition="in" filter="fade">
                                      <p:cBhvr>
                                        <p:cTn id="18" dur="1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xEl>
                                              <p:pRg st="4" end="4"/>
                                            </p:txEl>
                                          </p:spTgt>
                                        </p:tgtEl>
                                        <p:attrNameLst>
                                          <p:attrName>style.visibility</p:attrName>
                                        </p:attrNameLst>
                                      </p:cBhvr>
                                      <p:to>
                                        <p:strVal val="visible"/>
                                      </p:to>
                                    </p:set>
                                    <p:anim calcmode="lin" valueType="num">
                                      <p:cBhvr additive="base">
                                        <p:cTn id="23"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IELTS General Training – Who Is It For?</a:t>
            </a:r>
          </a:p>
        </p:txBody>
      </p:sp>
      <p:sp>
        <p:nvSpPr>
          <p:cNvPr id="4" name="Text Placeholder 3"/>
          <p:cNvSpPr>
            <a:spLocks noGrp="1"/>
          </p:cNvSpPr>
          <p:nvPr>
            <p:ph type="body" sz="half" idx="2"/>
          </p:nvPr>
        </p:nvSpPr>
        <p:spPr>
          <a:xfrm>
            <a:off x="1104899" y="1600200"/>
            <a:ext cx="5942445" cy="4572000"/>
          </a:xfrm>
        </p:spPr>
        <p:txBody>
          <a:bodyPr/>
          <a:lstStyle/>
          <a:p>
            <a:endParaRPr lang="en-US" dirty="0"/>
          </a:p>
        </p:txBody>
      </p:sp>
      <p:sp>
        <p:nvSpPr>
          <p:cNvPr id="8" name="TextBox 7">
            <a:extLst>
              <a:ext uri="{FF2B5EF4-FFF2-40B4-BE49-F238E27FC236}">
                <a16:creationId xmlns:a16="http://schemas.microsoft.com/office/drawing/2014/main" id="{0A3B89C9-E794-B59C-D87D-72C2FCF0FE46}"/>
              </a:ext>
            </a:extLst>
          </p:cNvPr>
          <p:cNvSpPr txBox="1"/>
          <p:nvPr/>
        </p:nvSpPr>
        <p:spPr>
          <a:xfrm>
            <a:off x="877455" y="2228671"/>
            <a:ext cx="9328090" cy="2062103"/>
          </a:xfrm>
          <a:prstGeom prst="rect">
            <a:avLst/>
          </a:prstGeom>
          <a:noFill/>
        </p:spPr>
        <p:txBody>
          <a:bodyPr wrap="square">
            <a:spAutoFit/>
          </a:bodyPr>
          <a:lstStyle/>
          <a:p>
            <a:pPr marL="0" marR="0">
              <a:buNone/>
            </a:pPr>
            <a:r>
              <a:rPr lang="en-US" sz="3200" dirty="0">
                <a:effectLst/>
                <a:latin typeface="Times New Roman" panose="02020603050405020304" pitchFamily="18" charset="0"/>
                <a:ea typeface="Times New Roman" panose="02020603050405020304" pitchFamily="18" charset="0"/>
              </a:rPr>
              <a:t>“You need IELTS General Training if you plan to:</a:t>
            </a:r>
          </a:p>
          <a:p>
            <a:pPr marL="342900" marR="0" lvl="0" indent="-342900">
              <a:buSzPts val="1000"/>
              <a:buFont typeface="Symbol" panose="05050102010706020507" pitchFamily="18" charset="2"/>
              <a:buChar char=""/>
              <a:tabLst>
                <a:tab pos="457200" algn="l"/>
              </a:tabLst>
            </a:pPr>
            <a:r>
              <a:rPr lang="en-US" sz="3200" dirty="0">
                <a:effectLst/>
                <a:latin typeface="Times New Roman" panose="02020603050405020304" pitchFamily="18" charset="0"/>
                <a:ea typeface="Times New Roman" panose="02020603050405020304" pitchFamily="18" charset="0"/>
              </a:rPr>
              <a:t>Apply for immigration</a:t>
            </a:r>
          </a:p>
          <a:p>
            <a:pPr marL="342900" marR="0" lvl="0" indent="-342900">
              <a:buSzPts val="1000"/>
              <a:buFont typeface="Symbol" panose="05050102010706020507" pitchFamily="18" charset="2"/>
              <a:buChar char=""/>
              <a:tabLst>
                <a:tab pos="457200" algn="l"/>
              </a:tabLst>
            </a:pPr>
            <a:r>
              <a:rPr lang="en-US" sz="3200" dirty="0">
                <a:effectLst/>
                <a:latin typeface="Times New Roman" panose="02020603050405020304" pitchFamily="18" charset="0"/>
                <a:ea typeface="Times New Roman" panose="02020603050405020304" pitchFamily="18" charset="0"/>
              </a:rPr>
              <a:t>Work overseas</a:t>
            </a:r>
          </a:p>
          <a:p>
            <a:pPr marL="342900" marR="0" lvl="0" indent="-342900">
              <a:buSzPts val="1000"/>
              <a:buFont typeface="Symbol" panose="05050102010706020507" pitchFamily="18" charset="2"/>
              <a:buChar char=""/>
              <a:tabLst>
                <a:tab pos="457200" algn="l"/>
              </a:tabLst>
            </a:pPr>
            <a:r>
              <a:rPr lang="en-US" sz="3200" dirty="0">
                <a:effectLst/>
                <a:latin typeface="Times New Roman" panose="02020603050405020304" pitchFamily="18" charset="0"/>
                <a:ea typeface="Times New Roman" panose="02020603050405020304" pitchFamily="18" charset="0"/>
              </a:rPr>
              <a:t>Study below university level</a:t>
            </a:r>
          </a:p>
        </p:txBody>
      </p:sp>
      <p:pic>
        <p:nvPicPr>
          <p:cNvPr id="3" name="Picture 2">
            <a:extLst>
              <a:ext uri="{FF2B5EF4-FFF2-40B4-BE49-F238E27FC236}">
                <a16:creationId xmlns:a16="http://schemas.microsoft.com/office/drawing/2014/main" id="{6F422BF0-C5CC-8C0E-7473-591894F2A347}"/>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10154991" y="4845302"/>
            <a:ext cx="1685591" cy="16678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35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pic>
        <p:nvPicPr>
          <p:cNvPr id="5" name="Picture 4">
            <a:extLst>
              <a:ext uri="{FF2B5EF4-FFF2-40B4-BE49-F238E27FC236}">
                <a16:creationId xmlns:a16="http://schemas.microsoft.com/office/drawing/2014/main" id="{3999D92C-19B4-F122-EC77-5DA9C713766E}"/>
              </a:ext>
            </a:extLst>
          </p:cNvPr>
          <p:cNvPicPr>
            <a:picLocks noChangeAspect="1"/>
          </p:cNvPicPr>
          <p:nvPr/>
        </p:nvPicPr>
        <p:blipFill>
          <a:blip r:embed="rId3"/>
          <a:stretch>
            <a:fillRect/>
          </a:stretch>
        </p:blipFill>
        <p:spPr>
          <a:xfrm>
            <a:off x="479081" y="3125259"/>
            <a:ext cx="5746746" cy="3363254"/>
          </a:xfrm>
          <a:prstGeom prst="rect">
            <a:avLst/>
          </a:prstGeom>
        </p:spPr>
      </p:pic>
      <p:pic>
        <p:nvPicPr>
          <p:cNvPr id="9" name="Picture 8">
            <a:extLst>
              <a:ext uri="{FF2B5EF4-FFF2-40B4-BE49-F238E27FC236}">
                <a16:creationId xmlns:a16="http://schemas.microsoft.com/office/drawing/2014/main" id="{9DF93399-B449-3C11-4898-7BC25A5938DB}"/>
              </a:ext>
            </a:extLst>
          </p:cNvPr>
          <p:cNvPicPr>
            <a:picLocks noChangeAspect="1"/>
          </p:cNvPicPr>
          <p:nvPr/>
        </p:nvPicPr>
        <p:blipFill>
          <a:blip r:embed="rId4"/>
          <a:stretch>
            <a:fillRect/>
          </a:stretch>
        </p:blipFill>
        <p:spPr>
          <a:xfrm>
            <a:off x="7014319" y="315366"/>
            <a:ext cx="4975572" cy="6405999"/>
          </a:xfrm>
          <a:prstGeom prst="rect">
            <a:avLst/>
          </a:prstGeom>
        </p:spPr>
      </p:pic>
      <p:pic>
        <p:nvPicPr>
          <p:cNvPr id="10" name="Picture 9">
            <a:extLst>
              <a:ext uri="{FF2B5EF4-FFF2-40B4-BE49-F238E27FC236}">
                <a16:creationId xmlns:a16="http://schemas.microsoft.com/office/drawing/2014/main" id="{A454AF32-E875-28FE-A429-49B4408FFF9D}"/>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545437" y="203429"/>
            <a:ext cx="1685591" cy="1667814"/>
          </a:xfrm>
          <a:prstGeom prst="rect">
            <a:avLst/>
          </a:prstGeom>
          <a:ln>
            <a:noFill/>
          </a:ln>
          <a:effectLst>
            <a:outerShdw blurRad="292100" dist="139700" dir="2700000" algn="tl" rotWithShape="0">
              <a:srgbClr val="333333">
                <a:alpha val="65000"/>
              </a:srgbClr>
            </a:outerShdw>
          </a:effectLst>
        </p:spPr>
      </p:pic>
      <p:sp>
        <p:nvSpPr>
          <p:cNvPr id="6" name="Title 5">
            <a:extLst>
              <a:ext uri="{FF2B5EF4-FFF2-40B4-BE49-F238E27FC236}">
                <a16:creationId xmlns:a16="http://schemas.microsoft.com/office/drawing/2014/main" id="{8052C0CC-1736-8EBF-0AB9-EA67110B2277}"/>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3156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to Choose the Right Test</a:t>
            </a:r>
          </a:p>
        </p:txBody>
      </p:sp>
      <p:sp>
        <p:nvSpPr>
          <p:cNvPr id="4" name="Content Placeholder 3"/>
          <p:cNvSpPr>
            <a:spLocks noGrp="1"/>
          </p:cNvSpPr>
          <p:nvPr>
            <p:ph sz="half" idx="2"/>
          </p:nvPr>
        </p:nvSpPr>
        <p:spPr>
          <a:xfrm>
            <a:off x="1471758" y="1400944"/>
            <a:ext cx="10687707" cy="5076497"/>
          </a:xfrm>
        </p:spPr>
        <p:txBody>
          <a:bodyPr>
            <a:noAutofit/>
          </a:bodyPr>
          <a:lstStyle/>
          <a:p>
            <a:pPr marL="0" indent="0">
              <a:buNone/>
            </a:pPr>
            <a:r>
              <a:rPr lang="en-US" sz="1400" dirty="0"/>
              <a:t>		</a:t>
            </a:r>
            <a:r>
              <a:rPr lang="en-US" sz="1400" b="1" dirty="0"/>
              <a:t>Ask yourself just one question: </a:t>
            </a:r>
            <a:r>
              <a:rPr lang="en-US" sz="1400" b="1" i="1" dirty="0"/>
              <a:t>What does the organization or country require?</a:t>
            </a:r>
            <a:r>
              <a:rPr lang="en-US" sz="1400" b="1" dirty="0"/>
              <a:t>”</a:t>
            </a:r>
          </a:p>
          <a:p>
            <a:pPr marL="0" indent="0">
              <a:buNone/>
            </a:pPr>
            <a:r>
              <a:rPr lang="en-US" sz="1400" b="1" dirty="0"/>
              <a:t>Never choose based on which test you think is ‘easier’.</a:t>
            </a:r>
          </a:p>
          <a:p>
            <a:pPr marL="0" indent="0">
              <a:buNone/>
            </a:pPr>
            <a:br>
              <a:rPr lang="en-US" sz="1400" b="1" dirty="0"/>
            </a:br>
            <a:r>
              <a:rPr lang="en-US" sz="1400" b="1" dirty="0"/>
              <a:t>Always check:</a:t>
            </a:r>
          </a:p>
          <a:p>
            <a:pPr lvl="0"/>
            <a:r>
              <a:rPr lang="en-US" sz="1400" b="1" dirty="0"/>
              <a:t>University requirements</a:t>
            </a:r>
          </a:p>
          <a:p>
            <a:pPr lvl="0"/>
            <a:r>
              <a:rPr lang="en-US" sz="1400" b="1" dirty="0"/>
              <a:t>Immigration websites</a:t>
            </a:r>
          </a:p>
          <a:p>
            <a:pPr lvl="0"/>
            <a:r>
              <a:rPr lang="en-US" sz="1400" b="1" dirty="0"/>
              <a:t>Employer or institution guidelines</a:t>
            </a:r>
          </a:p>
          <a:p>
            <a:pPr marL="0" lvl="0" indent="0">
              <a:buNone/>
            </a:pPr>
            <a:r>
              <a:rPr lang="en-US" sz="1400" b="1" dirty="0">
                <a:solidFill>
                  <a:srgbClr val="FF0000"/>
                </a:solidFill>
              </a:rPr>
              <a:t>If you choose the wrong test, your score may be completely </a:t>
            </a:r>
            <a:r>
              <a:rPr lang="en-US" b="1" dirty="0">
                <a:solidFill>
                  <a:srgbClr val="FF0000"/>
                </a:solidFill>
              </a:rPr>
              <a:t>invalid</a:t>
            </a:r>
            <a:r>
              <a:rPr lang="en-US" sz="1400" b="1" dirty="0">
                <a:solidFill>
                  <a:srgbClr val="FF0000"/>
                </a:solidFill>
              </a:rPr>
              <a:t> for your purpose.</a:t>
            </a:r>
          </a:p>
          <a:p>
            <a:endParaRPr lang="en-US" sz="1400" dirty="0"/>
          </a:p>
        </p:txBody>
      </p:sp>
      <p:pic>
        <p:nvPicPr>
          <p:cNvPr id="1026" name="Picture 2" descr="Confused Mood GIF by echilibrultau">
            <a:extLst>
              <a:ext uri="{FF2B5EF4-FFF2-40B4-BE49-F238E27FC236}">
                <a16:creationId xmlns:a16="http://schemas.microsoft.com/office/drawing/2014/main" id="{85BBA7B1-FEA4-7044-4D70-6371E7CD2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612" y="4800223"/>
            <a:ext cx="33909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A760D8E-B09A-A7A5-2FFC-F40F95827229}"/>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10343161" y="76200"/>
            <a:ext cx="1685591" cy="16678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449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Advice at IELTS NINER REVIEW CENTER</a:t>
            </a:r>
            <a:br>
              <a:rPr lang="en-US" b="1" dirty="0"/>
            </a:br>
            <a:endParaRPr lang="en-US" dirty="0"/>
          </a:p>
        </p:txBody>
      </p:sp>
      <p:sp>
        <p:nvSpPr>
          <p:cNvPr id="3" name="TextBox 2">
            <a:extLst>
              <a:ext uri="{FF2B5EF4-FFF2-40B4-BE49-F238E27FC236}">
                <a16:creationId xmlns:a16="http://schemas.microsoft.com/office/drawing/2014/main" id="{59C0DA69-AE74-BBEF-7484-822733BF6D74}"/>
              </a:ext>
            </a:extLst>
          </p:cNvPr>
          <p:cNvSpPr txBox="1"/>
          <p:nvPr/>
        </p:nvSpPr>
        <p:spPr>
          <a:xfrm>
            <a:off x="1366463" y="1803114"/>
            <a:ext cx="8537825" cy="3139321"/>
          </a:xfrm>
          <a:prstGeom prst="rect">
            <a:avLst/>
          </a:prstGeom>
          <a:noFill/>
        </p:spPr>
        <p:txBody>
          <a:bodyPr wrap="square" rtlCol="0">
            <a:spAutoFit/>
          </a:bodyPr>
          <a:lstStyle/>
          <a:p>
            <a:pPr lvl="0"/>
            <a:endParaRPr lang="en-US" b="1" dirty="0"/>
          </a:p>
          <a:p>
            <a:pPr lvl="0"/>
            <a:r>
              <a:rPr lang="en-US" dirty="0"/>
              <a:t>At </a:t>
            </a:r>
            <a:r>
              <a:rPr lang="en-US" b="1" dirty="0"/>
              <a:t>IELTS NINER REVIEW CENTER</a:t>
            </a:r>
            <a:r>
              <a:rPr lang="en-US" dirty="0"/>
              <a:t>, we always determine:</a:t>
            </a:r>
          </a:p>
          <a:p>
            <a:pPr lvl="0"/>
            <a:endParaRPr lang="en-US" b="1" dirty="0"/>
          </a:p>
          <a:p>
            <a:pPr marL="285750" lvl="0" indent="-285750">
              <a:buFont typeface="Arial" panose="020B0604020202020204" pitchFamily="34" charset="0"/>
              <a:buChar char="•"/>
            </a:pPr>
            <a:r>
              <a:rPr lang="en-US" b="1" dirty="0"/>
              <a:t>Your goal</a:t>
            </a:r>
          </a:p>
          <a:p>
            <a:pPr marL="285750" lvl="0" indent="-285750">
              <a:buFont typeface="Arial" panose="020B0604020202020204" pitchFamily="34" charset="0"/>
              <a:buChar char="•"/>
            </a:pPr>
            <a:r>
              <a:rPr lang="en-US" dirty="0"/>
              <a:t>Your required IELTS type</a:t>
            </a:r>
          </a:p>
          <a:p>
            <a:pPr marL="285750" lvl="0" indent="-285750">
              <a:buFont typeface="Arial" panose="020B0604020202020204" pitchFamily="34" charset="0"/>
              <a:buChar char="•"/>
            </a:pPr>
            <a:r>
              <a:rPr lang="en-US" dirty="0"/>
              <a:t>Your target band score</a:t>
            </a:r>
            <a:br>
              <a:rPr lang="en-US" dirty="0"/>
            </a:br>
            <a:r>
              <a:rPr lang="en-US" i="1" dirty="0"/>
              <a:t>before</a:t>
            </a:r>
            <a:r>
              <a:rPr lang="en-US" dirty="0"/>
              <a:t> designing your study plan.”</a:t>
            </a:r>
          </a:p>
          <a:p>
            <a:endParaRPr lang="en-US" dirty="0"/>
          </a:p>
          <a:p>
            <a:endParaRPr lang="en-US" dirty="0"/>
          </a:p>
          <a:p>
            <a:r>
              <a:rPr lang="en-US" dirty="0"/>
              <a:t>This step alone saves our students </a:t>
            </a:r>
            <a:r>
              <a:rPr lang="en-US" b="1" dirty="0"/>
              <a:t>months of unnecessary study</a:t>
            </a:r>
            <a:r>
              <a:rPr lang="en-US" dirty="0"/>
              <a:t>.</a:t>
            </a:r>
          </a:p>
          <a:p>
            <a:endParaRPr lang="en-US" dirty="0"/>
          </a:p>
        </p:txBody>
      </p:sp>
      <p:pic>
        <p:nvPicPr>
          <p:cNvPr id="4" name="Picture 3">
            <a:extLst>
              <a:ext uri="{FF2B5EF4-FFF2-40B4-BE49-F238E27FC236}">
                <a16:creationId xmlns:a16="http://schemas.microsoft.com/office/drawing/2014/main" id="{4ABA5F5C-84C8-484E-1A24-463A89438A46}"/>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6055" b="98047" l="3125" r="96289">
                        <a14:foregroundMark x1="54883" y1="6055" x2="3320" y2="61328"/>
                        <a14:foregroundMark x1="89844" y1="29102" x2="91211" y2="72266"/>
                        <a14:foregroundMark x1="29883" y1="45313" x2="71094" y2="91992"/>
                        <a14:foregroundMark x1="43359" y1="98242" x2="55859" y2="98242"/>
                        <a14:foregroundMark x1="95703" y1="41602" x2="96289" y2="58203"/>
                        <a14:foregroundMark x1="26563" y1="27930" x2="17383" y2="61133"/>
                        <a14:foregroundMark x1="7422" y1="52148" x2="70898" y2="46680"/>
                        <a14:foregroundMark x1="70898" y1="46680" x2="91016" y2="47852"/>
                        <a14:foregroundMark x1="60156" y1="20898" x2="37695" y2="34570"/>
                        <a14:foregroundMark x1="42578" y1="23242" x2="57813" y2="32422"/>
                        <a14:foregroundMark x1="57813" y1="32422" x2="39453" y2="29102"/>
                        <a14:foregroundMark x1="39453" y1="29102" x2="57031" y2="27344"/>
                        <a14:foregroundMark x1="57031" y1="27344" x2="49609" y2="32227"/>
                        <a14:foregroundMark x1="25000" y1="45508" x2="51953" y2="47852"/>
                        <a14:foregroundMark x1="51953" y1="47852" x2="44336" y2="57227"/>
                        <a14:foregroundMark x1="64063" y1="44922" x2="55469" y2="59766"/>
                        <a14:foregroundMark x1="55469" y1="59766" x2="55469" y2="60156"/>
                        <a14:foregroundMark x1="56641" y1="45898" x2="50781" y2="57813"/>
                        <a14:foregroundMark x1="25977" y1="49414" x2="30859" y2="58594"/>
                        <a14:foregroundMark x1="81055" y1="44336" x2="79492" y2="58594"/>
                      </a14:backgroundRemoval>
                    </a14:imgEffect>
                  </a14:imgLayer>
                </a14:imgProps>
              </a:ext>
              <a:ext uri="{28A0092B-C50C-407E-A947-70E740481C1C}">
                <a14:useLocalDpi xmlns:a14="http://schemas.microsoft.com/office/drawing/2010/main" val="0"/>
              </a:ext>
            </a:extLst>
          </a:blip>
          <a:stretch>
            <a:fillRect/>
          </a:stretch>
        </p:blipFill>
        <p:spPr>
          <a:xfrm>
            <a:off x="9987566" y="176710"/>
            <a:ext cx="1910971" cy="16678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2700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578</TotalTime>
  <Words>1604</Words>
  <Application>Microsoft Office PowerPoint</Application>
  <PresentationFormat>Widescreen</PresentationFormat>
  <Paragraphs>171</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Black</vt:lpstr>
      <vt:lpstr>Euphemia</vt:lpstr>
      <vt:lpstr>Plantagenet Cherokee</vt:lpstr>
      <vt:lpstr>Symbol</vt:lpstr>
      <vt:lpstr>Times New Roman</vt:lpstr>
      <vt:lpstr>Wingdings</vt:lpstr>
      <vt:lpstr>Academic Literature 16x9</vt:lpstr>
      <vt:lpstr>GENERAL Training VS ACADEMIC IELTS</vt:lpstr>
      <vt:lpstr>There are two main versions of IELTS </vt:lpstr>
      <vt:lpstr>IELTS Academic – Who Is It For?</vt:lpstr>
      <vt:lpstr>PowerPoint Presentation</vt:lpstr>
      <vt:lpstr>PowerPoint Presentation</vt:lpstr>
      <vt:lpstr>IELTS General Training – Who Is It For?</vt:lpstr>
      <vt:lpstr>PowerPoint Presentation</vt:lpstr>
      <vt:lpstr>How to Choose the Right Test</vt:lpstr>
      <vt:lpstr>Our Advice at IELTS NINER REVIEW CENTER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April Ampong</dc:creator>
  <cp:lastModifiedBy>April Ampong</cp:lastModifiedBy>
  <cp:revision>3</cp:revision>
  <dcterms:created xsi:type="dcterms:W3CDTF">2025-12-31T07:54:06Z</dcterms:created>
  <dcterms:modified xsi:type="dcterms:W3CDTF">2026-01-13T06:49:57Z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