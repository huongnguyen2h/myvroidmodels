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6" r:id="rId5"/>
    <p:sldId id="257" r:id="rId6"/>
    <p:sldId id="258" r:id="rId7"/>
    <p:sldId id="259" r:id="rId8"/>
    <p:sldId id="260" r:id="rId9"/>
    <p:sldId id="266"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0" autoAdjust="0"/>
    <p:restoredTop sz="54757" autoAdjust="0"/>
  </p:normalViewPr>
  <p:slideViewPr>
    <p:cSldViewPr snapToGrid="0" showGuides="1">
      <p:cViewPr varScale="1">
        <p:scale>
          <a:sx n="62" d="100"/>
          <a:sy n="62" d="100"/>
        </p:scale>
        <p:origin x="1808" y="40"/>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3/6/2026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3/6/2026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800" dirty="0"/>
          </a:p>
          <a:p>
            <a:r>
              <a:rPr lang="en-US" sz="1200" kern="1200" dirty="0">
                <a:solidFill>
                  <a:schemeClr val="tx1"/>
                </a:solidFill>
                <a:effectLst/>
                <a:latin typeface="+mn-lt"/>
                <a:ea typeface="+mn-ea"/>
                <a:cs typeface="+mn-cs"/>
              </a:rPr>
              <a:t>“In the previous video, we looked at spelling, numbers, and grammar traps.”</a:t>
            </a:r>
          </a:p>
          <a:p>
            <a:r>
              <a:rPr lang="en-US" sz="1200" kern="1200" dirty="0">
                <a:solidFill>
                  <a:schemeClr val="tx1"/>
                </a:solidFill>
                <a:effectLst/>
                <a:latin typeface="+mn-lt"/>
                <a:ea typeface="+mn-ea"/>
                <a:cs typeface="+mn-cs"/>
              </a:rPr>
              <a:t>“Now let’s focus on one of the </a:t>
            </a:r>
            <a:r>
              <a:rPr lang="en-US" sz="1200" b="1" kern="1200" dirty="0">
                <a:solidFill>
                  <a:schemeClr val="tx1"/>
                </a:solidFill>
                <a:effectLst/>
                <a:latin typeface="+mn-lt"/>
                <a:ea typeface="+mn-ea"/>
                <a:cs typeface="+mn-cs"/>
              </a:rPr>
              <a:t>most challenging question types</a:t>
            </a:r>
            <a:r>
              <a:rPr lang="en-US" sz="1200" kern="1200" dirty="0">
                <a:solidFill>
                  <a:schemeClr val="tx1"/>
                </a:solidFill>
                <a:effectLst/>
                <a:latin typeface="+mn-lt"/>
                <a:ea typeface="+mn-ea"/>
                <a:cs typeface="+mn-cs"/>
              </a:rPr>
              <a:t> in IELTS Listening—multiple choice.”</a:t>
            </a:r>
          </a:p>
          <a:p>
            <a:endParaRPr lang="en-US" sz="1800" dirty="0"/>
          </a:p>
          <a:p>
            <a:r>
              <a:rPr lang="en-US" sz="1800" dirty="0"/>
              <a:t>In the IELTS Listening test, </a:t>
            </a:r>
            <a:r>
              <a:rPr lang="en-US" sz="1800" b="1" dirty="0"/>
              <a:t>multiple-choice questions may appear simple at first glance</a:t>
            </a:r>
            <a:r>
              <a:rPr lang="en-US" sz="1800" dirty="0"/>
              <a:t>, but they are actually designed to challenge how carefully you listen. Many candidates assume that these questions are easy because the possible answers are already provided. However, this can be misleading.</a:t>
            </a:r>
          </a:p>
          <a:p>
            <a:endParaRPr lang="en-US" sz="1800" dirty="0"/>
          </a:p>
          <a:p>
            <a:r>
              <a:rPr lang="en-US" sz="1800" dirty="0"/>
              <a:t>One of the most common mistakes test-takers make is </a:t>
            </a:r>
            <a:r>
              <a:rPr lang="en-US" sz="1800" b="1" dirty="0"/>
              <a:t>choosing the first option they hear in the recording</a:t>
            </a:r>
            <a:r>
              <a:rPr lang="en-US" sz="1800" dirty="0"/>
              <a:t>. IELTS examiners are aware of this habit, so the audio often includes </a:t>
            </a:r>
            <a:r>
              <a:rPr lang="en-US" sz="1800" b="1" dirty="0"/>
              <a:t>distractors</a:t>
            </a:r>
            <a:r>
              <a:rPr lang="en-US" sz="1800" dirty="0"/>
              <a:t>—pieces of information that sound correct at first but are later corrected or changed by the speaker. If you stop listening too early, you may select an answer that seems correct but is actually wrong.</a:t>
            </a:r>
          </a:p>
          <a:p>
            <a:endParaRPr lang="en-US" sz="1800" dirty="0"/>
          </a:p>
          <a:p>
            <a:r>
              <a:rPr lang="en-US" sz="1800" dirty="0"/>
              <a:t>In this video, you will learn </a:t>
            </a:r>
            <a:r>
              <a:rPr lang="en-US" sz="1800" b="1" dirty="0"/>
              <a:t>how multiple-choice questions really work in the IELTS Listening test</a:t>
            </a:r>
            <a:r>
              <a:rPr lang="en-US" sz="1800" dirty="0"/>
              <a:t>, why they often trick candidates, and what strategies you can use to identify the correct answer with greater confidence.</a:t>
            </a:r>
          </a:p>
          <a:p>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“Hello, my name is April Ampong, and I’m an instructor at IELTS NINER REVIEW CENTER— an international-standard IELTS training system that helps learners progress from beginner level to Band 7.0–9.0 in the most time-efficient way.” </a:t>
            </a:r>
            <a:endParaRPr lang="en-US" sz="1800" dirty="0"/>
          </a:p>
          <a:p>
            <a:endParaRPr lang="en-US" sz="1800" dirty="0"/>
          </a:p>
          <a:p>
            <a:endParaRPr lang="en-US" sz="1800"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IELTS Listening test, </a:t>
            </a:r>
            <a:r>
              <a:rPr lang="en-US" b="1" dirty="0"/>
              <a:t>multiple-choice questions are designed to assess listening accuracy rather than simple memory</a:t>
            </a:r>
            <a:r>
              <a:rPr lang="en-US" dirty="0"/>
              <a:t>. Many test-takers assume that their task is only to recognize familiar words from the answer options. However, the real challenge lies in </a:t>
            </a:r>
            <a:r>
              <a:rPr lang="en-US" b="1" dirty="0"/>
              <a:t>understanding the speaker’s full meaning and identifying the final correct idea</a:t>
            </a:r>
            <a:r>
              <a:rPr lang="en-US" dirty="0"/>
              <a:t>.</a:t>
            </a:r>
          </a:p>
          <a:p>
            <a:endParaRPr lang="en-US" dirty="0"/>
          </a:p>
          <a:p>
            <a:r>
              <a:rPr lang="en-US" dirty="0"/>
              <a:t>In many cases, the recording will include </a:t>
            </a:r>
            <a:r>
              <a:rPr lang="en-US" b="1" dirty="0"/>
              <a:t>all of the options listed in the question</a:t>
            </a:r>
            <a:r>
              <a:rPr lang="en-US" dirty="0"/>
              <a:t>. This means that you might hear each choice mentioned at some point in the conversation or lecture. However, not every option you hear is the correct answer. Some of these options may be </a:t>
            </a:r>
            <a:r>
              <a:rPr lang="en-US" b="1" dirty="0"/>
              <a:t>introduced and then rejected</a:t>
            </a:r>
            <a:r>
              <a:rPr lang="en-US" dirty="0"/>
              <a:t>, corrected, or changed by the speaker later in the discussion.</a:t>
            </a:r>
          </a:p>
          <a:p>
            <a:endParaRPr lang="en-US" dirty="0"/>
          </a:p>
          <a:p>
            <a:r>
              <a:rPr lang="en-US" dirty="0"/>
              <a:t>For example, a speaker might suggest one idea, reconsider it, and then decide on another option. Candidates who stop listening too early may select an answer simply because they recognized a familiar word or phrase. Unfortunately, this often leads to choosing an option that the speaker eventually rejects.</a:t>
            </a:r>
          </a:p>
          <a:p>
            <a:r>
              <a:rPr lang="en-US" dirty="0"/>
              <a:t>Because of this, it is very common for </a:t>
            </a:r>
            <a:r>
              <a:rPr lang="en-US" b="1" dirty="0"/>
              <a:t>incorrect answers to sound convincing at first</a:t>
            </a:r>
            <a:r>
              <a:rPr lang="en-US" dirty="0"/>
              <a:t>. They are intentionally included in the recording to test whether you are paying attention to the </a:t>
            </a:r>
            <a:r>
              <a:rPr lang="en-US" b="1" dirty="0"/>
              <a:t>entire message and the speaker’s final decision</a:t>
            </a:r>
            <a:r>
              <a:rPr lang="en-US" dirty="0"/>
              <a:t>.</a:t>
            </a:r>
          </a:p>
          <a:p>
            <a:endParaRPr lang="en-US" dirty="0"/>
          </a:p>
          <a:p>
            <a:r>
              <a:rPr lang="en-US" dirty="0"/>
              <a:t>One of the most frequent mistakes in IELTS Listening is </a:t>
            </a:r>
            <a:r>
              <a:rPr lang="en-US" b="1" dirty="0"/>
              <a:t>choosing the first familiar word or phrase that appears in the audio</a:t>
            </a:r>
            <a:r>
              <a:rPr lang="en-US" dirty="0"/>
              <a:t>. Successful candidates avoid this trap by continuing to listen carefully, focusing on how the speaker develops the idea, and identifying which option truly matches the final statement.</a:t>
            </a:r>
          </a:p>
          <a:p>
            <a:r>
              <a:rPr lang="en-US" dirty="0"/>
              <a:t>Understanding this strategy will help you </a:t>
            </a:r>
            <a:r>
              <a:rPr lang="en-US" b="1" dirty="0"/>
              <a:t>improve your accuracy and avoid losing easy points in the listening test</a:t>
            </a:r>
            <a:r>
              <a:rPr lang="en-US" dirty="0"/>
              <a:t>.</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163232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audio begins in the IELTS Listening test, it is important to </a:t>
            </a:r>
            <a:r>
              <a:rPr lang="en-US" b="1" dirty="0"/>
              <a:t>use the preparation time wisely</a:t>
            </a:r>
            <a:r>
              <a:rPr lang="en-US" dirty="0"/>
              <a:t>.</a:t>
            </a:r>
          </a:p>
          <a:p>
            <a:r>
              <a:rPr lang="en-US" dirty="0"/>
              <a:t>First, </a:t>
            </a:r>
            <a:r>
              <a:rPr lang="en-US" b="1" dirty="0"/>
              <a:t>read the question carefully</a:t>
            </a:r>
            <a:r>
              <a:rPr lang="en-US" dirty="0"/>
              <a:t> so you understand exactly what information you need to listen for. Then, </a:t>
            </a:r>
            <a:r>
              <a:rPr lang="en-US" b="1" dirty="0"/>
              <a:t>read all the answer options</a:t>
            </a:r>
            <a:r>
              <a:rPr lang="en-US" dirty="0"/>
              <a:t> and notice the differences between them. If possible, </a:t>
            </a:r>
            <a:r>
              <a:rPr lang="en-US" b="1" dirty="0"/>
              <a:t>underline or focus on the key words</a:t>
            </a:r>
            <a:r>
              <a:rPr lang="en-US" dirty="0"/>
              <a:t> that make each option unique.</a:t>
            </a:r>
          </a:p>
          <a:p>
            <a:r>
              <a:rPr lang="en-US" dirty="0"/>
              <a:t>While listening, pay attention to </a:t>
            </a:r>
            <a:r>
              <a:rPr lang="en-US" b="1" dirty="0"/>
              <a:t>time references, opinions, and explanations such as reasons or results</a:t>
            </a:r>
            <a:r>
              <a:rPr lang="en-US" dirty="0"/>
              <a:t>. These clues often help you identify the speaker’s final answer.</a:t>
            </a:r>
          </a:p>
          <a:p>
            <a:r>
              <a:rPr lang="en-US" dirty="0"/>
              <a:t>Preparing in this way helps your brain </a:t>
            </a:r>
            <a:r>
              <a:rPr lang="en-US" b="1" dirty="0"/>
              <a:t>filter the information more effectively</a:t>
            </a:r>
            <a:r>
              <a:rPr lang="en-US" dirty="0"/>
              <a:t>, allowing you to focus on the details that match the correct answer.</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3641339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IELTS Listening multiple-choice questions, the correct answer is often connected to </a:t>
            </a:r>
            <a:r>
              <a:rPr lang="en-US" b="1" dirty="0"/>
              <a:t>a decision, a change of mind, or the speaker’s final conclusion</a:t>
            </a:r>
            <a:r>
              <a:rPr lang="en-US" dirty="0"/>
              <a:t>. During the recording, several options may be mentioned, but some of them are </a:t>
            </a:r>
            <a:r>
              <a:rPr lang="en-US" b="1" dirty="0"/>
              <a:t>rejected or corrected later</a:t>
            </a:r>
            <a:r>
              <a:rPr lang="en-US" dirty="0"/>
              <a:t>.</a:t>
            </a:r>
          </a:p>
          <a:p>
            <a:r>
              <a:rPr lang="en-US" dirty="0"/>
              <a:t>It is important to listen for </a:t>
            </a:r>
            <a:r>
              <a:rPr lang="en-US" b="1" dirty="0"/>
              <a:t>signal phrases</a:t>
            </a:r>
            <a:r>
              <a:rPr lang="en-US" dirty="0"/>
              <a:t> that indicate the speaker’s final choice. These may include expressions such as </a:t>
            </a:r>
            <a:r>
              <a:rPr lang="en-US" b="1" dirty="0"/>
              <a:t>“actually,” “in the end,” “however,”</a:t>
            </a:r>
            <a:r>
              <a:rPr lang="en-US" dirty="0"/>
              <a:t> or </a:t>
            </a:r>
            <a:r>
              <a:rPr lang="en-US" b="1" dirty="0"/>
              <a:t>“we decided to…”</a:t>
            </a:r>
            <a:r>
              <a:rPr lang="en-US" dirty="0"/>
              <a:t>. These phrases often show that the speaker is </a:t>
            </a:r>
            <a:r>
              <a:rPr lang="en-US" b="1" dirty="0"/>
              <a:t>changing or clarifying an earlier idea</a:t>
            </a:r>
            <a:r>
              <a:rPr lang="en-US" dirty="0"/>
              <a:t>.</a:t>
            </a:r>
          </a:p>
          <a:p>
            <a:endParaRPr lang="en-US" dirty="0"/>
          </a:p>
          <a:p>
            <a:r>
              <a:rPr lang="en-US" dirty="0"/>
              <a:t>In many cases, </a:t>
            </a:r>
            <a:r>
              <a:rPr lang="en-US" b="1" dirty="0"/>
              <a:t>the speaker’s final decision is the correct answer</a:t>
            </a:r>
            <a:r>
              <a:rPr lang="en-US" dirty="0"/>
              <a:t>, so you should keep listening until the idea is clearly confirmed.</a:t>
            </a:r>
          </a:p>
          <a:p>
            <a:endParaRPr lang="en-US" dirty="0"/>
          </a:p>
          <a:p>
            <a:r>
              <a:rPr lang="en-US" b="1" dirty="0"/>
              <a:t>Example:</a:t>
            </a:r>
            <a:endParaRPr lang="en-US" dirty="0"/>
          </a:p>
          <a:p>
            <a:r>
              <a:rPr lang="en-US" dirty="0"/>
              <a:t>Question: </a:t>
            </a:r>
            <a:r>
              <a:rPr lang="en-US" i="1" dirty="0"/>
              <a:t>Where will the meeting be held?</a:t>
            </a:r>
            <a:br>
              <a:rPr lang="en-US" dirty="0"/>
            </a:br>
            <a:r>
              <a:rPr lang="en-US" dirty="0"/>
              <a:t>A. The library</a:t>
            </a:r>
            <a:br>
              <a:rPr lang="en-US" dirty="0"/>
            </a:br>
            <a:r>
              <a:rPr lang="en-US" dirty="0"/>
              <a:t>B. The conference room</a:t>
            </a:r>
            <a:br>
              <a:rPr lang="en-US" dirty="0"/>
            </a:br>
            <a:r>
              <a:rPr lang="en-US" dirty="0"/>
              <a:t>C. The cafeteria</a:t>
            </a:r>
          </a:p>
          <a:p>
            <a:endParaRPr lang="en-US" dirty="0"/>
          </a:p>
          <a:p>
            <a:r>
              <a:rPr lang="en-US" b="1" dirty="0">
                <a:solidFill>
                  <a:srgbClr val="FF0000"/>
                </a:solidFill>
              </a:rPr>
              <a:t>Audio:</a:t>
            </a:r>
            <a:br>
              <a:rPr lang="en-US" dirty="0"/>
            </a:br>
            <a:r>
              <a:rPr lang="en-US" dirty="0"/>
              <a:t>“At first we thought about using the </a:t>
            </a:r>
            <a:r>
              <a:rPr lang="en-US" b="1" dirty="0"/>
              <a:t>library</a:t>
            </a:r>
            <a:r>
              <a:rPr lang="en-US" dirty="0"/>
              <a:t>, but it might be too quiet for group discussion. The </a:t>
            </a:r>
            <a:r>
              <a:rPr lang="en-US" b="1" dirty="0"/>
              <a:t>cafeteria</a:t>
            </a:r>
            <a:r>
              <a:rPr lang="en-US" dirty="0"/>
              <a:t> was another option, but it gets very crowded in the afternoon. </a:t>
            </a:r>
            <a:r>
              <a:rPr lang="en-US" b="1" dirty="0"/>
              <a:t>In the end, we decided to use the conference room.</a:t>
            </a:r>
            <a:r>
              <a:rPr lang="en-US" dirty="0"/>
              <a:t>”</a:t>
            </a:r>
          </a:p>
          <a:p>
            <a:endParaRPr lang="en-US" dirty="0"/>
          </a:p>
          <a:p>
            <a:endParaRPr lang="en-US" dirty="0"/>
          </a:p>
          <a:p>
            <a:r>
              <a:rPr lang="en-US" dirty="0"/>
              <a:t>Correct answer: </a:t>
            </a:r>
            <a:r>
              <a:rPr lang="en-US" b="1" dirty="0"/>
              <a:t>B. The conference room</a:t>
            </a:r>
            <a:endParaRPr lang="en-US" dirty="0"/>
          </a:p>
          <a:p>
            <a:r>
              <a:rPr lang="en-US" dirty="0"/>
              <a:t>This example shows how the speaker </a:t>
            </a:r>
            <a:r>
              <a:rPr lang="en-US" b="1" dirty="0"/>
              <a:t>mentions other options first but rejects them</a:t>
            </a:r>
            <a:r>
              <a:rPr lang="en-US" dirty="0"/>
              <a:t>, and the </a:t>
            </a:r>
            <a:r>
              <a:rPr lang="en-US" b="1" dirty="0"/>
              <a:t>final decision provides the correct answer</a:t>
            </a:r>
            <a:r>
              <a:rPr lang="en-US" dirty="0"/>
              <a:t>.</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1645722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strategy for answering IELTS Listening multiple-choice questions is </a:t>
            </a:r>
            <a:r>
              <a:rPr lang="en-US" b="1" dirty="0"/>
              <a:t>elimination</a:t>
            </a:r>
            <a:r>
              <a:rPr lang="en-US" dirty="0"/>
              <a:t>. Instead of trying to choose the correct answer immediately, it is often more effective to begin by </a:t>
            </a:r>
            <a:r>
              <a:rPr lang="en-US" b="1" dirty="0"/>
              <a:t>identifying and removing the options that are clearly incorrect</a:t>
            </a:r>
            <a:r>
              <a:rPr lang="en-US" dirty="0"/>
              <a:t>. This approach helps reduce confusion and allows you to focus on the most likely answer.</a:t>
            </a:r>
          </a:p>
          <a:p>
            <a:endParaRPr lang="en-US" dirty="0"/>
          </a:p>
          <a:p>
            <a:r>
              <a:rPr lang="en-US" dirty="0"/>
              <a:t>While listening to the recording, you should carefully compare the information you hear with the answer choices. Some options may </a:t>
            </a:r>
            <a:r>
              <a:rPr lang="en-US" b="1" dirty="0"/>
              <a:t>not match the information in the audio at all</a:t>
            </a:r>
            <a:r>
              <a:rPr lang="en-US" dirty="0"/>
              <a:t>, while others may be </a:t>
            </a:r>
            <a:r>
              <a:rPr lang="en-US" b="1" dirty="0"/>
              <a:t>mentioned but later rejected or corrected by the speaker</a:t>
            </a:r>
            <a:r>
              <a:rPr lang="en-US" dirty="0"/>
              <a:t>. In other cases, an option may contain words that appear in the recording but </a:t>
            </a:r>
            <a:r>
              <a:rPr lang="en-US" b="1" dirty="0"/>
              <a:t>do not actually answer the main focus of the question</a:t>
            </a:r>
            <a:r>
              <a:rPr lang="en-US" dirty="0"/>
              <a:t>.</a:t>
            </a:r>
          </a:p>
          <a:p>
            <a:r>
              <a:rPr lang="en-US" dirty="0"/>
              <a:t>By crossing out these incorrect options, you gradually narrow down the possible answers. This process makes it easier to concentrate on the remaining choices and determine which one best reflects the speaker’s final idea or decision.</a:t>
            </a:r>
          </a:p>
          <a:p>
            <a:endParaRPr lang="en-US" dirty="0"/>
          </a:p>
          <a:p>
            <a:r>
              <a:rPr lang="en-US" dirty="0"/>
              <a:t>Even if you are not completely certain about the correct answer, using the elimination strategy </a:t>
            </a:r>
            <a:r>
              <a:rPr lang="en-US" b="1" dirty="0"/>
              <a:t>greatly increases your chances of selecting the right option</a:t>
            </a:r>
            <a:r>
              <a:rPr lang="en-US" dirty="0"/>
              <a:t>. It also helps you stay organized during the listening test and prevents you from being misled by distractors that are intentionally included in the recording.</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4169910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t>
            </a:r>
            <a:r>
              <a:rPr lang="en-US" b="1" dirty="0"/>
              <a:t>IELTS NINER REVIEW CENTER</a:t>
            </a:r>
            <a:r>
              <a:rPr lang="en-US" dirty="0"/>
              <a:t>, students are trained to approach multiple-choice questions with clear listening strategies rather than relying on guesswork. The focus is on helping learners understand how IELTS listening recordings are structured and how answers are often hidden among distractors.</a:t>
            </a:r>
          </a:p>
          <a:p>
            <a:endParaRPr lang="en-US" dirty="0"/>
          </a:p>
          <a:p>
            <a:r>
              <a:rPr lang="en-US" dirty="0"/>
              <a:t>Students are taught to </a:t>
            </a:r>
            <a:r>
              <a:rPr lang="en-US" b="1" dirty="0"/>
              <a:t>ignore distractors</a:t>
            </a:r>
            <a:r>
              <a:rPr lang="en-US" dirty="0"/>
              <a:t>, which are pieces of information that sound correct at first but are later corrected or rejected by the speaker. Instead of choosing an answer too quickly, they learn to </a:t>
            </a:r>
            <a:r>
              <a:rPr lang="en-US" b="1" dirty="0"/>
              <a:t>continue listening and wait for confirmation</a:t>
            </a:r>
            <a:r>
              <a:rPr lang="en-US" dirty="0"/>
              <a:t>, especially when the speaker changes an idea or makes a final decision.</a:t>
            </a:r>
          </a:p>
          <a:p>
            <a:endParaRPr lang="en-US" dirty="0"/>
          </a:p>
          <a:p>
            <a:r>
              <a:rPr lang="en-US" dirty="0"/>
              <a:t>Another important skill is learning to </a:t>
            </a:r>
            <a:r>
              <a:rPr lang="en-US" b="1" dirty="0"/>
              <a:t>trust the structure of the conversation</a:t>
            </a:r>
            <a:r>
              <a:rPr lang="en-US" dirty="0"/>
              <a:t>. In many IELTS recordings, speakers introduce an idea, discuss alternatives, and then clearly state their final choice or conclusion.</a:t>
            </a:r>
          </a:p>
          <a:p>
            <a:r>
              <a:rPr lang="en-US" dirty="0"/>
              <a:t>By practicing these techniques regularly, students develop stronger listening accuracy and confidence. </a:t>
            </a:r>
            <a:r>
              <a:rPr lang="en-US" b="1" dirty="0"/>
              <a:t>This method helps learners move beyond guessing and make more informed choices during the IELTS Listening test</a:t>
            </a:r>
            <a:endParaRPr lang="en-US" dirty="0"/>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785844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Multiple choice is just one question type.”</a:t>
            </a:r>
          </a:p>
          <a:p>
            <a:r>
              <a:rPr lang="en-US" sz="1200" kern="1200" dirty="0">
                <a:solidFill>
                  <a:schemeClr val="tx1"/>
                </a:solidFill>
                <a:effectLst/>
                <a:latin typeface="+mn-lt"/>
                <a:ea typeface="+mn-ea"/>
                <a:cs typeface="+mn-cs"/>
              </a:rPr>
              <a:t>“In the next video, we’ll focus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Form, Note, and Table Completion in IELTS Listening—and how to write answers quickly and accurately.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“See you in the next video.”</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10724549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3/6/2026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3/6/2026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3/6/2026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3/6/2026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3/6/2026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3/6/2026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3/6/2026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3/6/2026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3/6/2026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55107" y="2292094"/>
            <a:ext cx="6483843" cy="2219691"/>
          </a:xfrm>
        </p:spPr>
        <p:txBody>
          <a:bodyPr anchor="ctr">
            <a:normAutofit fontScale="90000"/>
          </a:bodyPr>
          <a:lstStyle/>
          <a:p>
            <a:pPr algn="ctr"/>
            <a:r>
              <a:rPr lang="en-US" dirty="0">
                <a:latin typeface="Verdana" panose="020B0604030504040204" pitchFamily="34" charset="0"/>
                <a:ea typeface="Verdana" panose="020B0604030504040204" pitchFamily="34" charset="0"/>
              </a:rPr>
              <a:t>Multiple Choice </a:t>
            </a:r>
            <a:r>
              <a:rPr lang="en-US" sz="2700" dirty="0">
                <a:latin typeface="Verdana" panose="020B0604030504040204" pitchFamily="34" charset="0"/>
                <a:ea typeface="Verdana" panose="020B0604030504040204" pitchFamily="34" charset="0"/>
              </a:rPr>
              <a:t>Questions in IELTS Listening </a:t>
            </a:r>
            <a:br>
              <a:rPr lang="en-US" dirty="0">
                <a:latin typeface="Verdana" panose="020B0604030504040204" pitchFamily="34" charset="0"/>
                <a:ea typeface="Verdana" panose="020B0604030504040204" pitchFamily="34" charset="0"/>
              </a:rPr>
            </a:br>
            <a:br>
              <a:rPr lang="en-US" dirty="0">
                <a:latin typeface="Verdana" panose="020B0604030504040204" pitchFamily="34" charset="0"/>
                <a:ea typeface="Verdana" panose="020B0604030504040204" pitchFamily="34" charset="0"/>
              </a:rPr>
            </a:br>
            <a:r>
              <a:rPr lang="en-US" dirty="0">
                <a:latin typeface="Verdana" panose="020B0604030504040204" pitchFamily="34" charset="0"/>
                <a:ea typeface="Verdana" panose="020B0604030504040204" pitchFamily="34" charset="0"/>
              </a:rPr>
              <a:t> </a:t>
            </a:r>
            <a:r>
              <a:rPr lang="en-US" sz="2700" dirty="0">
                <a:latin typeface="Verdana" panose="020B0604030504040204" pitchFamily="34" charset="0"/>
                <a:ea typeface="Verdana" panose="020B0604030504040204" pitchFamily="34" charset="0"/>
              </a:rPr>
              <a:t>How to Avoid Traps and Choose the Right Answer</a:t>
            </a:r>
            <a:endParaRPr lang="en-US" sz="2700" b="1" dirty="0">
              <a:latin typeface="Verdana" panose="020B0604030504040204" pitchFamily="34" charset="0"/>
              <a:ea typeface="Verdana" panose="020B0604030504040204" pitchFamily="34" charset="0"/>
            </a:endParaRPr>
          </a:p>
        </p:txBody>
      </p:sp>
      <p:sp>
        <p:nvSpPr>
          <p:cNvPr id="7" name="Subtitle 6"/>
          <p:cNvSpPr>
            <a:spLocks noGrp="1"/>
          </p:cNvSpPr>
          <p:nvPr>
            <p:ph type="subTitle" idx="1"/>
          </p:nvPr>
        </p:nvSpPr>
        <p:spPr/>
        <p:txBody>
          <a:bodyPr/>
          <a:lstStyle/>
          <a:p>
            <a:r>
              <a:rPr lang="en-US" dirty="0"/>
              <a:t>Subtitle</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ctr"/>
            <a:r>
              <a:rPr lang="en-US" dirty="0"/>
              <a:t>Why Multiple Choice Is Tricky</a:t>
            </a:r>
          </a:p>
        </p:txBody>
      </p:sp>
      <p:sp>
        <p:nvSpPr>
          <p:cNvPr id="14" name="Content Placeholder 13"/>
          <p:cNvSpPr>
            <a:spLocks noGrp="1"/>
          </p:cNvSpPr>
          <p:nvPr>
            <p:ph idx="1"/>
          </p:nvPr>
        </p:nvSpPr>
        <p:spPr>
          <a:xfrm>
            <a:off x="522514" y="1600200"/>
            <a:ext cx="11430000" cy="4844143"/>
          </a:xfrm>
        </p:spPr>
        <p:txBody>
          <a:bodyPr>
            <a:normAutofit/>
          </a:bodyPr>
          <a:lstStyle/>
          <a:p>
            <a:pPr marL="0" indent="0" algn="ctr">
              <a:buNone/>
            </a:pPr>
            <a:r>
              <a:rPr lang="en-US" sz="2400" dirty="0"/>
              <a:t>IELTS multiple choice questions test </a:t>
            </a:r>
            <a:r>
              <a:rPr lang="en-US" sz="2400" b="1" dirty="0"/>
              <a:t>listening accuracy</a:t>
            </a:r>
            <a:r>
              <a:rPr lang="en-US" sz="2400" dirty="0"/>
              <a:t>, not memory</a:t>
            </a:r>
          </a:p>
          <a:p>
            <a:pPr marL="0" indent="0">
              <a:buNone/>
            </a:pPr>
            <a:r>
              <a:rPr lang="en-US" sz="2400" b="1" dirty="0"/>
              <a:t>You will often hear:</a:t>
            </a:r>
          </a:p>
          <a:p>
            <a:pPr lvl="0">
              <a:buFont typeface="Wingdings" panose="05000000000000000000" pitchFamily="2" charset="2"/>
              <a:buChar char="Ø"/>
            </a:pPr>
            <a:r>
              <a:rPr lang="en-US" sz="2400" dirty="0"/>
              <a:t>All the options mentioned</a:t>
            </a:r>
          </a:p>
          <a:p>
            <a:pPr lvl="0">
              <a:buFont typeface="Wingdings" panose="05000000000000000000" pitchFamily="2" charset="2"/>
              <a:buChar char="Ø"/>
            </a:pPr>
            <a:r>
              <a:rPr lang="en-US" sz="2400" dirty="0"/>
              <a:t>Some options mentioned clearly but rejected</a:t>
            </a:r>
          </a:p>
          <a:p>
            <a:pPr lvl="0">
              <a:buFont typeface="Wingdings" panose="05000000000000000000" pitchFamily="2" charset="2"/>
              <a:buChar char="Ø"/>
            </a:pPr>
            <a:r>
              <a:rPr lang="en-US" sz="2400" dirty="0"/>
              <a:t>Only one option that matches the </a:t>
            </a:r>
            <a:r>
              <a:rPr lang="en-US" sz="2400" b="1" dirty="0"/>
              <a:t>final decision</a:t>
            </a:r>
            <a:r>
              <a:rPr lang="en-US" sz="2400" dirty="0"/>
              <a:t>”</a:t>
            </a:r>
          </a:p>
          <a:p>
            <a:pPr marL="0" indent="0">
              <a:buNone/>
            </a:pPr>
            <a:endParaRPr lang="en-US" sz="2400" dirty="0"/>
          </a:p>
          <a:p>
            <a:pPr marL="0" indent="0">
              <a:buNone/>
            </a:pPr>
            <a:endParaRPr lang="en-US" sz="2400" dirty="0"/>
          </a:p>
          <a:p>
            <a:pPr marL="0" indent="0">
              <a:buNone/>
            </a:pPr>
            <a:r>
              <a:rPr lang="en-US" sz="2400" dirty="0"/>
              <a:t>Choosing the first familiar word is the most common mistake </a:t>
            </a:r>
          </a:p>
          <a:p>
            <a:endParaRPr lang="en-US" sz="2400" dirty="0"/>
          </a:p>
        </p:txBody>
      </p:sp>
      <p:pic>
        <p:nvPicPr>
          <p:cNvPr id="4" name="Picture 2" descr="7,800+ Red X Stock Illustrations, Royalty-Free Vector ...">
            <a:extLst>
              <a:ext uri="{FF2B5EF4-FFF2-40B4-BE49-F238E27FC236}">
                <a16:creationId xmlns:a16="http://schemas.microsoft.com/office/drawing/2014/main" id="{6C1A4AFE-2095-00BC-EC64-A9AFCAB5D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87393" y="5470068"/>
            <a:ext cx="498408" cy="3782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7,800+ Red X Stock Illustrations, Royalty-Free Vector ...">
            <a:extLst>
              <a:ext uri="{FF2B5EF4-FFF2-40B4-BE49-F238E27FC236}">
                <a16:creationId xmlns:a16="http://schemas.microsoft.com/office/drawing/2014/main" id="{2CBCBF95-F488-0B4F-CB06-C035AC10BD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8929" y="5470067"/>
            <a:ext cx="498408" cy="37827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7,800+ Red X Stock Illustrations, Royalty-Free Vector ...">
            <a:extLst>
              <a:ext uri="{FF2B5EF4-FFF2-40B4-BE49-F238E27FC236}">
                <a16:creationId xmlns:a16="http://schemas.microsoft.com/office/drawing/2014/main" id="{29C3C07F-466B-0682-BD07-D78ED4F072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73161" y="5470067"/>
            <a:ext cx="498408" cy="378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 calcmode="lin" valueType="num">
                                      <p:cBhvr additive="base">
                                        <p:cTn id="7"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anim calcmode="lin" valueType="num">
                                      <p:cBhvr additive="base">
                                        <p:cTn id="13"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 calcmode="lin" valueType="num">
                                      <p:cBhvr additive="base">
                                        <p:cTn id="19"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4">
                                            <p:txEl>
                                              <p:pRg st="7" end="7"/>
                                            </p:txEl>
                                          </p:spTgt>
                                        </p:tgtEl>
                                        <p:attrNameLst>
                                          <p:attrName>style.visibility</p:attrName>
                                        </p:attrNameLst>
                                      </p:cBhvr>
                                      <p:to>
                                        <p:strVal val="visible"/>
                                      </p:to>
                                    </p:set>
                                    <p:anim calcmode="lin" valueType="num">
                                      <p:cBhvr>
                                        <p:cTn id="31" dur="500" fill="hold"/>
                                        <p:tgtEl>
                                          <p:spTgt spid="14">
                                            <p:txEl>
                                              <p:pRg st="7" end="7"/>
                                            </p:txEl>
                                          </p:spTgt>
                                        </p:tgtEl>
                                        <p:attrNameLst>
                                          <p:attrName>ppt_w</p:attrName>
                                        </p:attrNameLst>
                                      </p:cBhvr>
                                      <p:tavLst>
                                        <p:tav tm="0">
                                          <p:val>
                                            <p:fltVal val="0"/>
                                          </p:val>
                                        </p:tav>
                                        <p:tav tm="100000">
                                          <p:val>
                                            <p:strVal val="#ppt_w"/>
                                          </p:val>
                                        </p:tav>
                                      </p:tavLst>
                                    </p:anim>
                                    <p:anim calcmode="lin" valueType="num">
                                      <p:cBhvr>
                                        <p:cTn id="32" dur="500" fill="hold"/>
                                        <p:tgtEl>
                                          <p:spTgt spid="14">
                                            <p:txEl>
                                              <p:pRg st="7" end="7"/>
                                            </p:txEl>
                                          </p:spTgt>
                                        </p:tgtEl>
                                        <p:attrNameLst>
                                          <p:attrName>ppt_h</p:attrName>
                                        </p:attrNameLst>
                                      </p:cBhvr>
                                      <p:tavLst>
                                        <p:tav tm="0">
                                          <p:val>
                                            <p:fltVal val="0"/>
                                          </p:val>
                                        </p:tav>
                                        <p:tav tm="100000">
                                          <p:val>
                                            <p:strVal val="#ppt_h"/>
                                          </p:val>
                                        </p:tav>
                                      </p:tavLst>
                                    </p:anim>
                                    <p:animEffect transition="in" filter="fade">
                                      <p:cBhvr>
                                        <p:cTn id="33" dur="500"/>
                                        <p:tgtEl>
                                          <p:spTgt spid="14">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6"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80">
                                          <p:stCondLst>
                                            <p:cond delay="0"/>
                                          </p:stCondLst>
                                        </p:cTn>
                                        <p:tgtEl>
                                          <p:spTgt spid="4"/>
                                        </p:tgtEl>
                                      </p:cBhvr>
                                    </p:animEffect>
                                    <p:anim calcmode="lin" valueType="num">
                                      <p:cBhvr>
                                        <p:cTn id="39"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4" dur="26">
                                          <p:stCondLst>
                                            <p:cond delay="650"/>
                                          </p:stCondLst>
                                        </p:cTn>
                                        <p:tgtEl>
                                          <p:spTgt spid="4"/>
                                        </p:tgtEl>
                                      </p:cBhvr>
                                      <p:to x="100000" y="60000"/>
                                    </p:animScale>
                                    <p:animScale>
                                      <p:cBhvr>
                                        <p:cTn id="45" dur="166" decel="50000">
                                          <p:stCondLst>
                                            <p:cond delay="676"/>
                                          </p:stCondLst>
                                        </p:cTn>
                                        <p:tgtEl>
                                          <p:spTgt spid="4"/>
                                        </p:tgtEl>
                                      </p:cBhvr>
                                      <p:to x="100000" y="100000"/>
                                    </p:animScale>
                                    <p:animScale>
                                      <p:cBhvr>
                                        <p:cTn id="46" dur="26">
                                          <p:stCondLst>
                                            <p:cond delay="1312"/>
                                          </p:stCondLst>
                                        </p:cTn>
                                        <p:tgtEl>
                                          <p:spTgt spid="4"/>
                                        </p:tgtEl>
                                      </p:cBhvr>
                                      <p:to x="100000" y="80000"/>
                                    </p:animScale>
                                    <p:animScale>
                                      <p:cBhvr>
                                        <p:cTn id="47" dur="166" decel="50000">
                                          <p:stCondLst>
                                            <p:cond delay="1338"/>
                                          </p:stCondLst>
                                        </p:cTn>
                                        <p:tgtEl>
                                          <p:spTgt spid="4"/>
                                        </p:tgtEl>
                                      </p:cBhvr>
                                      <p:to x="100000" y="100000"/>
                                    </p:animScale>
                                    <p:animScale>
                                      <p:cBhvr>
                                        <p:cTn id="48" dur="26">
                                          <p:stCondLst>
                                            <p:cond delay="1642"/>
                                          </p:stCondLst>
                                        </p:cTn>
                                        <p:tgtEl>
                                          <p:spTgt spid="4"/>
                                        </p:tgtEl>
                                      </p:cBhvr>
                                      <p:to x="100000" y="90000"/>
                                    </p:animScale>
                                    <p:animScale>
                                      <p:cBhvr>
                                        <p:cTn id="49" dur="166" decel="50000">
                                          <p:stCondLst>
                                            <p:cond delay="1668"/>
                                          </p:stCondLst>
                                        </p:cTn>
                                        <p:tgtEl>
                                          <p:spTgt spid="4"/>
                                        </p:tgtEl>
                                      </p:cBhvr>
                                      <p:to x="100000" y="100000"/>
                                    </p:animScale>
                                    <p:animScale>
                                      <p:cBhvr>
                                        <p:cTn id="50" dur="26">
                                          <p:stCondLst>
                                            <p:cond delay="1808"/>
                                          </p:stCondLst>
                                        </p:cTn>
                                        <p:tgtEl>
                                          <p:spTgt spid="4"/>
                                        </p:tgtEl>
                                      </p:cBhvr>
                                      <p:to x="100000" y="95000"/>
                                    </p:animScale>
                                    <p:animScale>
                                      <p:cBhvr>
                                        <p:cTn id="51" dur="166" decel="50000">
                                          <p:stCondLst>
                                            <p:cond delay="1834"/>
                                          </p:stCondLst>
                                        </p:cTn>
                                        <p:tgtEl>
                                          <p:spTgt spid="4"/>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26" presetClass="entr" presetSubtype="0"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down)">
                                      <p:cBhvr>
                                        <p:cTn id="56" dur="580">
                                          <p:stCondLst>
                                            <p:cond delay="0"/>
                                          </p:stCondLst>
                                        </p:cTn>
                                        <p:tgtEl>
                                          <p:spTgt spid="6"/>
                                        </p:tgtEl>
                                      </p:cBhvr>
                                    </p:animEffect>
                                    <p:anim calcmode="lin" valueType="num">
                                      <p:cBhvr>
                                        <p:cTn id="57"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8"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9"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60"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61"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62" dur="26">
                                          <p:stCondLst>
                                            <p:cond delay="650"/>
                                          </p:stCondLst>
                                        </p:cTn>
                                        <p:tgtEl>
                                          <p:spTgt spid="6"/>
                                        </p:tgtEl>
                                      </p:cBhvr>
                                      <p:to x="100000" y="60000"/>
                                    </p:animScale>
                                    <p:animScale>
                                      <p:cBhvr>
                                        <p:cTn id="63" dur="166" decel="50000">
                                          <p:stCondLst>
                                            <p:cond delay="676"/>
                                          </p:stCondLst>
                                        </p:cTn>
                                        <p:tgtEl>
                                          <p:spTgt spid="6"/>
                                        </p:tgtEl>
                                      </p:cBhvr>
                                      <p:to x="100000" y="100000"/>
                                    </p:animScale>
                                    <p:animScale>
                                      <p:cBhvr>
                                        <p:cTn id="64" dur="26">
                                          <p:stCondLst>
                                            <p:cond delay="1312"/>
                                          </p:stCondLst>
                                        </p:cTn>
                                        <p:tgtEl>
                                          <p:spTgt spid="6"/>
                                        </p:tgtEl>
                                      </p:cBhvr>
                                      <p:to x="100000" y="80000"/>
                                    </p:animScale>
                                    <p:animScale>
                                      <p:cBhvr>
                                        <p:cTn id="65" dur="166" decel="50000">
                                          <p:stCondLst>
                                            <p:cond delay="1338"/>
                                          </p:stCondLst>
                                        </p:cTn>
                                        <p:tgtEl>
                                          <p:spTgt spid="6"/>
                                        </p:tgtEl>
                                      </p:cBhvr>
                                      <p:to x="100000" y="100000"/>
                                    </p:animScale>
                                    <p:animScale>
                                      <p:cBhvr>
                                        <p:cTn id="66" dur="26">
                                          <p:stCondLst>
                                            <p:cond delay="1642"/>
                                          </p:stCondLst>
                                        </p:cTn>
                                        <p:tgtEl>
                                          <p:spTgt spid="6"/>
                                        </p:tgtEl>
                                      </p:cBhvr>
                                      <p:to x="100000" y="90000"/>
                                    </p:animScale>
                                    <p:animScale>
                                      <p:cBhvr>
                                        <p:cTn id="67" dur="166" decel="50000">
                                          <p:stCondLst>
                                            <p:cond delay="1668"/>
                                          </p:stCondLst>
                                        </p:cTn>
                                        <p:tgtEl>
                                          <p:spTgt spid="6"/>
                                        </p:tgtEl>
                                      </p:cBhvr>
                                      <p:to x="100000" y="100000"/>
                                    </p:animScale>
                                    <p:animScale>
                                      <p:cBhvr>
                                        <p:cTn id="68" dur="26">
                                          <p:stCondLst>
                                            <p:cond delay="1808"/>
                                          </p:stCondLst>
                                        </p:cTn>
                                        <p:tgtEl>
                                          <p:spTgt spid="6"/>
                                        </p:tgtEl>
                                      </p:cBhvr>
                                      <p:to x="100000" y="95000"/>
                                    </p:animScale>
                                    <p:animScale>
                                      <p:cBhvr>
                                        <p:cTn id="69" dur="166" decel="50000">
                                          <p:stCondLst>
                                            <p:cond delay="1834"/>
                                          </p:stCondLst>
                                        </p:cTn>
                                        <p:tgtEl>
                                          <p:spTgt spid="6"/>
                                        </p:tgtEl>
                                      </p:cBhvr>
                                      <p:to x="100000" y="100000"/>
                                    </p:animScale>
                                  </p:childTnLst>
                                </p:cTn>
                              </p:par>
                            </p:childTnLst>
                          </p:cTn>
                        </p:par>
                      </p:childTnLst>
                    </p:cTn>
                  </p:par>
                  <p:par>
                    <p:cTn id="70" fill="hold">
                      <p:stCondLst>
                        <p:cond delay="indefinite"/>
                      </p:stCondLst>
                      <p:childTnLst>
                        <p:par>
                          <p:cTn id="71" fill="hold">
                            <p:stCondLst>
                              <p:cond delay="0"/>
                            </p:stCondLst>
                            <p:childTnLst>
                              <p:par>
                                <p:cTn id="72" presetID="26" presetClass="entr" presetSubtype="0" fill="hold" nodeType="click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wipe(down)">
                                      <p:cBhvr>
                                        <p:cTn id="74" dur="580">
                                          <p:stCondLst>
                                            <p:cond delay="0"/>
                                          </p:stCondLst>
                                        </p:cTn>
                                        <p:tgtEl>
                                          <p:spTgt spid="5"/>
                                        </p:tgtEl>
                                      </p:cBhvr>
                                    </p:animEffect>
                                    <p:anim calcmode="lin" valueType="num">
                                      <p:cBhvr>
                                        <p:cTn id="7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7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7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7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7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80" dur="26">
                                          <p:stCondLst>
                                            <p:cond delay="650"/>
                                          </p:stCondLst>
                                        </p:cTn>
                                        <p:tgtEl>
                                          <p:spTgt spid="5"/>
                                        </p:tgtEl>
                                      </p:cBhvr>
                                      <p:to x="100000" y="60000"/>
                                    </p:animScale>
                                    <p:animScale>
                                      <p:cBhvr>
                                        <p:cTn id="81" dur="166" decel="50000">
                                          <p:stCondLst>
                                            <p:cond delay="676"/>
                                          </p:stCondLst>
                                        </p:cTn>
                                        <p:tgtEl>
                                          <p:spTgt spid="5"/>
                                        </p:tgtEl>
                                      </p:cBhvr>
                                      <p:to x="100000" y="100000"/>
                                    </p:animScale>
                                    <p:animScale>
                                      <p:cBhvr>
                                        <p:cTn id="82" dur="26">
                                          <p:stCondLst>
                                            <p:cond delay="1312"/>
                                          </p:stCondLst>
                                        </p:cTn>
                                        <p:tgtEl>
                                          <p:spTgt spid="5"/>
                                        </p:tgtEl>
                                      </p:cBhvr>
                                      <p:to x="100000" y="80000"/>
                                    </p:animScale>
                                    <p:animScale>
                                      <p:cBhvr>
                                        <p:cTn id="83" dur="166" decel="50000">
                                          <p:stCondLst>
                                            <p:cond delay="1338"/>
                                          </p:stCondLst>
                                        </p:cTn>
                                        <p:tgtEl>
                                          <p:spTgt spid="5"/>
                                        </p:tgtEl>
                                      </p:cBhvr>
                                      <p:to x="100000" y="100000"/>
                                    </p:animScale>
                                    <p:animScale>
                                      <p:cBhvr>
                                        <p:cTn id="84" dur="26">
                                          <p:stCondLst>
                                            <p:cond delay="1642"/>
                                          </p:stCondLst>
                                        </p:cTn>
                                        <p:tgtEl>
                                          <p:spTgt spid="5"/>
                                        </p:tgtEl>
                                      </p:cBhvr>
                                      <p:to x="100000" y="90000"/>
                                    </p:animScale>
                                    <p:animScale>
                                      <p:cBhvr>
                                        <p:cTn id="85" dur="166" decel="50000">
                                          <p:stCondLst>
                                            <p:cond delay="1668"/>
                                          </p:stCondLst>
                                        </p:cTn>
                                        <p:tgtEl>
                                          <p:spTgt spid="5"/>
                                        </p:tgtEl>
                                      </p:cBhvr>
                                      <p:to x="100000" y="100000"/>
                                    </p:animScale>
                                    <p:animScale>
                                      <p:cBhvr>
                                        <p:cTn id="86" dur="26">
                                          <p:stCondLst>
                                            <p:cond delay="1808"/>
                                          </p:stCondLst>
                                        </p:cTn>
                                        <p:tgtEl>
                                          <p:spTgt spid="5"/>
                                        </p:tgtEl>
                                      </p:cBhvr>
                                      <p:to x="100000" y="95000"/>
                                    </p:animScale>
                                    <p:animScale>
                                      <p:cBhvr>
                                        <p:cTn id="87"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1: Read the Question Carefully</a:t>
            </a:r>
          </a:p>
        </p:txBody>
      </p:sp>
      <p:sp>
        <p:nvSpPr>
          <p:cNvPr id="4" name="Content Placeholder 3">
            <a:extLst>
              <a:ext uri="{FF2B5EF4-FFF2-40B4-BE49-F238E27FC236}">
                <a16:creationId xmlns:a16="http://schemas.microsoft.com/office/drawing/2014/main" id="{4F2DAB70-F4CA-56E3-C89A-01D75B71F3B9}"/>
              </a:ext>
            </a:extLst>
          </p:cNvPr>
          <p:cNvSpPr>
            <a:spLocks noGrp="1"/>
          </p:cNvSpPr>
          <p:nvPr>
            <p:ph idx="1"/>
          </p:nvPr>
        </p:nvSpPr>
        <p:spPr/>
        <p:txBody>
          <a:bodyPr>
            <a:normAutofit fontScale="92500" lnSpcReduction="10000"/>
          </a:bodyPr>
          <a:lstStyle/>
          <a:p>
            <a:pPr marL="0" indent="0">
              <a:buNone/>
            </a:pPr>
            <a:r>
              <a:rPr lang="en-US" dirty="0"/>
              <a:t>Before the audio starts, always:</a:t>
            </a:r>
          </a:p>
          <a:p>
            <a:pPr lvl="0">
              <a:buFont typeface="Wingdings" panose="05000000000000000000" pitchFamily="2" charset="2"/>
              <a:buChar char="ü"/>
            </a:pPr>
            <a:r>
              <a:rPr lang="en-US" dirty="0"/>
              <a:t>Read the question</a:t>
            </a:r>
          </a:p>
          <a:p>
            <a:pPr lvl="0">
              <a:buFont typeface="Wingdings" panose="05000000000000000000" pitchFamily="2" charset="2"/>
              <a:buChar char="ü"/>
            </a:pPr>
            <a:r>
              <a:rPr lang="en-US" dirty="0"/>
              <a:t>Read all the options</a:t>
            </a:r>
          </a:p>
          <a:p>
            <a:pPr lvl="0">
              <a:buFont typeface="Wingdings" panose="05000000000000000000" pitchFamily="2" charset="2"/>
              <a:buChar char="ü"/>
            </a:pPr>
            <a:r>
              <a:rPr lang="en-US" dirty="0"/>
              <a:t>Underline keywords or differences</a:t>
            </a:r>
          </a:p>
          <a:p>
            <a:pPr marL="0" indent="0">
              <a:buNone/>
            </a:pPr>
            <a:r>
              <a:rPr lang="en-US" b="1" dirty="0"/>
              <a:t>Pay attention to:</a:t>
            </a:r>
          </a:p>
          <a:p>
            <a:pPr lvl="0">
              <a:buFont typeface="Wingdings" panose="05000000000000000000" pitchFamily="2" charset="2"/>
              <a:buChar char="ü"/>
            </a:pPr>
            <a:r>
              <a:rPr lang="en-US" dirty="0"/>
              <a:t>Time references</a:t>
            </a:r>
          </a:p>
          <a:p>
            <a:pPr lvl="0">
              <a:buFont typeface="Wingdings" panose="05000000000000000000" pitchFamily="2" charset="2"/>
              <a:buChar char="ü"/>
            </a:pPr>
            <a:r>
              <a:rPr lang="en-US" dirty="0"/>
              <a:t>Opinions</a:t>
            </a:r>
          </a:p>
          <a:p>
            <a:pPr lvl="0">
              <a:buFont typeface="Wingdings" panose="05000000000000000000" pitchFamily="2" charset="2"/>
              <a:buChar char="ü"/>
            </a:pPr>
            <a:r>
              <a:rPr lang="en-US" dirty="0"/>
              <a:t>Reasons and results</a:t>
            </a:r>
          </a:p>
          <a:p>
            <a:pPr marL="0" lvl="0" indent="0">
              <a:buNone/>
            </a:pPr>
            <a:endParaRPr lang="en-US" dirty="0"/>
          </a:p>
          <a:p>
            <a:pPr marL="0" indent="0">
              <a:buNone/>
            </a:pPr>
            <a:r>
              <a:rPr lang="en-US" dirty="0"/>
              <a:t>This prepares your brain to filter information.</a:t>
            </a:r>
          </a:p>
          <a:p>
            <a:pPr marL="0" indent="0">
              <a:buNone/>
            </a:pPr>
            <a:endParaRPr lang="en-US" dirty="0"/>
          </a:p>
        </p:txBody>
      </p:sp>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p:cTn id="2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 calcmode="lin" valueType="num">
                                      <p:cBhvr additive="base">
                                        <p:cTn id="32"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 calcmode="lin" valueType="num">
                                      <p:cBhvr additive="base">
                                        <p:cTn id="38"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 calcmode="lin" valueType="num">
                                      <p:cBhvr additive="base">
                                        <p:cTn id="44"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4">
                                            <p:txEl>
                                              <p:pRg st="9" end="9"/>
                                            </p:txEl>
                                          </p:spTgt>
                                        </p:tgtEl>
                                        <p:attrNameLst>
                                          <p:attrName>style.visibility</p:attrName>
                                        </p:attrNameLst>
                                      </p:cBhvr>
                                      <p:to>
                                        <p:strVal val="visible"/>
                                      </p:to>
                                    </p:set>
                                    <p:anim calcmode="lin" valueType="num">
                                      <p:cBhvr>
                                        <p:cTn id="50" dur="500" fill="hold"/>
                                        <p:tgtEl>
                                          <p:spTgt spid="4">
                                            <p:txEl>
                                              <p:pRg st="9" end="9"/>
                                            </p:txEl>
                                          </p:spTgt>
                                        </p:tgtEl>
                                        <p:attrNameLst>
                                          <p:attrName>ppt_w</p:attrName>
                                        </p:attrNameLst>
                                      </p:cBhvr>
                                      <p:tavLst>
                                        <p:tav tm="0">
                                          <p:val>
                                            <p:fltVal val="0"/>
                                          </p:val>
                                        </p:tav>
                                        <p:tav tm="100000">
                                          <p:val>
                                            <p:strVal val="#ppt_w"/>
                                          </p:val>
                                        </p:tav>
                                      </p:tavLst>
                                    </p:anim>
                                    <p:anim calcmode="lin" valueType="num">
                                      <p:cBhvr>
                                        <p:cTn id="51" dur="500" fill="hold"/>
                                        <p:tgtEl>
                                          <p:spTgt spid="4">
                                            <p:txEl>
                                              <p:pRg st="9" end="9"/>
                                            </p:txEl>
                                          </p:spTgt>
                                        </p:tgtEl>
                                        <p:attrNameLst>
                                          <p:attrName>ppt_h</p:attrName>
                                        </p:attrNameLst>
                                      </p:cBhvr>
                                      <p:tavLst>
                                        <p:tav tm="0">
                                          <p:val>
                                            <p:fltVal val="0"/>
                                          </p:val>
                                        </p:tav>
                                        <p:tav tm="100000">
                                          <p:val>
                                            <p:strVal val="#ppt_h"/>
                                          </p:val>
                                        </p:tav>
                                      </p:tavLst>
                                    </p:anim>
                                    <p:animEffect transition="in" filter="fade">
                                      <p:cBhvr>
                                        <p:cTn id="5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2: Listen for Decisions, Not Words</a:t>
            </a:r>
          </a:p>
        </p:txBody>
      </p:sp>
      <p:sp>
        <p:nvSpPr>
          <p:cNvPr id="7" name="Content Placeholder 6">
            <a:extLst>
              <a:ext uri="{FF2B5EF4-FFF2-40B4-BE49-F238E27FC236}">
                <a16:creationId xmlns:a16="http://schemas.microsoft.com/office/drawing/2014/main" id="{C100548D-BDE9-FDAE-26D4-A6DB8020394B}"/>
              </a:ext>
            </a:extLst>
          </p:cNvPr>
          <p:cNvSpPr>
            <a:spLocks noGrp="1"/>
          </p:cNvSpPr>
          <p:nvPr>
            <p:ph sz="half" idx="2"/>
          </p:nvPr>
        </p:nvSpPr>
        <p:spPr>
          <a:xfrm>
            <a:off x="154112" y="1579652"/>
            <a:ext cx="5383659" cy="5047180"/>
          </a:xfrm>
        </p:spPr>
        <p:txBody>
          <a:bodyPr/>
          <a:lstStyle/>
          <a:p>
            <a:pPr marL="0" indent="0">
              <a:buNone/>
            </a:pPr>
            <a:r>
              <a:rPr lang="en-US" dirty="0"/>
              <a:t>In multiple choice questions, the correct answer is usually linked to:</a:t>
            </a:r>
          </a:p>
          <a:p>
            <a:pPr lvl="0">
              <a:buFont typeface="Wingdings" panose="05000000000000000000" pitchFamily="2" charset="2"/>
              <a:buChar char="Ø"/>
            </a:pPr>
            <a:r>
              <a:rPr lang="en-US" dirty="0"/>
              <a:t>A decision</a:t>
            </a:r>
          </a:p>
          <a:p>
            <a:pPr lvl="0">
              <a:buFont typeface="Wingdings" panose="05000000000000000000" pitchFamily="2" charset="2"/>
              <a:buChar char="Ø"/>
            </a:pPr>
            <a:r>
              <a:rPr lang="en-US" dirty="0"/>
              <a:t>A change of mind</a:t>
            </a:r>
          </a:p>
          <a:p>
            <a:pPr lvl="0">
              <a:buFont typeface="Wingdings" panose="05000000000000000000" pitchFamily="2" charset="2"/>
              <a:buChar char="Ø"/>
            </a:pPr>
            <a:r>
              <a:rPr lang="en-US" dirty="0"/>
              <a:t>A conclusion</a:t>
            </a:r>
          </a:p>
          <a:p>
            <a:pPr marL="0" indent="0">
              <a:buNone/>
            </a:pPr>
            <a:r>
              <a:rPr lang="en-US" dirty="0"/>
              <a:t>Listen for signal phrases like:</a:t>
            </a:r>
            <a:br>
              <a:rPr lang="en-US" dirty="0"/>
            </a:br>
            <a:r>
              <a:rPr lang="en-US" dirty="0"/>
              <a:t>Actually…</a:t>
            </a:r>
            <a:br>
              <a:rPr lang="en-US" dirty="0"/>
            </a:br>
            <a:r>
              <a:rPr lang="en-US" dirty="0"/>
              <a:t>‘n the end…</a:t>
            </a:r>
            <a:br>
              <a:rPr lang="en-US" dirty="0"/>
            </a:br>
            <a:r>
              <a:rPr lang="en-US" dirty="0"/>
              <a:t>‘We decided to…</a:t>
            </a:r>
          </a:p>
          <a:p>
            <a:r>
              <a:rPr lang="en-US" dirty="0"/>
              <a:t>The final decision is </a:t>
            </a:r>
            <a:r>
              <a:rPr lang="en-US" b="1" dirty="0">
                <a:solidFill>
                  <a:srgbClr val="FF0000"/>
                </a:solidFill>
              </a:rPr>
              <a:t>almost always </a:t>
            </a:r>
            <a:r>
              <a:rPr lang="en-US" dirty="0"/>
              <a:t>the answer</a:t>
            </a:r>
          </a:p>
          <a:p>
            <a:pPr marL="0" indent="0">
              <a:buNone/>
            </a:pPr>
            <a:endParaRPr lang="en-US" dirty="0"/>
          </a:p>
          <a:p>
            <a:pPr marL="0" indent="0">
              <a:buNone/>
            </a:pPr>
            <a:endParaRPr lang="en-US" dirty="0"/>
          </a:p>
        </p:txBody>
      </p:sp>
      <p:sp>
        <p:nvSpPr>
          <p:cNvPr id="10" name="TextBox 9">
            <a:extLst>
              <a:ext uri="{FF2B5EF4-FFF2-40B4-BE49-F238E27FC236}">
                <a16:creationId xmlns:a16="http://schemas.microsoft.com/office/drawing/2014/main" id="{7063BAFA-618F-C1D6-7616-466B2F8EE92D}"/>
              </a:ext>
            </a:extLst>
          </p:cNvPr>
          <p:cNvSpPr txBox="1"/>
          <p:nvPr/>
        </p:nvSpPr>
        <p:spPr>
          <a:xfrm>
            <a:off x="5537771" y="1756881"/>
            <a:ext cx="6195317" cy="4247317"/>
          </a:xfrm>
          <a:prstGeom prst="rect">
            <a:avLst/>
          </a:prstGeom>
          <a:noFill/>
        </p:spPr>
        <p:txBody>
          <a:bodyPr wrap="square" rtlCol="0">
            <a:spAutoFit/>
          </a:bodyPr>
          <a:lstStyle/>
          <a:p>
            <a:r>
              <a:rPr lang="en-US" b="1" dirty="0"/>
              <a:t>Example:</a:t>
            </a:r>
            <a:endParaRPr lang="en-US" dirty="0"/>
          </a:p>
          <a:p>
            <a:r>
              <a:rPr lang="en-US" dirty="0"/>
              <a:t>Question: </a:t>
            </a:r>
            <a:r>
              <a:rPr lang="en-US" i="1" dirty="0"/>
              <a:t>Where will the meeting be held?</a:t>
            </a:r>
            <a:br>
              <a:rPr lang="en-US" dirty="0"/>
            </a:br>
            <a:r>
              <a:rPr lang="en-US" dirty="0"/>
              <a:t>A. The library</a:t>
            </a:r>
            <a:br>
              <a:rPr lang="en-US" dirty="0"/>
            </a:br>
            <a:r>
              <a:rPr lang="en-US" dirty="0"/>
              <a:t>B. The conference room</a:t>
            </a:r>
            <a:br>
              <a:rPr lang="en-US" dirty="0"/>
            </a:br>
            <a:r>
              <a:rPr lang="en-US" dirty="0"/>
              <a:t>C. The cafeteria</a:t>
            </a:r>
          </a:p>
          <a:p>
            <a:endParaRPr lang="en-US" dirty="0"/>
          </a:p>
          <a:p>
            <a:r>
              <a:rPr lang="en-US" b="1" dirty="0">
                <a:solidFill>
                  <a:srgbClr val="FF0000"/>
                </a:solidFill>
              </a:rPr>
              <a:t>Audio:</a:t>
            </a:r>
            <a:br>
              <a:rPr lang="en-US" dirty="0"/>
            </a:br>
            <a:r>
              <a:rPr lang="en-US" dirty="0"/>
              <a:t>“At first we thought about using the </a:t>
            </a:r>
            <a:r>
              <a:rPr lang="en-US" b="1" dirty="0"/>
              <a:t>library</a:t>
            </a:r>
            <a:r>
              <a:rPr lang="en-US" dirty="0"/>
              <a:t>, but it might be too quiet for group discussion. The </a:t>
            </a:r>
            <a:r>
              <a:rPr lang="en-US" b="1" dirty="0"/>
              <a:t>cafeteria</a:t>
            </a:r>
            <a:r>
              <a:rPr lang="en-US" dirty="0"/>
              <a:t> was another option, but it gets very crowded in the afternoon. </a:t>
            </a:r>
            <a:r>
              <a:rPr lang="en-US" b="1" dirty="0"/>
              <a:t>In the end, we decided to use the conference room.</a:t>
            </a:r>
            <a:r>
              <a:rPr lang="en-US" dirty="0"/>
              <a:t>”</a:t>
            </a:r>
          </a:p>
          <a:p>
            <a:endParaRPr lang="en-US" dirty="0"/>
          </a:p>
          <a:p>
            <a:endParaRPr lang="en-US" dirty="0"/>
          </a:p>
          <a:p>
            <a:r>
              <a:rPr lang="en-US" dirty="0"/>
              <a:t>Correct answer: </a:t>
            </a:r>
            <a:r>
              <a:rPr lang="en-US" b="1" dirty="0"/>
              <a:t>B. The conference room</a:t>
            </a:r>
            <a:endParaRPr lang="en-US" dirty="0"/>
          </a:p>
          <a:p>
            <a:endParaRPr lang="en-US" dirty="0"/>
          </a:p>
        </p:txBody>
      </p:sp>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wipe(down)">
                                      <p:cBhvr>
                                        <p:cTn id="13" dur="500"/>
                                        <p:tgtEl>
                                          <p:spTgt spid="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 calcmode="lin" valueType="num">
                                      <p:cBhvr>
                                        <p:cTn id="18"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19"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20" dur="500"/>
                                        <p:tgtEl>
                                          <p:spTgt spid="7">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Effect transition="in" filter="wipe(down)">
                                      <p:cBhvr>
                                        <p:cTn id="25" dur="580">
                                          <p:stCondLst>
                                            <p:cond delay="0"/>
                                          </p:stCondLst>
                                        </p:cTn>
                                        <p:tgtEl>
                                          <p:spTgt spid="7">
                                            <p:txEl>
                                              <p:pRg st="5" end="5"/>
                                            </p:txEl>
                                          </p:spTgt>
                                        </p:tgtEl>
                                      </p:cBhvr>
                                    </p:animEffect>
                                    <p:anim calcmode="lin" valueType="num">
                                      <p:cBhvr>
                                        <p:cTn id="26" dur="1822" tmFilter="0,0; 0.14,0.36; 0.43,0.73; 0.71,0.91; 1.0,1.0">
                                          <p:stCondLst>
                                            <p:cond delay="0"/>
                                          </p:stCondLst>
                                        </p:cTn>
                                        <p:tgtEl>
                                          <p:spTgt spid="7">
                                            <p:txEl>
                                              <p:pRg st="5" end="5"/>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7">
                                            <p:txEl>
                                              <p:pRg st="5" end="5"/>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7">
                                            <p:txEl>
                                              <p:pRg st="5" end="5"/>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7">
                                            <p:txEl>
                                              <p:pRg st="5" end="5"/>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7">
                                            <p:txEl>
                                              <p:pRg st="5" end="5"/>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7">
                                            <p:txEl>
                                              <p:pRg st="5" end="5"/>
                                            </p:txEl>
                                          </p:spTgt>
                                        </p:tgtEl>
                                      </p:cBhvr>
                                      <p:to x="100000" y="60000"/>
                                    </p:animScale>
                                    <p:animScale>
                                      <p:cBhvr>
                                        <p:cTn id="32" dur="166" decel="50000">
                                          <p:stCondLst>
                                            <p:cond delay="676"/>
                                          </p:stCondLst>
                                        </p:cTn>
                                        <p:tgtEl>
                                          <p:spTgt spid="7">
                                            <p:txEl>
                                              <p:pRg st="5" end="5"/>
                                            </p:txEl>
                                          </p:spTgt>
                                        </p:tgtEl>
                                      </p:cBhvr>
                                      <p:to x="100000" y="100000"/>
                                    </p:animScale>
                                    <p:animScale>
                                      <p:cBhvr>
                                        <p:cTn id="33" dur="26">
                                          <p:stCondLst>
                                            <p:cond delay="1312"/>
                                          </p:stCondLst>
                                        </p:cTn>
                                        <p:tgtEl>
                                          <p:spTgt spid="7">
                                            <p:txEl>
                                              <p:pRg st="5" end="5"/>
                                            </p:txEl>
                                          </p:spTgt>
                                        </p:tgtEl>
                                      </p:cBhvr>
                                      <p:to x="100000" y="80000"/>
                                    </p:animScale>
                                    <p:animScale>
                                      <p:cBhvr>
                                        <p:cTn id="34" dur="166" decel="50000">
                                          <p:stCondLst>
                                            <p:cond delay="1338"/>
                                          </p:stCondLst>
                                        </p:cTn>
                                        <p:tgtEl>
                                          <p:spTgt spid="7">
                                            <p:txEl>
                                              <p:pRg st="5" end="5"/>
                                            </p:txEl>
                                          </p:spTgt>
                                        </p:tgtEl>
                                      </p:cBhvr>
                                      <p:to x="100000" y="100000"/>
                                    </p:animScale>
                                    <p:animScale>
                                      <p:cBhvr>
                                        <p:cTn id="35" dur="26">
                                          <p:stCondLst>
                                            <p:cond delay="1642"/>
                                          </p:stCondLst>
                                        </p:cTn>
                                        <p:tgtEl>
                                          <p:spTgt spid="7">
                                            <p:txEl>
                                              <p:pRg st="5" end="5"/>
                                            </p:txEl>
                                          </p:spTgt>
                                        </p:tgtEl>
                                      </p:cBhvr>
                                      <p:to x="100000" y="90000"/>
                                    </p:animScale>
                                    <p:animScale>
                                      <p:cBhvr>
                                        <p:cTn id="36" dur="166" decel="50000">
                                          <p:stCondLst>
                                            <p:cond delay="1668"/>
                                          </p:stCondLst>
                                        </p:cTn>
                                        <p:tgtEl>
                                          <p:spTgt spid="7">
                                            <p:txEl>
                                              <p:pRg st="5" end="5"/>
                                            </p:txEl>
                                          </p:spTgt>
                                        </p:tgtEl>
                                      </p:cBhvr>
                                      <p:to x="100000" y="100000"/>
                                    </p:animScale>
                                    <p:animScale>
                                      <p:cBhvr>
                                        <p:cTn id="37" dur="26">
                                          <p:stCondLst>
                                            <p:cond delay="1808"/>
                                          </p:stCondLst>
                                        </p:cTn>
                                        <p:tgtEl>
                                          <p:spTgt spid="7">
                                            <p:txEl>
                                              <p:pRg st="5" end="5"/>
                                            </p:txEl>
                                          </p:spTgt>
                                        </p:tgtEl>
                                      </p:cBhvr>
                                      <p:to x="100000" y="95000"/>
                                    </p:animScale>
                                    <p:animScale>
                                      <p:cBhvr>
                                        <p:cTn id="38" dur="166" decel="50000">
                                          <p:stCondLst>
                                            <p:cond delay="1834"/>
                                          </p:stCondLst>
                                        </p:cTn>
                                        <p:tgtEl>
                                          <p:spTgt spid="7">
                                            <p:txEl>
                                              <p:pRg st="5" end="5"/>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randombar(horizontal)">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3: Eliminate Wrong Options</a:t>
            </a:r>
          </a:p>
        </p:txBody>
      </p:sp>
      <p:sp>
        <p:nvSpPr>
          <p:cNvPr id="5" name="Content Placeholder 4">
            <a:extLst>
              <a:ext uri="{FF2B5EF4-FFF2-40B4-BE49-F238E27FC236}">
                <a16:creationId xmlns:a16="http://schemas.microsoft.com/office/drawing/2014/main" id="{081A7ECA-E06F-720D-5FA8-150E6639B027}"/>
              </a:ext>
            </a:extLst>
          </p:cNvPr>
          <p:cNvSpPr>
            <a:spLocks noGrp="1"/>
          </p:cNvSpPr>
          <p:nvPr>
            <p:ph idx="1"/>
          </p:nvPr>
        </p:nvSpPr>
        <p:spPr>
          <a:xfrm>
            <a:off x="487167" y="1623317"/>
            <a:ext cx="4991100" cy="4572000"/>
          </a:xfrm>
        </p:spPr>
        <p:txBody>
          <a:bodyPr/>
          <a:lstStyle/>
          <a:p>
            <a:pPr marL="0" indent="0">
              <a:buNone/>
            </a:pPr>
            <a:r>
              <a:rPr lang="en-US" dirty="0"/>
              <a:t>A powerful strategy is </a:t>
            </a:r>
            <a:r>
              <a:rPr lang="en-US" b="1" dirty="0"/>
              <a:t>elimination</a:t>
            </a:r>
            <a:r>
              <a:rPr lang="en-US" dirty="0"/>
              <a:t>.</a:t>
            </a:r>
          </a:p>
          <a:p>
            <a:pPr marL="0" indent="0">
              <a:buNone/>
            </a:pPr>
            <a:r>
              <a:rPr lang="en-US" dirty="0"/>
              <a:t>Cross out options that:</a:t>
            </a:r>
          </a:p>
          <a:p>
            <a:pPr lvl="0">
              <a:buFont typeface="Wingdings" panose="05000000000000000000" pitchFamily="2" charset="2"/>
              <a:buChar char="Ø"/>
            </a:pPr>
            <a:r>
              <a:rPr lang="en-US" dirty="0"/>
              <a:t>Are clearly incorrect</a:t>
            </a:r>
          </a:p>
          <a:p>
            <a:pPr lvl="0">
              <a:buFont typeface="Wingdings" panose="05000000000000000000" pitchFamily="2" charset="2"/>
              <a:buChar char="Ø"/>
            </a:pPr>
            <a:r>
              <a:rPr lang="en-US" dirty="0"/>
              <a:t>Are mentioned but rejected</a:t>
            </a:r>
          </a:p>
          <a:p>
            <a:pPr lvl="0">
              <a:buFont typeface="Wingdings" panose="05000000000000000000" pitchFamily="2" charset="2"/>
              <a:buChar char="Ø"/>
            </a:pPr>
            <a:r>
              <a:rPr lang="en-US" dirty="0"/>
              <a:t>Do not match the question focus</a:t>
            </a:r>
          </a:p>
          <a:p>
            <a:pPr marL="0" lvl="0" indent="0">
              <a:buNone/>
            </a:pPr>
            <a:endParaRPr lang="en-US" dirty="0"/>
          </a:p>
          <a:p>
            <a:pPr marL="0" indent="0">
              <a:buNone/>
            </a:pPr>
            <a:r>
              <a:rPr lang="en-US" dirty="0"/>
              <a:t>Even if you’re unsure, elimination increases your chance of choosing correctly.”</a:t>
            </a:r>
          </a:p>
          <a:p>
            <a:pPr marL="0" indent="0">
              <a:buNone/>
            </a:pPr>
            <a:endParaRPr lang="en-US" dirty="0"/>
          </a:p>
        </p:txBody>
      </p:sp>
      <p:sp>
        <p:nvSpPr>
          <p:cNvPr id="6" name="TextBox 5">
            <a:extLst>
              <a:ext uri="{FF2B5EF4-FFF2-40B4-BE49-F238E27FC236}">
                <a16:creationId xmlns:a16="http://schemas.microsoft.com/office/drawing/2014/main" id="{2785E083-1C9F-A647-8FDC-8614A20967EE}"/>
              </a:ext>
            </a:extLst>
          </p:cNvPr>
          <p:cNvSpPr txBox="1"/>
          <p:nvPr/>
        </p:nvSpPr>
        <p:spPr>
          <a:xfrm>
            <a:off x="5732980" y="1623317"/>
            <a:ext cx="6164494" cy="5078313"/>
          </a:xfrm>
          <a:prstGeom prst="rect">
            <a:avLst/>
          </a:prstGeom>
          <a:noFill/>
        </p:spPr>
        <p:txBody>
          <a:bodyPr wrap="square" rtlCol="0">
            <a:spAutoFit/>
          </a:bodyPr>
          <a:lstStyle/>
          <a:p>
            <a:r>
              <a:rPr lang="en-US" b="1" dirty="0"/>
              <a:t>Example:</a:t>
            </a:r>
            <a:endParaRPr lang="en-US" dirty="0"/>
          </a:p>
          <a:p>
            <a:r>
              <a:rPr lang="en-US" b="1" dirty="0"/>
              <a:t>Question:</a:t>
            </a:r>
            <a:r>
              <a:rPr lang="en-US" dirty="0"/>
              <a:t> Why did Sarah choose the photography course?</a:t>
            </a:r>
            <a:br>
              <a:rPr lang="en-US" dirty="0"/>
            </a:br>
            <a:r>
              <a:rPr lang="en-US" dirty="0"/>
              <a:t>A. It was cheaper</a:t>
            </a:r>
            <a:br>
              <a:rPr lang="en-US" dirty="0"/>
            </a:br>
            <a:r>
              <a:rPr lang="en-US" dirty="0"/>
              <a:t>B. It fit her schedule</a:t>
            </a:r>
            <a:br>
              <a:rPr lang="en-US" dirty="0"/>
            </a:br>
            <a:r>
              <a:rPr lang="en-US" dirty="0"/>
              <a:t>C. Her friend recommended it</a:t>
            </a:r>
          </a:p>
          <a:p>
            <a:r>
              <a:rPr lang="en-US" b="1" dirty="0"/>
              <a:t>Audio:</a:t>
            </a:r>
            <a:br>
              <a:rPr lang="en-US" dirty="0"/>
            </a:br>
            <a:r>
              <a:rPr lang="en-US" dirty="0"/>
              <a:t>“I first considered the photography class because my friend recommended it, but when I checked the timetable, it didn’t really fit my schedule. </a:t>
            </a:r>
            <a:r>
              <a:rPr lang="en-US" b="1" dirty="0"/>
              <a:t>What really convinced me was that the course fee was much lower than the others.</a:t>
            </a:r>
            <a:r>
              <a:rPr lang="en-US" dirty="0"/>
              <a:t>”</a:t>
            </a:r>
          </a:p>
          <a:p>
            <a:r>
              <a:rPr lang="en-US" b="1" dirty="0"/>
              <a:t>Elimination process:</a:t>
            </a:r>
            <a:endParaRPr lang="en-US" dirty="0"/>
          </a:p>
          <a:p>
            <a:r>
              <a:rPr lang="en-US" b="1" dirty="0"/>
              <a:t>C</a:t>
            </a:r>
            <a:r>
              <a:rPr lang="en-US" dirty="0"/>
              <a:t> – mentioned but rejected → eliminate</a:t>
            </a:r>
          </a:p>
          <a:p>
            <a:r>
              <a:rPr lang="en-US" b="1" dirty="0"/>
              <a:t>B</a:t>
            </a:r>
            <a:r>
              <a:rPr lang="en-US" dirty="0"/>
              <a:t> – does not match the final reason → eliminate</a:t>
            </a:r>
          </a:p>
          <a:p>
            <a:r>
              <a:rPr lang="en-US" b="1" dirty="0"/>
              <a:t>A</a:t>
            </a:r>
            <a:r>
              <a:rPr lang="en-US" dirty="0"/>
              <a:t> – matches the final decision → correct answer</a:t>
            </a:r>
          </a:p>
          <a:p>
            <a:r>
              <a:rPr lang="en-US" b="1" dirty="0"/>
              <a:t>Correct answer:</a:t>
            </a:r>
            <a:r>
              <a:rPr lang="en-US" dirty="0"/>
              <a:t> </a:t>
            </a:r>
            <a:r>
              <a:rPr lang="en-US" b="1" dirty="0"/>
              <a:t>A. It was cheaper.</a:t>
            </a:r>
            <a:endParaRPr lang="en-US" dirty="0"/>
          </a:p>
          <a:p>
            <a:endParaRPr lang="en-US" dirty="0"/>
          </a:p>
        </p:txBody>
      </p:sp>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heel(1)">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wheel(1)">
                                      <p:cBhvr>
                                        <p:cTn id="18" dur="2000"/>
                                        <p:tgtEl>
                                          <p:spTgt spid="5">
                                            <p:txEl>
                                              <p:pRg st="2" end="2"/>
                                            </p:txEl>
                                          </p:spTgt>
                                        </p:tgtEl>
                                      </p:cBhvr>
                                    </p:animEffect>
                                  </p:childTnLst>
                                </p:cTn>
                              </p:par>
                              <p:par>
                                <p:cTn id="19" presetID="21" presetClass="entr" presetSubtype="1"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wheel(1)">
                                      <p:cBhvr>
                                        <p:cTn id="21" dur="2000"/>
                                        <p:tgtEl>
                                          <p:spTgt spid="5">
                                            <p:txEl>
                                              <p:pRg st="3" end="3"/>
                                            </p:txEl>
                                          </p:spTgt>
                                        </p:tgtEl>
                                      </p:cBhvr>
                                    </p:animEffect>
                                  </p:childTnLst>
                                </p:cTn>
                              </p:par>
                              <p:par>
                                <p:cTn id="22" presetID="21" presetClass="entr" presetSubtype="1"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wheel(1)">
                                      <p:cBhvr>
                                        <p:cTn id="24" dur="20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 calcmode="lin" valueType="num">
                                      <p:cBhvr additive="base">
                                        <p:cTn id="2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Advice from IELTS NINER REVIEW CENTER</a:t>
            </a:r>
          </a:p>
        </p:txBody>
      </p:sp>
      <p:sp>
        <p:nvSpPr>
          <p:cNvPr id="8" name="Text Placeholder 7">
            <a:extLst>
              <a:ext uri="{FF2B5EF4-FFF2-40B4-BE49-F238E27FC236}">
                <a16:creationId xmlns:a16="http://schemas.microsoft.com/office/drawing/2014/main" id="{97A93C6D-C996-16C4-0CD2-4B9FC71ECF8C}"/>
              </a:ext>
            </a:extLst>
          </p:cNvPr>
          <p:cNvSpPr>
            <a:spLocks noGrp="1"/>
          </p:cNvSpPr>
          <p:nvPr>
            <p:ph type="body" sz="half" idx="2"/>
          </p:nvPr>
        </p:nvSpPr>
        <p:spPr>
          <a:xfrm>
            <a:off x="1104899" y="1600200"/>
            <a:ext cx="10196673" cy="4572000"/>
          </a:xfrm>
        </p:spPr>
        <p:txBody>
          <a:bodyPr/>
          <a:lstStyle/>
          <a:p>
            <a:r>
              <a:rPr lang="en-US" sz="2400" dirty="0"/>
              <a:t>At </a:t>
            </a:r>
            <a:r>
              <a:rPr lang="en-US" sz="2400" b="1" dirty="0"/>
              <a:t>IELTS NINER REVIEW CENTER</a:t>
            </a:r>
            <a:r>
              <a:rPr lang="en-US" sz="2400" dirty="0"/>
              <a:t>, we train students to:</a:t>
            </a:r>
          </a:p>
          <a:p>
            <a:endParaRPr lang="en-US" sz="2400" dirty="0"/>
          </a:p>
          <a:p>
            <a:pPr marL="342900" lvl="0" indent="-342900">
              <a:buFont typeface="Wingdings" panose="05000000000000000000" pitchFamily="2" charset="2"/>
              <a:buChar char="§"/>
            </a:pPr>
            <a:r>
              <a:rPr lang="en-US" sz="2400" dirty="0"/>
              <a:t>Ignore distractors</a:t>
            </a:r>
          </a:p>
          <a:p>
            <a:pPr marL="342900" lvl="0" indent="-342900">
              <a:buFont typeface="Wingdings" panose="05000000000000000000" pitchFamily="2" charset="2"/>
              <a:buChar char="§"/>
            </a:pPr>
            <a:r>
              <a:rPr lang="en-US" sz="2400" dirty="0"/>
              <a:t>Wait for confirmation</a:t>
            </a:r>
          </a:p>
          <a:p>
            <a:pPr marL="342900" lvl="0" indent="-342900">
              <a:buFont typeface="Wingdings" panose="05000000000000000000" pitchFamily="2" charset="2"/>
              <a:buChar char="§"/>
            </a:pPr>
            <a:r>
              <a:rPr lang="en-US" sz="2400" dirty="0"/>
              <a:t>Trust the structure of the conversation</a:t>
            </a:r>
          </a:p>
          <a:p>
            <a:pPr lvl="0"/>
            <a:endParaRPr lang="en-US" sz="2400" dirty="0"/>
          </a:p>
          <a:p>
            <a:pPr lvl="0"/>
            <a:endParaRPr lang="en-US" sz="2400" dirty="0"/>
          </a:p>
          <a:p>
            <a:r>
              <a:rPr lang="en-US" sz="2400" dirty="0"/>
              <a:t>This method helps students move beyond guessing.</a:t>
            </a:r>
          </a:p>
          <a:p>
            <a:endParaRPr lang="en-US" dirty="0"/>
          </a:p>
        </p:txBody>
      </p:sp>
    </p:spTree>
    <p:extLst>
      <p:ext uri="{BB962C8B-B14F-4D97-AF65-F5344CB8AC3E}">
        <p14:creationId xmlns:p14="http://schemas.microsoft.com/office/powerpoint/2010/main" val="36835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wipe(down)">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wipe(down)">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wipe(down)">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
                                            <p:txEl>
                                              <p:pRg st="7" end="7"/>
                                            </p:txEl>
                                          </p:spTgt>
                                        </p:tgtEl>
                                        <p:attrNameLst>
                                          <p:attrName>style.visibility</p:attrName>
                                        </p:attrNameLst>
                                      </p:cBhvr>
                                      <p:to>
                                        <p:strVal val="visible"/>
                                      </p:to>
                                    </p:set>
                                    <p:anim calcmode="lin" valueType="num">
                                      <p:cBhvr additive="base">
                                        <p:cTn id="22"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id="{90DCC37C-F307-6626-8E86-D3DAF7D4ED5C}"/>
              </a:ext>
            </a:extLst>
          </p:cNvPr>
          <p:cNvSpPr/>
          <p:nvPr/>
        </p:nvSpPr>
        <p:spPr>
          <a:xfrm>
            <a:off x="1755607" y="2721114"/>
            <a:ext cx="8187627" cy="707886"/>
          </a:xfrm>
          <a:prstGeom prst="rect">
            <a:avLst/>
          </a:prstGeom>
          <a:noFill/>
        </p:spPr>
        <p:txBody>
          <a:bodyPr wrap="none" lIns="91440" tIns="45720" rIns="91440" bIns="45720">
            <a:spAutoFit/>
          </a:bodyPr>
          <a:lstStyle/>
          <a:p>
            <a:pPr algn="ctr"/>
            <a:r>
              <a:rPr lang="en-US" sz="4000" b="1" i="1" dirty="0">
                <a:latin typeface="Bahnschrift SemiLight" panose="020B0502040204020203" pitchFamily="34" charset="0"/>
              </a:rPr>
              <a:t>Form, Note, and Table Completion</a:t>
            </a:r>
            <a:endParaRPr lang="en-US" sz="4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Bahnschrift SemiLight" panose="020B0502040204020203" pitchFamily="34" charset="0"/>
            </a:endParaRPr>
          </a:p>
        </p:txBody>
      </p:sp>
    </p:spTree>
    <p:extLst>
      <p:ext uri="{BB962C8B-B14F-4D97-AF65-F5344CB8AC3E}">
        <p14:creationId xmlns:p14="http://schemas.microsoft.com/office/powerpoint/2010/main" val="13156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47</TotalTime>
  <Words>1788</Words>
  <Application>Microsoft Office PowerPoint</Application>
  <PresentationFormat>Widescreen</PresentationFormat>
  <Paragraphs>121</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Bahnschrift SemiLight</vt:lpstr>
      <vt:lpstr>Euphemia</vt:lpstr>
      <vt:lpstr>Plantagenet Cherokee</vt:lpstr>
      <vt:lpstr>Verdana</vt:lpstr>
      <vt:lpstr>Wingdings</vt:lpstr>
      <vt:lpstr>Academic Literature 16x9</vt:lpstr>
      <vt:lpstr>Multiple Choice Questions in IELTS Listening    How to Avoid Traps and Choose the Right Answer</vt:lpstr>
      <vt:lpstr>Why Multiple Choice Is Tricky</vt:lpstr>
      <vt:lpstr>Step 1: Read the Question Carefully</vt:lpstr>
      <vt:lpstr>Step 2: Listen for Decisions, Not Words</vt:lpstr>
      <vt:lpstr>Step 3: Eliminate Wrong Options</vt:lpstr>
      <vt:lpstr>Advice from IELTS NINER REVIEW CENTER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April Ampong</dc:creator>
  <cp:lastModifiedBy>April Ampong</cp:lastModifiedBy>
  <cp:revision>2</cp:revision>
  <dcterms:created xsi:type="dcterms:W3CDTF">2026-03-06T03:56:46Z</dcterms:created>
  <dcterms:modified xsi:type="dcterms:W3CDTF">2026-03-06T04:44:15Z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