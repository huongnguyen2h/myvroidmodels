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26693" autoAdjust="0"/>
  </p:normalViewPr>
  <p:slideViewPr>
    <p:cSldViewPr snapToGrid="0" showGuides="1">
      <p:cViewPr varScale="1">
        <p:scale>
          <a:sx n="30" d="100"/>
          <a:sy n="30" d="100"/>
        </p:scale>
        <p:origin x="2888" y="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1/25/2026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1/25/2026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“Hello, my name is April Ampong, and I’m an instructor at IELTS NINER REVIEW CENTER— an international-standard IELTS training system that helps learners progress from beginner level to Band 7.0–9.0 in the most time-efficient way.” </a:t>
            </a:r>
            <a:endParaRPr lang="en-US" dirty="0"/>
          </a:p>
          <a:p>
            <a:endParaRPr lang="en-US" dirty="0"/>
          </a:p>
          <a:p>
            <a:r>
              <a:rPr lang="en-US" dirty="0"/>
              <a:t>“IELTS Listening is often seen as the </a:t>
            </a:r>
            <a:r>
              <a:rPr lang="en-US" i="1" dirty="0"/>
              <a:t>easiest</a:t>
            </a:r>
            <a:r>
              <a:rPr lang="en-US" dirty="0"/>
              <a:t> part of the test—</a:t>
            </a:r>
            <a:br>
              <a:rPr lang="en-US" dirty="0"/>
            </a:br>
            <a:r>
              <a:rPr lang="en-US" dirty="0"/>
              <a:t>but it’s also the section where many candidates lose </a:t>
            </a:r>
            <a:r>
              <a:rPr lang="en-US" i="1" dirty="0"/>
              <a:t>easy points</a:t>
            </a:r>
            <a:r>
              <a:rPr lang="en-US" dirty="0"/>
              <a:t>.”</a:t>
            </a:r>
          </a:p>
          <a:p>
            <a:r>
              <a:rPr lang="en-US" dirty="0"/>
              <a:t>“This usually doesn’t happen because of poor English.”</a:t>
            </a:r>
            <a:br>
              <a:rPr lang="en-US" dirty="0"/>
            </a:br>
            <a:r>
              <a:rPr lang="en-US" dirty="0"/>
              <a:t>“It happens because candidates don’t fully understand the test structure</a:t>
            </a:r>
            <a:br>
              <a:rPr lang="en-US" dirty="0"/>
            </a:br>
            <a:r>
              <a:rPr lang="en-US" dirty="0"/>
              <a:t>or they listen in the wrong way.”</a:t>
            </a:r>
          </a:p>
          <a:p>
            <a:endParaRPr lang="en-US" dirty="0"/>
          </a:p>
          <a:p>
            <a:r>
              <a:rPr lang="en-US" dirty="0"/>
              <a:t>“In this video, I’ll show you how the IELTS Listening test is structured,</a:t>
            </a:r>
            <a:br>
              <a:rPr lang="en-US" dirty="0"/>
            </a:br>
            <a:r>
              <a:rPr lang="en-US" dirty="0"/>
              <a:t>what it really tests,</a:t>
            </a:r>
            <a:br>
              <a:rPr lang="en-US" dirty="0"/>
            </a:br>
            <a:r>
              <a:rPr lang="en-US" dirty="0"/>
              <a:t>and how to approach it the </a:t>
            </a:r>
            <a:r>
              <a:rPr lang="en-US" i="1" dirty="0"/>
              <a:t>right way</a:t>
            </a:r>
            <a:r>
              <a:rPr lang="en-US" dirty="0"/>
              <a:t> from the beginning.”</a:t>
            </a:r>
          </a:p>
          <a:p>
            <a:endParaRPr lang="en-US" dirty="0"/>
          </a:p>
          <a:p>
            <a:endParaRPr lang="en-US" dirty="0"/>
          </a:p>
          <a:p>
            <a:endParaRPr 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previous video, we covered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IELTS test format and timing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we’ll focus on the first skill tested on exam day—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Listening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endParaRPr lang="en-US" dirty="0"/>
          </a:p>
          <a:p>
            <a:r>
              <a:rPr lang="en-US" dirty="0"/>
              <a:t>“IELTS Listening lasts </a:t>
            </a:r>
            <a:r>
              <a:rPr lang="en-US" b="1" dirty="0"/>
              <a:t>30 minutes</a:t>
            </a:r>
            <a:r>
              <a:rPr lang="en-US" dirty="0"/>
              <a:t>, with </a:t>
            </a:r>
            <a:r>
              <a:rPr lang="en-US" b="1" dirty="0"/>
              <a:t>40 questions</a:t>
            </a:r>
            <a:r>
              <a:rPr lang="en-US" dirty="0"/>
              <a:t> in total.”</a:t>
            </a:r>
          </a:p>
          <a:p>
            <a:r>
              <a:rPr lang="en-US" dirty="0"/>
              <a:t>“If you take the </a:t>
            </a:r>
            <a:r>
              <a:rPr lang="en-US" b="1" dirty="0"/>
              <a:t>paper-based test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you get </a:t>
            </a:r>
            <a:r>
              <a:rPr lang="en-US" b="1" dirty="0"/>
              <a:t>10 extra minutes at the end</a:t>
            </a:r>
            <a:r>
              <a:rPr lang="en-US" dirty="0"/>
              <a:t> to transfer your answers to the answer sheet.”</a:t>
            </a:r>
          </a:p>
          <a:p>
            <a:endParaRPr lang="en-US" dirty="0"/>
          </a:p>
          <a:p>
            <a:r>
              <a:rPr lang="en-US" dirty="0"/>
              <a:t>In the computer based test “There are </a:t>
            </a:r>
            <a:r>
              <a:rPr lang="en-US" b="1" dirty="0"/>
              <a:t>no extra 10 minutes</a:t>
            </a:r>
            <a:r>
              <a:rPr lang="en-US" dirty="0"/>
              <a:t> at the end.”</a:t>
            </a:r>
          </a:p>
          <a:p>
            <a:r>
              <a:rPr lang="en-US" dirty="0"/>
              <a:t>“Instead, you get </a:t>
            </a:r>
            <a:r>
              <a:rPr lang="en-US" b="1" dirty="0"/>
              <a:t>2 minutes</a:t>
            </a:r>
            <a:r>
              <a:rPr lang="en-US" dirty="0"/>
              <a:t> to check your answers</a:t>
            </a:r>
            <a:br>
              <a:rPr lang="en-US" dirty="0"/>
            </a:br>
            <a:r>
              <a:rPr lang="en-US" i="1" dirty="0"/>
              <a:t>after each section</a:t>
            </a:r>
            <a:r>
              <a:rPr lang="en-US" dirty="0"/>
              <a:t>.”</a:t>
            </a:r>
          </a:p>
          <a:p>
            <a:r>
              <a:rPr lang="en-US" dirty="0"/>
              <a:t>“This means you must type your answers </a:t>
            </a:r>
            <a:r>
              <a:rPr lang="en-US" b="1" dirty="0"/>
              <a:t>while listening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not later.</a:t>
            </a:r>
          </a:p>
          <a:p>
            <a:endParaRPr lang="en-US" dirty="0"/>
          </a:p>
          <a:p>
            <a:r>
              <a:rPr lang="en-US" dirty="0"/>
              <a:t>But remember this—</a:t>
            </a:r>
            <a:br>
              <a:rPr lang="en-US" dirty="0"/>
            </a:br>
            <a:r>
              <a:rPr lang="en-US" dirty="0"/>
              <a:t>you will hear </a:t>
            </a:r>
            <a:r>
              <a:rPr lang="en-US" b="1" dirty="0"/>
              <a:t>each recording only once</a:t>
            </a:r>
            <a:r>
              <a:rPr lang="en-US" dirty="0"/>
              <a:t>.”</a:t>
            </a:r>
          </a:p>
          <a:p>
            <a:r>
              <a:rPr lang="en-US" dirty="0"/>
              <a:t>“That means there are </a:t>
            </a:r>
            <a:r>
              <a:rPr lang="en-US" b="1" dirty="0"/>
              <a:t>no second chances</a:t>
            </a:r>
            <a:r>
              <a:rPr lang="en-US" dirty="0"/>
              <a:t>.”</a:t>
            </a:r>
            <a:br>
              <a:rPr lang="en-US" dirty="0"/>
            </a:br>
            <a:r>
              <a:rPr lang="en-US" dirty="0"/>
              <a:t>“If your concentration drops, even for a moment,</a:t>
            </a:r>
            <a:br>
              <a:rPr lang="en-US" dirty="0"/>
            </a:br>
            <a:r>
              <a:rPr lang="en-US" dirty="0"/>
              <a:t>you can lose an answer.”</a:t>
            </a:r>
          </a:p>
          <a:p>
            <a:r>
              <a:rPr lang="en-US" dirty="0"/>
              <a:t>“This is why IELTS Listening is not about hearing </a:t>
            </a:r>
            <a:r>
              <a:rPr lang="en-US" i="1" dirty="0"/>
              <a:t>everything</a:t>
            </a:r>
            <a:r>
              <a:rPr lang="en-US" dirty="0"/>
              <a:t>.”</a:t>
            </a:r>
            <a:br>
              <a:rPr lang="en-US" dirty="0"/>
            </a:br>
            <a:r>
              <a:rPr lang="en-US" dirty="0"/>
              <a:t>“It’s about staying focused,</a:t>
            </a:r>
            <a:br>
              <a:rPr lang="en-US" dirty="0"/>
            </a:br>
            <a:r>
              <a:rPr lang="en-US" dirty="0"/>
              <a:t>following the questions,</a:t>
            </a:r>
            <a:br>
              <a:rPr lang="en-US" dirty="0"/>
            </a:br>
            <a:r>
              <a:rPr lang="en-US" dirty="0"/>
              <a:t>and listening for the exact information you need.”</a:t>
            </a:r>
          </a:p>
          <a:p>
            <a:endParaRPr lang="en-US" dirty="0"/>
          </a:p>
          <a:p>
            <a:r>
              <a:rPr lang="en-US" dirty="0"/>
              <a:t>“If you fall behind or panic,</a:t>
            </a:r>
            <a:br>
              <a:rPr lang="en-US" dirty="0"/>
            </a:br>
            <a:r>
              <a:rPr lang="en-US" dirty="0"/>
              <a:t>you don’t just miss one answer—</a:t>
            </a:r>
            <a:br>
              <a:rPr lang="en-US" dirty="0"/>
            </a:br>
            <a:r>
              <a:rPr lang="en-US" dirty="0"/>
              <a:t>you can miss several.”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8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Listening test has </a:t>
            </a:r>
            <a:r>
              <a:rPr lang="en-US" b="1" dirty="0"/>
              <a:t>four sections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they become </a:t>
            </a:r>
            <a:r>
              <a:rPr lang="en-US" b="1" dirty="0"/>
              <a:t>progressively more difficult</a:t>
            </a:r>
            <a:r>
              <a:rPr lang="en-US" dirty="0"/>
              <a:t>.”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b="1" dirty="0"/>
              <a:t>Section 1</a:t>
            </a:r>
            <a:r>
              <a:rPr lang="en-US" dirty="0"/>
              <a:t> is a </a:t>
            </a:r>
            <a:r>
              <a:rPr lang="en-US" b="1" dirty="0"/>
              <a:t>conversation in a social context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such as booking a service or making an enquiry.”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b="1" dirty="0"/>
              <a:t>Section 2</a:t>
            </a:r>
            <a:r>
              <a:rPr lang="en-US" dirty="0"/>
              <a:t> is a </a:t>
            </a:r>
            <a:r>
              <a:rPr lang="en-US" b="1" dirty="0"/>
              <a:t>monologue in a social context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often giving information, instructions, or directions.”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b="1" dirty="0"/>
              <a:t>Section 3</a:t>
            </a:r>
            <a:r>
              <a:rPr lang="en-US" dirty="0"/>
              <a:t> is a </a:t>
            </a:r>
            <a:r>
              <a:rPr lang="en-US" b="1" dirty="0"/>
              <a:t>conversation in an academic context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usually between students discussing an assignment.”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b="1" dirty="0"/>
              <a:t>Section 4</a:t>
            </a:r>
            <a:r>
              <a:rPr lang="en-US" dirty="0"/>
              <a:t> is an </a:t>
            </a:r>
            <a:r>
              <a:rPr lang="en-US" b="1" dirty="0"/>
              <a:t>academic lecture or talk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similar to what you would hear at university.”</a:t>
            </a:r>
          </a:p>
          <a:p>
            <a:r>
              <a:rPr lang="en-US" dirty="0"/>
              <a:t>“By the time you reach Section 4,</a:t>
            </a:r>
            <a:br>
              <a:rPr lang="en-US" dirty="0"/>
            </a:br>
            <a:r>
              <a:rPr lang="en-US" dirty="0"/>
              <a:t>the language is faster, more complex,</a:t>
            </a:r>
            <a:br>
              <a:rPr lang="en-US" dirty="0"/>
            </a:br>
            <a:r>
              <a:rPr lang="en-US" dirty="0"/>
              <a:t>and there are fewer pauses.”</a:t>
            </a:r>
          </a:p>
          <a:p>
            <a:r>
              <a:rPr lang="en-US" dirty="0"/>
              <a:t>“That’s why strong focus from the beginning is essential—</a:t>
            </a:r>
            <a:br>
              <a:rPr lang="en-US" dirty="0"/>
            </a:br>
            <a:r>
              <a:rPr lang="en-US" dirty="0"/>
              <a:t>every section counts the same.”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81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most common question types you’ll see are:</a:t>
            </a:r>
            <a:br>
              <a:rPr lang="en-US" dirty="0"/>
            </a:br>
            <a:r>
              <a:rPr lang="en-US" b="1" dirty="0"/>
              <a:t>multiple choice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form, note, or table completion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sentence completion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matching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</a:t>
            </a:r>
            <a:r>
              <a:rPr lang="en-US" b="1" dirty="0"/>
              <a:t>map or diagram labelling</a:t>
            </a:r>
            <a:r>
              <a:rPr lang="en-US" dirty="0"/>
              <a:t>.”</a:t>
            </a:r>
          </a:p>
          <a:p>
            <a:r>
              <a:rPr lang="en-US" dirty="0"/>
              <a:t>“Each of these question types tests </a:t>
            </a:r>
            <a:r>
              <a:rPr lang="en-US" b="1" dirty="0"/>
              <a:t>listening accuracy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not memory.”</a:t>
            </a:r>
          </a:p>
          <a:p>
            <a:r>
              <a:rPr lang="en-US" dirty="0"/>
              <a:t>“You are not expected to remember long conversations.”</a:t>
            </a:r>
            <a:br>
              <a:rPr lang="en-US" dirty="0"/>
            </a:br>
            <a:r>
              <a:rPr lang="en-US" dirty="0"/>
              <a:t>“You are expected to </a:t>
            </a:r>
            <a:r>
              <a:rPr lang="en-US" b="1" dirty="0"/>
              <a:t>identify key words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follow information in order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</a:t>
            </a:r>
            <a:r>
              <a:rPr lang="en-US" b="1" dirty="0"/>
              <a:t>write exactly what you hear</a:t>
            </a:r>
            <a:r>
              <a:rPr lang="en-US" dirty="0"/>
              <a:t>.”</a:t>
            </a:r>
          </a:p>
          <a:p>
            <a:r>
              <a:rPr lang="en-US" dirty="0"/>
              <a:t>“This is why spelling, number formats,</a:t>
            </a:r>
            <a:br>
              <a:rPr lang="en-US" dirty="0"/>
            </a:br>
            <a:r>
              <a:rPr lang="en-US" dirty="0"/>
              <a:t>and word limits matter.”</a:t>
            </a:r>
          </a:p>
          <a:p>
            <a:r>
              <a:rPr lang="en-US" dirty="0"/>
              <a:t>“If you focus on accuracy instead of speed,</a:t>
            </a:r>
            <a:br>
              <a:rPr lang="en-US" dirty="0"/>
            </a:br>
            <a:r>
              <a:rPr lang="en-US" dirty="0"/>
              <a:t>your Listening score becomes much more predictable.”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54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“IELTS Listening does </a:t>
            </a:r>
            <a:r>
              <a:rPr lang="en-US" b="1" dirty="0"/>
              <a:t>not</a:t>
            </a:r>
            <a:r>
              <a:rPr lang="en-US" dirty="0"/>
              <a:t> test how much English you know.”</a:t>
            </a:r>
          </a:p>
          <a:p>
            <a:r>
              <a:rPr lang="en-US" dirty="0"/>
              <a:t>“It tests three key skills.”</a:t>
            </a:r>
          </a:p>
          <a:p>
            <a:r>
              <a:rPr lang="en-US" dirty="0"/>
              <a:t>“First, your ability to </a:t>
            </a:r>
            <a:r>
              <a:rPr lang="en-US" b="1" dirty="0"/>
              <a:t>follow information in real time</a:t>
            </a: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without pausing or replaying.”</a:t>
            </a:r>
          </a:p>
          <a:p>
            <a:r>
              <a:rPr lang="en-US" dirty="0"/>
              <a:t>“Second, your understanding of </a:t>
            </a:r>
            <a:r>
              <a:rPr lang="en-US" b="1" dirty="0"/>
              <a:t>paraphrasing</a:t>
            </a: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because the words you hear are often </a:t>
            </a:r>
            <a:r>
              <a:rPr lang="en-US" i="1" dirty="0"/>
              <a:t>different</a:t>
            </a:r>
            <a:r>
              <a:rPr lang="en-US" dirty="0"/>
              <a:t> from the words in the question.”</a:t>
            </a:r>
          </a:p>
          <a:p>
            <a:r>
              <a:rPr lang="en-US" dirty="0"/>
              <a:t>“And third, your </a:t>
            </a:r>
            <a:r>
              <a:rPr lang="en-US" b="1" dirty="0"/>
              <a:t>attention to detail</a:t>
            </a: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especially spelling, numbers, dates, and plurals.”</a:t>
            </a:r>
          </a:p>
          <a:p>
            <a:r>
              <a:rPr lang="en-US" dirty="0"/>
              <a:t>“Most listening mistakes happen for one reason.”</a:t>
            </a:r>
            <a:br>
              <a:rPr lang="en-US" dirty="0"/>
            </a:br>
            <a:r>
              <a:rPr lang="en-US" dirty="0"/>
              <a:t>“Candidates listen for </a:t>
            </a:r>
            <a:r>
              <a:rPr lang="en-US" b="1" dirty="0"/>
              <a:t>keywords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instead of listening for </a:t>
            </a:r>
            <a:r>
              <a:rPr lang="en-US" b="1" dirty="0"/>
              <a:t>meaning</a:t>
            </a:r>
            <a:r>
              <a:rPr lang="en-US" dirty="0"/>
              <a:t>.”</a:t>
            </a:r>
          </a:p>
          <a:p>
            <a:r>
              <a:rPr lang="en-US" dirty="0"/>
              <a:t>“That’s why they hear the word—</a:t>
            </a:r>
            <a:br>
              <a:rPr lang="en-US" dirty="0"/>
            </a:br>
            <a:r>
              <a:rPr lang="en-US" dirty="0"/>
              <a:t>but still choose the wrong answer.”</a:t>
            </a:r>
          </a:p>
          <a:p>
            <a:r>
              <a:rPr lang="en-US" dirty="0"/>
              <a:t>“When you change </a:t>
            </a:r>
            <a:r>
              <a:rPr lang="en-US" i="1" dirty="0"/>
              <a:t>how</a:t>
            </a:r>
            <a:r>
              <a:rPr lang="en-US" dirty="0"/>
              <a:t> you listen,</a:t>
            </a:r>
            <a:br>
              <a:rPr lang="en-US" dirty="0"/>
            </a:br>
            <a:r>
              <a:rPr lang="en-US" dirty="0"/>
              <a:t>your score changes too.”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that you understand how the Listening test works, the next step is learning how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 before the audio starts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next video, we’ll focus on: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Predicting answers before listening—the most powerful Listening strategy.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“See you in the next video.”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06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1/25/2026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1/25/2026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b="1" dirty="0"/>
              <a:t>IELTS Listening Overview | How the Listening Test Really Works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A51D2C5-1B84-4BE6-A092-2D832C9912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69B1A-331A-9790-6D35-60F1FDEC9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138" y="3976160"/>
            <a:ext cx="2966259" cy="2577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Listening Test Format</a:t>
            </a:r>
            <a:endParaRPr lang="en-US" sz="4800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5440279" cy="4572000"/>
          </a:xfrm>
        </p:spPr>
        <p:txBody>
          <a:bodyPr/>
          <a:lstStyle/>
          <a:p>
            <a:r>
              <a:rPr lang="en-US" sz="2800" dirty="0"/>
              <a:t>IELTS Listening lasts </a:t>
            </a:r>
            <a:r>
              <a:rPr lang="en-US" sz="2800" b="1" dirty="0"/>
              <a:t>30 minutes</a:t>
            </a:r>
            <a:r>
              <a:rPr lang="en-US" sz="2800" dirty="0"/>
              <a:t>, with </a:t>
            </a:r>
            <a:r>
              <a:rPr lang="en-US" sz="2800" b="1" dirty="0"/>
              <a:t>40 questions</a:t>
            </a:r>
            <a:r>
              <a:rPr lang="en-US" sz="2800" dirty="0"/>
              <a:t> in total.</a:t>
            </a:r>
          </a:p>
          <a:p>
            <a:r>
              <a:rPr lang="en-US" sz="2800" dirty="0"/>
              <a:t>If you take the paper-based test, you have </a:t>
            </a:r>
            <a:r>
              <a:rPr lang="en-US" sz="2800" b="1" dirty="0"/>
              <a:t>10 extra minutes</a:t>
            </a:r>
            <a:r>
              <a:rPr lang="en-US" sz="2800" dirty="0"/>
              <a:t> at the end to transfer your answers.</a:t>
            </a:r>
          </a:p>
          <a:p>
            <a:r>
              <a:rPr lang="en-US" sz="2800" dirty="0"/>
              <a:t>You will hear each recording </a:t>
            </a:r>
            <a:r>
              <a:rPr lang="en-US" sz="2800" b="1" dirty="0"/>
              <a:t>only once</a:t>
            </a:r>
            <a:r>
              <a:rPr lang="en-US" sz="2800" dirty="0"/>
              <a:t>, so concentration is critical.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47531A-F603-3CEB-56F6-18516443A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138" y="3976160"/>
            <a:ext cx="2966259" cy="2577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Four Sections of IELTS Listening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4280E-E400-43F2-90AA-F305B23A7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632" y="1475070"/>
            <a:ext cx="8231605" cy="523373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dirty="0"/>
              <a:t>The Listening test has four sections, and they become progressively more difficult.</a:t>
            </a:r>
          </a:p>
          <a:p>
            <a:r>
              <a:rPr lang="en-US" sz="2400" b="1" dirty="0"/>
              <a:t>Section 1</a:t>
            </a:r>
            <a:r>
              <a:rPr lang="en-US" sz="2400" dirty="0"/>
              <a:t>: A conversation in a social context, such as booking a service.</a:t>
            </a:r>
          </a:p>
          <a:p>
            <a:r>
              <a:rPr lang="en-US" sz="2400" b="1" dirty="0"/>
              <a:t>Section 2</a:t>
            </a:r>
            <a:r>
              <a:rPr lang="en-US" sz="2400" dirty="0"/>
              <a:t>: A monologue in a social context, often giving information or directions.</a:t>
            </a:r>
          </a:p>
          <a:p>
            <a:r>
              <a:rPr lang="en-US" sz="2400" b="1" dirty="0"/>
              <a:t>Section 3</a:t>
            </a:r>
            <a:r>
              <a:rPr lang="en-US" sz="2400" dirty="0"/>
              <a:t>: A conversation in an academic context, usually among students.</a:t>
            </a:r>
          </a:p>
          <a:p>
            <a:r>
              <a:rPr lang="en-US" sz="2400" b="1" dirty="0"/>
              <a:t>Section 4</a:t>
            </a:r>
            <a:r>
              <a:rPr lang="en-US" sz="2400" dirty="0"/>
              <a:t>: An academic lecture or talk.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</a:rPr>
              <a:t>NOTE!!!  As the sections progress, the language becomes faster, more complex, and more academic.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5FCDC7-0A84-B166-9062-3FDCD80CB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138" y="3976160"/>
            <a:ext cx="2966259" cy="2577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Common Question Types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261" y="1342836"/>
            <a:ext cx="4668253" cy="4571999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800" dirty="0"/>
              <a:t>The most common ones </a:t>
            </a:r>
          </a:p>
          <a:p>
            <a:r>
              <a:rPr lang="en-US" sz="2800" dirty="0"/>
              <a:t>Multiple choice</a:t>
            </a:r>
          </a:p>
          <a:p>
            <a:pPr lvl="0"/>
            <a:r>
              <a:rPr lang="en-US" sz="2800" dirty="0"/>
              <a:t>Form, note, or table completion</a:t>
            </a:r>
          </a:p>
          <a:p>
            <a:pPr lvl="0"/>
            <a:r>
              <a:rPr lang="en-US" sz="2800" dirty="0"/>
              <a:t>Sentence completion</a:t>
            </a:r>
          </a:p>
          <a:p>
            <a:pPr lvl="0"/>
            <a:r>
              <a:rPr lang="en-US" sz="2800" dirty="0"/>
              <a:t>Matching</a:t>
            </a:r>
          </a:p>
          <a:p>
            <a:pPr lvl="0"/>
            <a:r>
              <a:rPr lang="en-US" sz="2800" dirty="0"/>
              <a:t>Map or diagram labelling</a:t>
            </a:r>
          </a:p>
          <a:p>
            <a:pPr marL="0" indent="0">
              <a:buNone/>
            </a:pPr>
            <a:r>
              <a:rPr lang="en-US" sz="2800" dirty="0"/>
              <a:t>Each question type tests </a:t>
            </a:r>
            <a:r>
              <a:rPr lang="en-US" sz="2800" b="1" dirty="0"/>
              <a:t>listening accuracy</a:t>
            </a:r>
            <a:r>
              <a:rPr lang="en-US" sz="2800" dirty="0"/>
              <a:t>, not memory.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D1FDF6-48B9-F521-A9C6-96D31BD0C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4515" y="1487120"/>
            <a:ext cx="2242686" cy="2221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071391-7912-4A81-453B-B6EB3165C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738" y="4468052"/>
            <a:ext cx="4397374" cy="22259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45FD99-0555-5B62-D9D7-69F566819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13" y="1568919"/>
            <a:ext cx="4883401" cy="26730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7D13DE-DCBE-2F08-5726-637BE1DD65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366" y="4116776"/>
            <a:ext cx="2966259" cy="2577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What IELTS Listening Really Tests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6F58D8-563D-373E-BEDE-B4668725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7339220" cy="4572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/>
              <a:t>IELTS Listening does not test how much English you know.</a:t>
            </a:r>
          </a:p>
          <a:p>
            <a:pPr marL="0" indent="0">
              <a:buNone/>
            </a:pPr>
            <a:r>
              <a:rPr lang="en-US" sz="2400" dirty="0"/>
              <a:t>It tests:</a:t>
            </a:r>
          </a:p>
          <a:p>
            <a:pPr lvl="0"/>
            <a:r>
              <a:rPr lang="en-US" sz="2400" dirty="0"/>
              <a:t>Your ability to follow information in real time</a:t>
            </a:r>
          </a:p>
          <a:p>
            <a:pPr lvl="0"/>
            <a:r>
              <a:rPr lang="en-US" sz="2400" dirty="0"/>
              <a:t>Your understanding of paraphrasing</a:t>
            </a:r>
          </a:p>
          <a:p>
            <a:pPr lvl="0"/>
            <a:r>
              <a:rPr lang="en-US" sz="2400" dirty="0"/>
              <a:t>Your attention to detail—especially spelling and numbers</a:t>
            </a:r>
          </a:p>
          <a:p>
            <a:pPr marL="0" lvl="0" indent="0" algn="ctr">
              <a:buNone/>
            </a:pPr>
            <a:r>
              <a:rPr lang="en-US" sz="2400" dirty="0"/>
              <a:t>Most mistakes happen because candidates listen for </a:t>
            </a:r>
            <a:r>
              <a:rPr lang="en-US" sz="2400" b="1" dirty="0"/>
              <a:t>keywords</a:t>
            </a:r>
            <a:r>
              <a:rPr lang="en-US" sz="2400" dirty="0"/>
              <a:t>, not </a:t>
            </a:r>
            <a:r>
              <a:rPr lang="en-US" sz="2400" b="1" dirty="0"/>
              <a:t>meaning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69ADE-3D9F-9D2A-22DC-316366A22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366" y="4116776"/>
            <a:ext cx="2966259" cy="2577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45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123</TotalTime>
  <Words>1038</Words>
  <Application>Microsoft Office PowerPoint</Application>
  <PresentationFormat>Widescreen</PresentationFormat>
  <Paragraphs>82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Euphemia</vt:lpstr>
      <vt:lpstr>Plantagenet Cherokee</vt:lpstr>
      <vt:lpstr>Wingdings</vt:lpstr>
      <vt:lpstr>Academic Literature 16x9</vt:lpstr>
      <vt:lpstr>IELTS Listening Overview | How the Listening Test Really Works </vt:lpstr>
      <vt:lpstr>Listening Test Format</vt:lpstr>
      <vt:lpstr>The Four Sections of IELTS Listening</vt:lpstr>
      <vt:lpstr>Common Question Types</vt:lpstr>
      <vt:lpstr>What IELTS Listening Really Tests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April Ampong</dc:creator>
  <cp:lastModifiedBy>April Ampong</cp:lastModifiedBy>
  <cp:revision>3</cp:revision>
  <dcterms:created xsi:type="dcterms:W3CDTF">2026-01-22T13:08:09Z</dcterms:created>
  <dcterms:modified xsi:type="dcterms:W3CDTF">2026-01-25T13:43:48Z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