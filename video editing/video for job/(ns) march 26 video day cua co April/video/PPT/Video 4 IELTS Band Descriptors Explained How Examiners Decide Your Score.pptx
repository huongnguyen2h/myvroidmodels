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62323" autoAdjust="0"/>
  </p:normalViewPr>
  <p:slideViewPr>
    <p:cSldViewPr snapToGrid="0" showGuides="1">
      <p:cViewPr varScale="1">
        <p:scale>
          <a:sx n="70" d="100"/>
          <a:sy n="70" d="100"/>
        </p:scale>
        <p:origin x="1516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endParaRPr 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“Two candidates write very similar essays.</a:t>
            </a:r>
            <a:b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gets Band 6, the other Band 7.”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“The difference is not luck—and it’s not handwriting.”</a:t>
            </a:r>
          </a:p>
          <a:p>
            <a:r>
              <a:rPr 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this video, I’ll explain IELTS band descriptors, the exact criteria examiners use to decide your score.”</a:t>
            </a:r>
          </a:p>
          <a:p>
            <a:endParaRPr 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previous video, we learned what IELTS band scores mean.”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“Now we go one level deeper—because band scores come directly from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 descriptors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“If you don’t understand these descriptors, you’re studying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blindly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“Band descriptors are the official marking criteria used by IELTS examiners.”</a:t>
            </a:r>
          </a:p>
          <a:p>
            <a:r>
              <a:rPr lang="en-US" dirty="0"/>
              <a:t>“They clearly describe what performance looks like at each band level—from Band 1 to Band 9.”</a:t>
            </a:r>
          </a:p>
          <a:p>
            <a:r>
              <a:rPr lang="en-US" dirty="0"/>
              <a:t>“When examiners assess your performance, they do </a:t>
            </a:r>
            <a:r>
              <a:rPr lang="en-US" b="1" dirty="0"/>
              <a:t>not</a:t>
            </a:r>
            <a:r>
              <a:rPr lang="en-US" dirty="0"/>
              <a:t> ask,</a:t>
            </a:r>
            <a:br>
              <a:rPr lang="en-US" dirty="0"/>
            </a:br>
            <a:r>
              <a:rPr lang="en-US" dirty="0"/>
              <a:t>‘Is this essay good?’</a:t>
            </a: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r>
              <a:rPr lang="en-US" dirty="0"/>
              <a:t>‘Does this answer sound nice?’”</a:t>
            </a:r>
          </a:p>
          <a:p>
            <a:r>
              <a:rPr lang="en-US" dirty="0"/>
              <a:t>“Instead, they ask one key question:</a:t>
            </a:r>
            <a:br>
              <a:rPr lang="en-US" dirty="0"/>
            </a:br>
            <a:r>
              <a:rPr lang="en-US" dirty="0"/>
              <a:t>‘Which band descriptor does this performance match?’”</a:t>
            </a:r>
          </a:p>
          <a:p>
            <a:r>
              <a:rPr lang="en-US" dirty="0"/>
              <a:t>“That means your score is not based on opinion or comparison with other test takers.”</a:t>
            </a:r>
          </a:p>
          <a:p>
            <a:r>
              <a:rPr lang="en-US" dirty="0"/>
              <a:t>“It is based entirely on how closely your performance meets the official band descriptors.”</a:t>
            </a:r>
          </a:p>
          <a:p>
            <a:r>
              <a:rPr lang="en-US" dirty="0"/>
              <a:t>“This is why understanding the criteria is the fastest way to improve your IELTS score.”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42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IELTS Writing, examiners assess your work using </a:t>
            </a:r>
            <a:r>
              <a:rPr lang="en-US" b="1" dirty="0"/>
              <a:t>four official criteria</a:t>
            </a:r>
            <a:r>
              <a:rPr lang="en-US" dirty="0"/>
              <a:t>.”</a:t>
            </a:r>
          </a:p>
          <a:p>
            <a:r>
              <a:rPr lang="en-US" dirty="0"/>
              <a:t>“Each criterion measures a different aspect of your writing.”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First: Task Response</a:t>
            </a:r>
            <a:endParaRPr lang="en-US" dirty="0"/>
          </a:p>
          <a:p>
            <a:r>
              <a:rPr lang="en-US" dirty="0"/>
              <a:t>“Task Response checks whether you </a:t>
            </a:r>
            <a:r>
              <a:rPr lang="en-US" b="1" dirty="0"/>
              <a:t>fully answer the question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If the task asks you to discuss both views and give your opinion,</a:t>
            </a:r>
            <a:br>
              <a:rPr lang="en-US" dirty="0"/>
            </a:br>
            <a:r>
              <a:rPr lang="en-US" dirty="0"/>
              <a:t>but you discuss only one view,</a:t>
            </a:r>
            <a:br>
              <a:rPr lang="en-US" dirty="0"/>
            </a:br>
            <a:r>
              <a:rPr lang="en-US" dirty="0"/>
              <a:t>your Task Response score will be limited—even if your English is strong.”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Second: Coherence and Cohesion</a:t>
            </a:r>
            <a:endParaRPr lang="en-US" dirty="0"/>
          </a:p>
          <a:p>
            <a:r>
              <a:rPr lang="en-US" dirty="0"/>
              <a:t>“This criterion looks at how well your ideas are </a:t>
            </a:r>
            <a:r>
              <a:rPr lang="en-US" b="1" dirty="0"/>
              <a:t>organized and connected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If your ideas are logical, paragraphs are clear,</a:t>
            </a:r>
            <a:br>
              <a:rPr lang="en-US" dirty="0"/>
            </a:br>
            <a:r>
              <a:rPr lang="en-US" dirty="0"/>
              <a:t>and linking words like </a:t>
            </a:r>
            <a:r>
              <a:rPr lang="en-US" i="1" dirty="0"/>
              <a:t>however</a:t>
            </a:r>
            <a:r>
              <a:rPr lang="en-US" dirty="0"/>
              <a:t>, </a:t>
            </a:r>
            <a:r>
              <a:rPr lang="en-US" i="1" dirty="0"/>
              <a:t>for example</a:t>
            </a:r>
            <a:r>
              <a:rPr lang="en-US" dirty="0"/>
              <a:t>, and </a:t>
            </a:r>
            <a:r>
              <a:rPr lang="en-US" i="1" dirty="0"/>
              <a:t>as a result</a:t>
            </a:r>
            <a:r>
              <a:rPr lang="en-US" dirty="0"/>
              <a:t> are used naturally,</a:t>
            </a:r>
            <a:br>
              <a:rPr lang="en-US" dirty="0"/>
            </a:br>
            <a:r>
              <a:rPr lang="en-US" dirty="0"/>
              <a:t>your score improves.”</a:t>
            </a:r>
          </a:p>
          <a:p>
            <a:r>
              <a:rPr lang="en-US" dirty="0"/>
              <a:t>“But if ideas jump randomly or paragraphs are unclear,</a:t>
            </a:r>
            <a:br>
              <a:rPr lang="en-US" dirty="0"/>
            </a:br>
            <a:r>
              <a:rPr lang="en-US" dirty="0"/>
              <a:t>your band will drop.”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Third: Lexical Resource</a:t>
            </a:r>
            <a:endParaRPr lang="en-US" dirty="0"/>
          </a:p>
          <a:p>
            <a:r>
              <a:rPr lang="en-US" dirty="0"/>
              <a:t>“Lexical Resource refers to your </a:t>
            </a:r>
            <a:r>
              <a:rPr lang="en-US" b="1" dirty="0"/>
              <a:t>vocabulary range and accuracy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Using precise words like </a:t>
            </a:r>
            <a:r>
              <a:rPr lang="en-US" i="1" dirty="0"/>
              <a:t>significant increase</a:t>
            </a:r>
            <a:r>
              <a:rPr lang="en-US" dirty="0"/>
              <a:t> instead of </a:t>
            </a:r>
            <a:r>
              <a:rPr lang="en-US" i="1" dirty="0"/>
              <a:t>big change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avoiding repetition,</a:t>
            </a:r>
            <a:br>
              <a:rPr lang="en-US" dirty="0"/>
            </a:br>
            <a:r>
              <a:rPr lang="en-US" dirty="0"/>
              <a:t>shows a higher level of vocabulary.”</a:t>
            </a:r>
          </a:p>
          <a:p>
            <a:r>
              <a:rPr lang="en-US" dirty="0"/>
              <a:t>“However, using advanced words incorrectly can lower your score.”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Fourth: Grammatical Range and Accuracy</a:t>
            </a:r>
            <a:endParaRPr lang="en-US" dirty="0"/>
          </a:p>
          <a:p>
            <a:r>
              <a:rPr lang="en-US" dirty="0"/>
              <a:t>“This criterion assesses your </a:t>
            </a:r>
            <a:r>
              <a:rPr lang="en-US" b="1" dirty="0"/>
              <a:t>sentence structures and grammar control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Using a mix of simple, compound, and complex sentences accurately</a:t>
            </a:r>
            <a:br>
              <a:rPr lang="en-US" dirty="0"/>
            </a:br>
            <a:r>
              <a:rPr lang="en-US" dirty="0"/>
              <a:t>demonstrates a higher band.”</a:t>
            </a:r>
          </a:p>
          <a:p>
            <a:r>
              <a:rPr lang="en-US" dirty="0"/>
              <a:t>“But frequent grammar errors that affect meaning</a:t>
            </a:r>
            <a:br>
              <a:rPr lang="en-US" dirty="0"/>
            </a:br>
            <a:r>
              <a:rPr lang="en-US" dirty="0"/>
              <a:t>will reduce your score.”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“Each criterion is scored </a:t>
            </a:r>
            <a:r>
              <a:rPr lang="en-US" b="1" dirty="0"/>
              <a:t>separately</a:t>
            </a:r>
            <a:r>
              <a:rPr lang="en-US" dirty="0"/>
              <a:t>.”</a:t>
            </a:r>
          </a:p>
          <a:p>
            <a:r>
              <a:rPr lang="en-US" dirty="0"/>
              <a:t>“That means strong vocabulary cannot compensate for weak Task Response.”</a:t>
            </a:r>
          </a:p>
          <a:p>
            <a:r>
              <a:rPr lang="en-US" dirty="0"/>
              <a:t>“To achieve a high Writing band,</a:t>
            </a:r>
            <a:br>
              <a:rPr lang="en-US" dirty="0"/>
            </a:br>
            <a:r>
              <a:rPr lang="en-US" dirty="0"/>
              <a:t>you must meet the band descriptors in </a:t>
            </a:r>
            <a:r>
              <a:rPr lang="en-US" b="1" dirty="0"/>
              <a:t>all four criteria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9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“IELTS Speaking is also assessed using </a:t>
            </a:r>
            <a:r>
              <a:rPr lang="en-US" b="1" dirty="0"/>
              <a:t>four official criteria</a:t>
            </a:r>
            <a:r>
              <a:rPr lang="en-US" dirty="0"/>
              <a:t>.”</a:t>
            </a:r>
          </a:p>
          <a:p>
            <a:r>
              <a:rPr lang="en-US" dirty="0"/>
              <a:t>“They are:</a:t>
            </a:r>
            <a:br>
              <a:rPr lang="en-US" dirty="0"/>
            </a:br>
            <a:r>
              <a:rPr lang="en-US" b="1" dirty="0"/>
              <a:t>Fluency and Coherence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Lexical Resource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Grammatical Range and Accuracy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Pronunciation</a:t>
            </a:r>
            <a:r>
              <a:rPr lang="en-US" dirty="0"/>
              <a:t>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First: Fluency and Coherence</a:t>
            </a:r>
            <a:endParaRPr lang="en-US" dirty="0"/>
          </a:p>
          <a:p>
            <a:r>
              <a:rPr lang="en-US" dirty="0"/>
              <a:t>“This criterion measures how smoothly you speak and how well your ideas connect.”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If you can speak continuously without long pauses,</a:t>
            </a:r>
            <a:br>
              <a:rPr lang="en-US" dirty="0"/>
            </a:br>
            <a:r>
              <a:rPr lang="en-US" dirty="0"/>
              <a:t>organize your ideas logically,</a:t>
            </a:r>
            <a:br>
              <a:rPr lang="en-US" dirty="0"/>
            </a:br>
            <a:r>
              <a:rPr lang="en-US" dirty="0"/>
              <a:t>and use linking words like </a:t>
            </a:r>
            <a:r>
              <a:rPr lang="en-US" i="1" dirty="0"/>
              <a:t>first</a:t>
            </a:r>
            <a:r>
              <a:rPr lang="en-US" dirty="0"/>
              <a:t>, </a:t>
            </a:r>
            <a:r>
              <a:rPr lang="en-US" i="1" dirty="0"/>
              <a:t>because</a:t>
            </a:r>
            <a:r>
              <a:rPr lang="en-US" dirty="0"/>
              <a:t>, and </a:t>
            </a:r>
            <a:r>
              <a:rPr lang="en-US" i="1" dirty="0"/>
              <a:t>for example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your score increases.”</a:t>
            </a:r>
          </a:p>
          <a:p>
            <a:r>
              <a:rPr lang="en-US" dirty="0"/>
              <a:t>“Frequent hesitation or disconnected ideas will lower your band.”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Second: Lexical Resource</a:t>
            </a:r>
            <a:endParaRPr lang="en-US" dirty="0"/>
          </a:p>
          <a:p>
            <a:r>
              <a:rPr lang="en-US" dirty="0"/>
              <a:t>“This refers to the </a:t>
            </a:r>
            <a:r>
              <a:rPr lang="en-US" b="1" dirty="0"/>
              <a:t>range and accuracy of your vocabulary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Using topic-appropriate words and expressions naturally</a:t>
            </a:r>
            <a:br>
              <a:rPr lang="en-US" dirty="0"/>
            </a:br>
            <a:r>
              <a:rPr lang="en-US" dirty="0"/>
              <a:t>is more important than using very advanced vocabulary.”</a:t>
            </a:r>
          </a:p>
          <a:p>
            <a:r>
              <a:rPr lang="en-US" dirty="0"/>
              <a:t>“Memorized or unnatural phrases are easily noticed by examiners.”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Third: Grammatical Range and Accuracy</a:t>
            </a:r>
            <a:endParaRPr lang="en-US" dirty="0"/>
          </a:p>
          <a:p>
            <a:r>
              <a:rPr lang="en-US" dirty="0"/>
              <a:t>“This criterion looks at how well you control </a:t>
            </a:r>
            <a:r>
              <a:rPr lang="en-US" b="1" dirty="0"/>
              <a:t>sentence structures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Using a mix of simple and complex sentences accurately</a:t>
            </a:r>
            <a:br>
              <a:rPr lang="en-US" dirty="0"/>
            </a:br>
            <a:r>
              <a:rPr lang="en-US" dirty="0"/>
              <a:t>shows a higher band.”</a:t>
            </a:r>
          </a:p>
          <a:p>
            <a:r>
              <a:rPr lang="en-US" dirty="0"/>
              <a:t>“However, constant grammar errors that affect meaning</a:t>
            </a:r>
            <a:br>
              <a:rPr lang="en-US" dirty="0"/>
            </a:br>
            <a:r>
              <a:rPr lang="en-US" dirty="0"/>
              <a:t>will reduce your score.”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Fourth: Pronunciation</a:t>
            </a:r>
            <a:endParaRPr lang="en-US" dirty="0"/>
          </a:p>
          <a:p>
            <a:r>
              <a:rPr lang="en-US" dirty="0"/>
              <a:t>“Pronunciation is about being </a:t>
            </a:r>
            <a:r>
              <a:rPr lang="en-US" b="1" dirty="0"/>
              <a:t>clear and easy to understand</a:t>
            </a:r>
            <a:r>
              <a:rPr lang="en-US" dirty="0"/>
              <a:t>—not about having a perfect accent.”</a:t>
            </a:r>
          </a:p>
          <a:p>
            <a:r>
              <a:rPr lang="en-US" dirty="0"/>
              <a:t>“</a:t>
            </a:r>
            <a:r>
              <a:rPr lang="en-US" dirty="0" err="1"/>
              <a:t>Forexample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Clear word stress, sentence stress, and natural intonation</a:t>
            </a:r>
            <a:br>
              <a:rPr lang="en-US" dirty="0"/>
            </a:br>
            <a:r>
              <a:rPr lang="en-US" dirty="0"/>
              <a:t>help the examiner understand you easily.”</a:t>
            </a:r>
          </a:p>
          <a:p>
            <a:r>
              <a:rPr lang="en-US" dirty="0"/>
              <a:t>“Strong pronunciation supports communication,</a:t>
            </a:r>
            <a:br>
              <a:rPr lang="en-US" dirty="0"/>
            </a:br>
            <a:r>
              <a:rPr lang="en-US" dirty="0"/>
              <a:t>while unclear speech makes understanding difficult.”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“IELTS Speaking is </a:t>
            </a:r>
            <a:r>
              <a:rPr lang="en-US" b="1" dirty="0"/>
              <a:t>not about memorizing answers</a:t>
            </a:r>
            <a:r>
              <a:rPr lang="en-US" dirty="0"/>
              <a:t>.”</a:t>
            </a:r>
          </a:p>
          <a:p>
            <a:r>
              <a:rPr lang="en-US" dirty="0"/>
              <a:t>“Examiners listen for:</a:t>
            </a:r>
            <a:br>
              <a:rPr lang="en-US" dirty="0"/>
            </a:br>
            <a:r>
              <a:rPr lang="en-US" b="1" dirty="0"/>
              <a:t>clear ideas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logical development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natural communication</a:t>
            </a:r>
            <a:r>
              <a:rPr lang="en-US" dirty="0"/>
              <a:t>.”</a:t>
            </a:r>
          </a:p>
          <a:p>
            <a:r>
              <a:rPr lang="en-US" dirty="0"/>
              <a:t>“The more naturally you communicate,</a:t>
            </a:r>
            <a:br>
              <a:rPr lang="en-US" dirty="0"/>
            </a:br>
            <a:r>
              <a:rPr lang="en-US" dirty="0"/>
              <a:t>the higher your Speaking score will be.”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75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“Here’s why many IELTS candidates get stuck at </a:t>
            </a:r>
            <a:r>
              <a:rPr lang="en-US" b="1" dirty="0"/>
              <a:t>Band 6</a:t>
            </a:r>
            <a:r>
              <a:rPr lang="en-US" dirty="0"/>
              <a:t>.”</a:t>
            </a:r>
          </a:p>
          <a:p>
            <a:r>
              <a:rPr lang="en-US" dirty="0"/>
              <a:t>“They focus on the </a:t>
            </a:r>
            <a:r>
              <a:rPr lang="en-US" b="1" dirty="0"/>
              <a:t>wrong things</a:t>
            </a:r>
            <a:r>
              <a:rPr lang="en-US" dirty="0"/>
              <a:t>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“They use </a:t>
            </a:r>
            <a:r>
              <a:rPr lang="en-US" b="1" dirty="0"/>
              <a:t>big words instead of clear ideas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A candidate memorizes advanced vocabulary like </a:t>
            </a:r>
            <a:r>
              <a:rPr lang="en-US" i="1" dirty="0"/>
              <a:t>ubiquitous</a:t>
            </a:r>
            <a:r>
              <a:rPr lang="en-US" dirty="0"/>
              <a:t> or </a:t>
            </a:r>
            <a:r>
              <a:rPr lang="en-US" i="1" dirty="0"/>
              <a:t>ameliorate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but fails to clearly explain their main point.”</a:t>
            </a:r>
          </a:p>
          <a:p>
            <a:r>
              <a:rPr lang="en-US" dirty="0"/>
              <a:t>“The examiner values </a:t>
            </a:r>
            <a:r>
              <a:rPr lang="en-US" b="1" dirty="0"/>
              <a:t>clarity of meaning</a:t>
            </a:r>
            <a:r>
              <a:rPr lang="en-US" dirty="0"/>
              <a:t>, not impressive words.”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“They use </a:t>
            </a:r>
            <a:r>
              <a:rPr lang="en-US" b="1" dirty="0"/>
              <a:t>complex grammar instead of accurate grammar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A candidate tries long, complicated sentences,</a:t>
            </a:r>
            <a:br>
              <a:rPr lang="en-US" dirty="0"/>
            </a:br>
            <a:r>
              <a:rPr lang="en-US" dirty="0"/>
              <a:t>but makes frequent tense or agreement errors.”</a:t>
            </a:r>
          </a:p>
          <a:p>
            <a:r>
              <a:rPr lang="en-US" dirty="0"/>
              <a:t>“A simple, correct sentence scores higher</a:t>
            </a:r>
            <a:br>
              <a:rPr lang="en-US" dirty="0"/>
            </a:br>
            <a:r>
              <a:rPr lang="en-US" dirty="0"/>
              <a:t>than a complex sentence full of mistakes.”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“They try to </a:t>
            </a:r>
            <a:r>
              <a:rPr lang="en-US" b="1" dirty="0"/>
              <a:t>speak fast instead of speaking clearly</a:t>
            </a:r>
            <a:r>
              <a:rPr lang="en-US" dirty="0"/>
              <a:t>.”</a:t>
            </a:r>
          </a:p>
          <a:p>
            <a:r>
              <a:rPr lang="en-US" dirty="0"/>
              <a:t>“For example:</a:t>
            </a:r>
            <a:br>
              <a:rPr lang="en-US" dirty="0"/>
            </a:br>
            <a:r>
              <a:rPr lang="en-US" dirty="0"/>
              <a:t>A candidate rushes through answers,</a:t>
            </a:r>
            <a:br>
              <a:rPr lang="en-US" dirty="0"/>
            </a:br>
            <a:r>
              <a:rPr lang="en-US" dirty="0"/>
              <a:t>mispronounces key words,</a:t>
            </a:r>
            <a:br>
              <a:rPr lang="en-US" dirty="0"/>
            </a:br>
            <a:r>
              <a:rPr lang="en-US" dirty="0"/>
              <a:t>and does not organize ideas logically.”</a:t>
            </a:r>
          </a:p>
          <a:p>
            <a:r>
              <a:rPr lang="en-US" dirty="0"/>
              <a:t>“Speaking slightly slower with clear pronunciation</a:t>
            </a:r>
            <a:br>
              <a:rPr lang="en-US" dirty="0"/>
            </a:br>
            <a:r>
              <a:rPr lang="en-US" dirty="0"/>
              <a:t>leads to better understanding—and a higher score.”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“Band 7 and above is </a:t>
            </a:r>
            <a:r>
              <a:rPr lang="en-US" b="1" dirty="0"/>
              <a:t>not about perfection</a:t>
            </a:r>
            <a:r>
              <a:rPr lang="en-US" dirty="0"/>
              <a:t>.”</a:t>
            </a:r>
          </a:p>
          <a:p>
            <a:r>
              <a:rPr lang="en-US" dirty="0"/>
              <a:t>“It’s about </a:t>
            </a:r>
            <a:r>
              <a:rPr lang="en-US" b="1" dirty="0"/>
              <a:t>control</a:t>
            </a:r>
            <a:r>
              <a:rPr lang="en-US" dirty="0"/>
              <a:t>.”</a:t>
            </a:r>
          </a:p>
          <a:p>
            <a:r>
              <a:rPr lang="en-US" dirty="0"/>
              <a:t>“Control of ideas.</a:t>
            </a:r>
            <a:br>
              <a:rPr lang="en-US" dirty="0"/>
            </a:br>
            <a:r>
              <a:rPr lang="en-US" dirty="0"/>
              <a:t>Control of grammar.</a:t>
            </a:r>
            <a:br>
              <a:rPr lang="en-US" dirty="0"/>
            </a:br>
            <a:r>
              <a:rPr lang="en-US" dirty="0"/>
              <a:t>Control of vocabulary.</a:t>
            </a:r>
            <a:br>
              <a:rPr lang="en-US" dirty="0"/>
            </a:br>
            <a:r>
              <a:rPr lang="en-US" dirty="0"/>
              <a:t>Control of pronunciation.”</a:t>
            </a:r>
          </a:p>
          <a:p>
            <a:r>
              <a:rPr lang="en-US" dirty="0"/>
              <a:t>“When you communicate clearly and accurately,</a:t>
            </a:r>
            <a:br>
              <a:rPr lang="en-US" dirty="0"/>
            </a:br>
            <a:r>
              <a:rPr lang="en-US" dirty="0"/>
              <a:t>you move beyond Band 6.”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you know how examiners decide your score.”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the next video, we’ll look at something just as important: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👉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IELTS test format and timing—and where most candidates lose points before the test even ends.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“See you in the next video.”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3152" y="2292094"/>
            <a:ext cx="6765798" cy="221969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IELTS Band Descriptors Explained | How Examiners Decide Your Score</a:t>
            </a:r>
            <a:endParaRPr lang="en-US" b="1" dirty="0">
              <a:latin typeface="Bahnschrift" panose="020B0502040204020203" pitchFamily="34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CDF230-E454-24C3-487A-2CC6B5135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833" y="3817833"/>
            <a:ext cx="3040167" cy="304016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Band Descriptors?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Band descriptors are </a:t>
            </a:r>
            <a:r>
              <a:rPr lang="en-US" b="1" dirty="0"/>
              <a:t>official marking criteria</a:t>
            </a:r>
            <a:r>
              <a:rPr lang="en-US" dirty="0"/>
              <a:t> used by IELTS examiners.</a:t>
            </a:r>
          </a:p>
          <a:p>
            <a:pPr marL="0" indent="0">
              <a:buNone/>
            </a:pPr>
            <a:r>
              <a:rPr lang="en-US" dirty="0"/>
              <a:t>They describe what performance looks like at </a:t>
            </a:r>
            <a:r>
              <a:rPr lang="en-US" b="1" dirty="0"/>
              <a:t>each band level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“Examiners do not ask:</a:t>
            </a:r>
            <a:br>
              <a:rPr lang="en-US" dirty="0"/>
            </a:br>
            <a:r>
              <a:rPr lang="en-US" dirty="0"/>
              <a:t>‘Is this essay good?’</a:t>
            </a:r>
            <a:br>
              <a:rPr lang="en-US" dirty="0"/>
            </a:br>
            <a:r>
              <a:rPr lang="en-US" dirty="0"/>
              <a:t>They ask:</a:t>
            </a:r>
            <a:br>
              <a:rPr lang="en-US" dirty="0"/>
            </a:br>
            <a:r>
              <a:rPr lang="en-US" dirty="0"/>
              <a:t>Which band descriptor does this performance match?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B6FB0-B585-3F7C-8144-2C147AEB1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225" y="4782312"/>
            <a:ext cx="2189775" cy="21897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Band Descriptors for Writing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07397-B2A5-B2B6-ECDF-F18834C3D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716" y="1426464"/>
            <a:ext cx="9982200" cy="4572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In IELTS Writing, examiners use four criteria.”</a:t>
            </a:r>
          </a:p>
          <a:p>
            <a:pPr marL="0" indent="0">
              <a:buNone/>
            </a:pPr>
            <a:r>
              <a:rPr lang="en-US" b="1" dirty="0"/>
              <a:t>They are:</a:t>
            </a:r>
          </a:p>
          <a:p>
            <a:pPr lvl="0"/>
            <a:r>
              <a:rPr lang="en-US" dirty="0"/>
              <a:t>Task Response</a:t>
            </a:r>
          </a:p>
          <a:p>
            <a:pPr lvl="0"/>
            <a:r>
              <a:rPr lang="en-US" dirty="0"/>
              <a:t>Coherence and Cohesion</a:t>
            </a:r>
          </a:p>
          <a:p>
            <a:pPr lvl="0"/>
            <a:r>
              <a:rPr lang="en-US" dirty="0"/>
              <a:t>Lexical Resource</a:t>
            </a:r>
          </a:p>
          <a:p>
            <a:pPr lvl="0"/>
            <a:r>
              <a:rPr lang="en-US" dirty="0"/>
              <a:t>Grammatical Range and Accuracy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Each criterion is scored separately—and then combined into your final Writing band score.-This means: Strong vocabulary cannot compensate for weak task response.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59BE3-F0CD-ADC5-4D05-530E4B9DB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225" y="4782312"/>
            <a:ext cx="2189775" cy="21897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Band Descriptors for Speaking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514E0B-3D91-58B4-C14A-DEF594972481}"/>
              </a:ext>
            </a:extLst>
          </p:cNvPr>
          <p:cNvSpPr txBox="1"/>
          <p:nvPr/>
        </p:nvSpPr>
        <p:spPr>
          <a:xfrm>
            <a:off x="1783830" y="1948721"/>
            <a:ext cx="89791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IELTS Speaking also has </a:t>
            </a:r>
            <a:r>
              <a:rPr lang="en-US" b="1" dirty="0"/>
              <a:t>four criteria</a:t>
            </a:r>
            <a:r>
              <a:rPr lang="en-US" dirty="0"/>
              <a:t>.”</a:t>
            </a:r>
          </a:p>
          <a:p>
            <a:r>
              <a:rPr lang="en-US" dirty="0"/>
              <a:t>They are: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Fluency and Coherence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Lexical Resource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Grammatical Range and Accuracy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Pronunciation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Speaking is </a:t>
            </a:r>
            <a:r>
              <a:rPr lang="en-US" b="1" dirty="0"/>
              <a:t>not about memorizing answers</a:t>
            </a:r>
            <a:r>
              <a:rPr lang="en-US" dirty="0"/>
              <a:t>.”</a:t>
            </a:r>
          </a:p>
          <a:p>
            <a:r>
              <a:rPr lang="en-US" dirty="0"/>
              <a:t>Examiners listen for: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Clear ideas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Logical development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dirty="0"/>
              <a:t>Natural communication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FC5F8C-F9DB-6027-17B4-C43664E9C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225" y="4782312"/>
            <a:ext cx="2189775" cy="21897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F227BA-293A-D22B-5B3D-EAE98502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Many Candidates Lose Marks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A2054A-C3AE-928F-F9F2-6F17BBC37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Here’s why many candidates get stuck at Band 6.</a:t>
            </a:r>
          </a:p>
          <a:p>
            <a:pPr marL="0" indent="0">
              <a:buNone/>
            </a:pPr>
            <a:r>
              <a:rPr lang="en-US" dirty="0"/>
              <a:t>They focus on:</a:t>
            </a:r>
          </a:p>
          <a:p>
            <a:pPr lvl="0"/>
            <a:r>
              <a:rPr lang="en-US" dirty="0"/>
              <a:t>Big words instead of clear ideas</a:t>
            </a:r>
          </a:p>
          <a:p>
            <a:pPr lvl="0"/>
            <a:r>
              <a:rPr lang="en-US" dirty="0"/>
              <a:t>Complex grammar instead of accurate grammar</a:t>
            </a:r>
          </a:p>
          <a:p>
            <a:pPr lvl="0"/>
            <a:r>
              <a:rPr lang="en-US" dirty="0"/>
              <a:t>Speaking fast instead of speaking clearly”</a:t>
            </a:r>
          </a:p>
          <a:p>
            <a:r>
              <a:rPr lang="en-US" dirty="0"/>
              <a:t>“Band 7 and above requires </a:t>
            </a:r>
            <a:r>
              <a:rPr lang="en-US" b="1" dirty="0"/>
              <a:t>control</a:t>
            </a:r>
            <a:r>
              <a:rPr lang="en-US" dirty="0"/>
              <a:t>, not perfection.”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31CBD4-A882-482A-461A-534D56076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225" y="4782312"/>
            <a:ext cx="2189775" cy="21897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245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101</TotalTime>
  <Words>1340</Words>
  <Application>Microsoft Office PowerPoint</Application>
  <PresentationFormat>Widescreen</PresentationFormat>
  <Paragraphs>133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Euphemia</vt:lpstr>
      <vt:lpstr>Plantagenet Cherokee</vt:lpstr>
      <vt:lpstr>Wingdings</vt:lpstr>
      <vt:lpstr>Academic Literature 16x9</vt:lpstr>
      <vt:lpstr>IELTS Band Descriptors Explained | How Examiners Decide Your Score</vt:lpstr>
      <vt:lpstr>What Are Band Descriptors?</vt:lpstr>
      <vt:lpstr>Band Descriptors for Writing</vt:lpstr>
      <vt:lpstr>Band Descriptors for Speaking</vt:lpstr>
      <vt:lpstr>Why Many Candidates Lose 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April Ampong</dc:creator>
  <cp:lastModifiedBy>April Ampong</cp:lastModifiedBy>
  <cp:revision>3</cp:revision>
  <dcterms:created xsi:type="dcterms:W3CDTF">2026-01-16T02:25:21Z</dcterms:created>
  <dcterms:modified xsi:type="dcterms:W3CDTF">2026-01-16T13:32:27Z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