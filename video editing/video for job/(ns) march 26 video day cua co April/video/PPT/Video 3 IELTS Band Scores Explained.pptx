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6" r:id="rId10"/>
    <p:sldId id="268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69598" autoAdjust="0"/>
  </p:normalViewPr>
  <p:slideViewPr>
    <p:cSldViewPr snapToGrid="0" showGuides="1">
      <p:cViewPr varScale="1">
        <p:scale>
          <a:sx n="79" d="100"/>
          <a:sy n="79" d="100"/>
        </p:scale>
        <p:origin x="102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“Hello, my name is 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April Ampong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I’m an instructor at 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IELTS NINER REVIEW CENTER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b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international-standard IELTS training system that helps learners progress 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beginner level to Band 7.0–9.0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most time-efficient way.”</a:t>
            </a:r>
          </a:p>
          <a:p>
            <a:endParaRPr lang="en-US" sz="1600" b="1" i="1" dirty="0">
              <a:latin typeface="Arial" pitchFamily="34" charset="0"/>
              <a:cs typeface="Arial" pitchFamily="34" charset="0"/>
            </a:endParaRPr>
          </a:p>
          <a:p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“Is Band 6 good enough?</a:t>
            </a:r>
            <a:b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Band 7 really hard?</a:t>
            </a:r>
            <a:b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what does Band 8 actually mean in real life?”</a:t>
            </a:r>
          </a:p>
          <a:p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“Many IELTS candidates focus only on the final number, without understanding 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that number represents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—and that’s why progress is often slow.”</a:t>
            </a:r>
          </a:p>
          <a:p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this video, I’ll explain 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IELTS band scores clearly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you know exactly 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you are and what you need to improve</a:t>
            </a:r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n-US" sz="1600" b="1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previous video, we learned how to choose between IELTS Academic and IELTS General Training.”</a:t>
            </a:r>
          </a:p>
          <a:p>
            <a:r>
              <a:rPr lang="en-US" sz="18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“Once you’ve chosen the right test, the next step is understanding IELTS band scores—because your entire study plan depends on this.”</a:t>
            </a:r>
          </a:p>
          <a:p>
            <a:endParaRPr lang="en-US" sz="18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800" b="1" i="1" dirty="0"/>
              <a:t>“So, how does IELTS scoring work?</a:t>
            </a:r>
            <a:br>
              <a:rPr lang="en-US" sz="1800" b="1" dirty="0"/>
            </a:br>
            <a:r>
              <a:rPr lang="en-US" sz="1800" b="1" i="1" dirty="0"/>
              <a:t>IELTS uses a 9-band scoring system, from Band 1 to Band 9.</a:t>
            </a:r>
            <a:br>
              <a:rPr lang="en-US" sz="1800" b="1" dirty="0"/>
            </a:br>
            <a:r>
              <a:rPr lang="en-US" sz="1800" b="1" i="1" dirty="0"/>
              <a:t>Each band represents a level of English ability—it’s not a percentage score, and it’s not about passing or failing.</a:t>
            </a:r>
            <a:br>
              <a:rPr lang="en-US" sz="1800" b="1" dirty="0"/>
            </a:br>
            <a:r>
              <a:rPr lang="en-US" sz="1800" b="1" i="1" dirty="0"/>
              <a:t>After the test, you’ll receive a separate band score for each skill: Listening, Reading, Writing, and Speaking.</a:t>
            </a:r>
            <a:br>
              <a:rPr lang="en-US" sz="1800" b="1" dirty="0"/>
            </a:br>
            <a:r>
              <a:rPr lang="en-US" sz="1800" b="1" i="1" dirty="0"/>
              <a:t>Then, all of these are combined to give you one overall band score.</a:t>
            </a:r>
            <a:br>
              <a:rPr lang="en-US" sz="1800" b="1" dirty="0"/>
            </a:br>
            <a:r>
              <a:rPr lang="en-US" sz="1800" b="1" i="1" dirty="0"/>
              <a:t>This overall score shows your general level of English and is the score universities, employers, and immigration offices usually look at.”</a:t>
            </a:r>
            <a:endParaRPr lang="en-US" sz="18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40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i="1" dirty="0"/>
              <a:t>“Let us now take a closer look at what common IELTS band scores actually represent.</a:t>
            </a:r>
            <a:br>
              <a:rPr lang="en-US" sz="1800" b="1" dirty="0"/>
            </a:br>
            <a:r>
              <a:rPr lang="en-US" sz="1800" b="1" i="1" dirty="0"/>
              <a:t>These are the band levels that most candidates aim for, depending on their academic, professional, or immigration goals.</a:t>
            </a:r>
            <a:endParaRPr lang="en-US" sz="1800" b="1" dirty="0"/>
          </a:p>
          <a:p>
            <a:r>
              <a:rPr lang="en-US" sz="1800" b="1" i="1" dirty="0"/>
              <a:t>Beginning with Band 5:</a:t>
            </a:r>
            <a:br>
              <a:rPr lang="en-US" sz="1800" b="1" dirty="0"/>
            </a:br>
            <a:r>
              <a:rPr lang="en-US" sz="1800" b="1" i="1" dirty="0"/>
              <a:t>A Band 5 score indicates that the candidate is able to communicate basic ideas in English.</a:t>
            </a:r>
            <a:br>
              <a:rPr lang="en-US" sz="1800" b="1" dirty="0"/>
            </a:br>
            <a:r>
              <a:rPr lang="en-US" sz="1800" b="1" i="1" dirty="0"/>
              <a:t>However, frequent grammatical and lexical errors are evident, and language control is limited.</a:t>
            </a:r>
            <a:br>
              <a:rPr lang="en-US" sz="1800" b="1" dirty="0"/>
            </a:br>
            <a:r>
              <a:rPr lang="en-US" sz="1800" b="1" i="1" dirty="0"/>
              <a:t>Although the general meaning is usually understandable, inaccuracies may sometimes affect clarity, particularly in more complex situations.</a:t>
            </a:r>
            <a:endParaRPr lang="en-US" sz="1800" b="1" dirty="0"/>
          </a:p>
          <a:p>
            <a:r>
              <a:rPr lang="en-US" sz="1800" b="1" i="1" dirty="0"/>
              <a:t>Moving on to Band 6:</a:t>
            </a:r>
            <a:br>
              <a:rPr lang="en-US" sz="1800" b="1" dirty="0"/>
            </a:br>
            <a:r>
              <a:rPr lang="en-US" sz="1800" b="1" i="1" dirty="0"/>
              <a:t>A Band 6 score describes an effective user of English.</a:t>
            </a:r>
            <a:br>
              <a:rPr lang="en-US" sz="1800" b="1" dirty="0"/>
            </a:br>
            <a:r>
              <a:rPr lang="en-US" sz="1800" b="1" i="1" dirty="0"/>
              <a:t>At this level, the candidate can communicate competently in most everyday and academic contexts.</a:t>
            </a:r>
            <a:br>
              <a:rPr lang="en-US" sz="1800" b="1" dirty="0"/>
            </a:br>
            <a:r>
              <a:rPr lang="en-US" sz="1800" b="1" i="1" dirty="0"/>
              <a:t>Nevertheless, accuracy and consistency are not yet fully developed, and errors may increase when the language demands become more challenging.</a:t>
            </a:r>
            <a:endParaRPr lang="en-US" sz="1800" b="1" dirty="0"/>
          </a:p>
          <a:p>
            <a:r>
              <a:rPr lang="en-US" sz="1800" b="1" i="1" dirty="0"/>
              <a:t>Next is Band 7:</a:t>
            </a:r>
            <a:br>
              <a:rPr lang="en-US" sz="1800" b="1" dirty="0"/>
            </a:br>
            <a:r>
              <a:rPr lang="en-US" sz="1800" b="1" i="1" dirty="0"/>
              <a:t>A Band 7 score reflects a good user of English.</a:t>
            </a:r>
            <a:br>
              <a:rPr lang="en-US" sz="1800" b="1" dirty="0"/>
            </a:br>
            <a:r>
              <a:rPr lang="en-US" sz="1800" b="1" i="1" dirty="0"/>
              <a:t>The candidate is able to express ideas clearly and logically, with a strong level of control over grammar and vocabulary.</a:t>
            </a:r>
            <a:br>
              <a:rPr lang="en-US" sz="1800" b="1" dirty="0"/>
            </a:br>
            <a:r>
              <a:rPr lang="en-US" sz="1800" b="1" i="1" dirty="0"/>
              <a:t>Errors occur only occasionally and rarely interfere with communication.</a:t>
            </a:r>
            <a:br>
              <a:rPr lang="en-US" sz="1800" b="1" dirty="0"/>
            </a:br>
            <a:r>
              <a:rPr lang="en-US" sz="1800" b="1" i="1" dirty="0"/>
              <a:t>This band score is commonly required by universities, professional bodies, and employers.</a:t>
            </a:r>
            <a:endParaRPr lang="en-US" sz="1800" b="1" dirty="0"/>
          </a:p>
          <a:p>
            <a:r>
              <a:rPr lang="en-US" sz="1800" b="1" i="1" dirty="0"/>
              <a:t>Then we have Band 8:</a:t>
            </a:r>
            <a:br>
              <a:rPr lang="en-US" sz="1800" b="1" dirty="0"/>
            </a:br>
            <a:r>
              <a:rPr lang="en-US" sz="1800" b="1" i="1" dirty="0"/>
              <a:t>A Band 8 score represents a very good user of English.</a:t>
            </a:r>
            <a:br>
              <a:rPr lang="en-US" sz="1800" b="1" dirty="0"/>
            </a:br>
            <a:r>
              <a:rPr lang="en-US" sz="1800" b="1" i="1" dirty="0"/>
              <a:t>Language use at this level is fluent, natural, and highly accurate.</a:t>
            </a:r>
            <a:br>
              <a:rPr lang="en-US" sz="1800" b="1" dirty="0"/>
            </a:br>
            <a:r>
              <a:rPr lang="en-US" sz="1800" b="1" i="1" dirty="0"/>
              <a:t>The candidate can handle complex language structures with confidence, and errors are rare and minor.</a:t>
            </a:r>
            <a:endParaRPr lang="en-US" sz="1800" b="1" dirty="0"/>
          </a:p>
          <a:p>
            <a:r>
              <a:rPr lang="en-US" sz="1800" b="1" i="1" dirty="0"/>
              <a:t>It is important to </a:t>
            </a:r>
            <a:r>
              <a:rPr lang="en-US" sz="1800" b="1" i="1" dirty="0" err="1"/>
              <a:t>emphasise</a:t>
            </a:r>
            <a:r>
              <a:rPr lang="en-US" sz="1800" b="1" i="1" dirty="0"/>
              <a:t> that progression between IELTS band scores is not determined simply by vocabulary size.</a:t>
            </a:r>
            <a:br>
              <a:rPr lang="en-US" sz="1800" b="1" dirty="0"/>
            </a:br>
            <a:r>
              <a:rPr lang="en-US" sz="1800" b="1" i="1" dirty="0"/>
              <a:t>Rather, higher bands reflect greater accuracy, consistency, and control over the language, as well as the ability to use English effectively in a wide range of situations.”</a:t>
            </a:r>
            <a:endParaRPr lang="en-US" sz="1800" b="1" dirty="0"/>
          </a:p>
          <a:p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35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i="1" dirty="0"/>
              <a:t>Your overall IELTS band score is calculated by taking the average of your four individual skill scores: Listening, Reading, Writing, and Speaking.</a:t>
            </a:r>
            <a:br>
              <a:rPr lang="en-US" sz="1600" b="1" dirty="0"/>
            </a:br>
            <a:r>
              <a:rPr lang="en-US" sz="1600" b="1" i="1" dirty="0"/>
              <a:t>This average score is then rounded to the nearest half band.</a:t>
            </a:r>
            <a:endParaRPr lang="en-US" sz="1600" b="1" dirty="0"/>
          </a:p>
          <a:p>
            <a:r>
              <a:rPr lang="en-US" sz="1600" b="1" i="1" dirty="0"/>
              <a:t>For example, an average score of 6.25 is rounded up to 6.5,</a:t>
            </a:r>
            <a:br>
              <a:rPr lang="en-US" sz="1600" b="1" dirty="0"/>
            </a:br>
            <a:r>
              <a:rPr lang="en-US" sz="1600" b="1" i="1" dirty="0"/>
              <a:t>while an average of 6.75 is rounded up to a Band 7.0.</a:t>
            </a:r>
            <a:endParaRPr lang="en-US" sz="1600" b="1" dirty="0"/>
          </a:p>
          <a:p>
            <a:r>
              <a:rPr lang="en-US" sz="1600" b="1" i="1" dirty="0"/>
              <a:t>This scoring method highlights an important point:</a:t>
            </a:r>
            <a:br>
              <a:rPr lang="en-US" sz="1600" b="1" dirty="0"/>
            </a:br>
            <a:r>
              <a:rPr lang="en-US" sz="1600" b="1" i="1" dirty="0"/>
              <a:t>Every skill contributes equally to your final result.</a:t>
            </a:r>
            <a:br>
              <a:rPr lang="en-US" sz="1600" b="1" dirty="0"/>
            </a:br>
            <a:r>
              <a:rPr lang="en-US" sz="1600" b="1" i="1" dirty="0"/>
              <a:t>As a result, a weaker performance in one skill can significantly affect your overall band score, even if your other skills are strong.</a:t>
            </a:r>
            <a:endParaRPr lang="en-US" sz="1600" b="1" dirty="0"/>
          </a:p>
          <a:p>
            <a:r>
              <a:rPr lang="en-US" sz="1600" b="1" i="1" dirty="0"/>
              <a:t>For this reason, balanced preparation across all four skills is essential in order to achieve your target IELTS band score.”</a:t>
            </a:r>
            <a:endParaRPr lang="en-US" sz="1600" b="1" dirty="0"/>
          </a:p>
          <a:p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1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/>
              <a:t>“Here is an important truth that many IELTS candidates do not fully </a:t>
            </a:r>
            <a:r>
              <a:rPr lang="en-US" b="1" i="1" dirty="0" err="1"/>
              <a:t>realise</a:t>
            </a:r>
            <a:r>
              <a:rPr lang="en-US" b="1" i="1" dirty="0"/>
              <a:t>.</a:t>
            </a:r>
            <a:br>
              <a:rPr lang="en-US" b="1" dirty="0"/>
            </a:br>
            <a:r>
              <a:rPr lang="en-US" b="1" i="1" dirty="0"/>
              <a:t>IELTS is not a competitive exam, and it does not rank candidates against one another.</a:t>
            </a:r>
            <a:br>
              <a:rPr lang="en-US" b="1" dirty="0"/>
            </a:br>
            <a:r>
              <a:rPr lang="en-US" b="1" i="1" dirty="0"/>
              <a:t>You are not competing with other test takers sitting the exam on the same day.</a:t>
            </a:r>
            <a:endParaRPr lang="en-US" b="1" dirty="0"/>
          </a:p>
          <a:p>
            <a:r>
              <a:rPr lang="en-US" b="1" i="1" dirty="0"/>
              <a:t>Instead, IELTS is a standards-based assessment.</a:t>
            </a:r>
            <a:br>
              <a:rPr lang="en-US" b="1" dirty="0"/>
            </a:br>
            <a:r>
              <a:rPr lang="en-US" b="1" i="1" dirty="0"/>
              <a:t>Your performance is measured against official IELTS band descriptors—</a:t>
            </a:r>
            <a:br>
              <a:rPr lang="en-US" b="1" dirty="0"/>
            </a:br>
            <a:r>
              <a:rPr lang="en-US" b="1" i="1" dirty="0"/>
              <a:t>these are detailed criteria published by the test makers that describe what performance looks like at each band level for every skill.</a:t>
            </a:r>
            <a:endParaRPr lang="en-US" b="1" dirty="0"/>
          </a:p>
          <a:p>
            <a:r>
              <a:rPr lang="en-US" b="1" i="1" dirty="0"/>
              <a:t>Examiners use these band descriptors to assess your Listening, Reading, Writing, and Speaking independently.</a:t>
            </a:r>
            <a:br>
              <a:rPr lang="en-US" b="1" dirty="0"/>
            </a:br>
            <a:r>
              <a:rPr lang="en-US" b="1" i="1" dirty="0"/>
              <a:t>They evaluate factors such as task achievement, coherence, grammatical range and accuracy, vocabulary use, fluency, and pronunciation—</a:t>
            </a:r>
            <a:br>
              <a:rPr lang="en-US" b="1" dirty="0"/>
            </a:br>
            <a:r>
              <a:rPr lang="en-US" b="1" i="1" dirty="0"/>
              <a:t>not how well or how poorly other candidates perform.</a:t>
            </a:r>
            <a:endParaRPr lang="en-US" b="1" dirty="0"/>
          </a:p>
          <a:p>
            <a:r>
              <a:rPr lang="en-US" b="1" i="1" dirty="0"/>
              <a:t>This means that if your performance clearly meets the criteria for a particular band score, you will receive that band,</a:t>
            </a:r>
            <a:br>
              <a:rPr lang="en-US" b="1" dirty="0"/>
            </a:br>
            <a:r>
              <a:rPr lang="en-US" b="1" i="1" dirty="0"/>
              <a:t>regardless of how many other candidates score higher or lower than you.</a:t>
            </a:r>
            <a:endParaRPr lang="en-US" b="1" dirty="0"/>
          </a:p>
          <a:p>
            <a:r>
              <a:rPr lang="en-US" b="1" i="1" dirty="0"/>
              <a:t>Understanding this point is crucial for effective preparation.</a:t>
            </a:r>
            <a:br>
              <a:rPr lang="en-US" b="1" dirty="0"/>
            </a:br>
            <a:r>
              <a:rPr lang="en-US" b="1" i="1" dirty="0"/>
              <a:t>Success in IELTS is not about outperforming others, but about meeting the specific requirements of your target band.</a:t>
            </a:r>
            <a:br>
              <a:rPr lang="en-US" b="1" dirty="0"/>
            </a:br>
            <a:r>
              <a:rPr lang="en-US" b="1" i="1" dirty="0"/>
              <a:t>By focusing on the official band descriptors and developing consistent, controlled language use across all skills,</a:t>
            </a:r>
            <a:br>
              <a:rPr lang="en-US" b="1" dirty="0"/>
            </a:br>
            <a:r>
              <a:rPr lang="en-US" b="1" i="1" dirty="0"/>
              <a:t>candidates can approach the test with greater confidence and a clearer strategy.”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73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“At </a:t>
            </a:r>
            <a:r>
              <a:rPr lang="en-US" b="1" dirty="0"/>
              <a:t>IELTS NINER Review Center</a:t>
            </a:r>
            <a:r>
              <a:rPr lang="en-US" dirty="0"/>
              <a:t>, we never tell students to </a:t>
            </a:r>
            <a:r>
              <a:rPr lang="en-US" i="1" dirty="0"/>
              <a:t>‘just study harder.’</a:t>
            </a:r>
            <a:endParaRPr lang="en-US" dirty="0"/>
          </a:p>
          <a:p>
            <a:r>
              <a:rPr lang="en-US" dirty="0"/>
              <a:t>Because improvement doesn’t come from effort alone—it comes from </a:t>
            </a:r>
            <a:r>
              <a:rPr lang="en-US" b="1" dirty="0"/>
              <a:t>strategy</a:t>
            </a:r>
            <a:r>
              <a:rPr lang="en-US" dirty="0"/>
              <a:t>.</a:t>
            </a:r>
          </a:p>
          <a:p>
            <a:r>
              <a:rPr lang="en-US" dirty="0"/>
              <a:t>Instead, we take a different approach.</a:t>
            </a:r>
            <a:br>
              <a:rPr lang="en-US" dirty="0"/>
            </a:br>
            <a:r>
              <a:rPr lang="en-US" dirty="0"/>
              <a:t>We identify </a:t>
            </a:r>
            <a:r>
              <a:rPr lang="en-US" b="1" dirty="0"/>
              <a:t>your current band level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pinpoint </a:t>
            </a:r>
            <a:r>
              <a:rPr lang="en-US" b="1" dirty="0"/>
              <a:t>the exact IELTS criteria you’re missing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map out </a:t>
            </a:r>
            <a:r>
              <a:rPr lang="en-US" b="1" dirty="0"/>
              <a:t>the fastest, most effective path to your next band score</a:t>
            </a:r>
            <a:r>
              <a:rPr lang="en-US" dirty="0"/>
              <a:t>.</a:t>
            </a:r>
          </a:p>
          <a:p>
            <a:r>
              <a:rPr lang="en-US" dirty="0"/>
              <a:t>This is not guesswork.</a:t>
            </a:r>
            <a:br>
              <a:rPr lang="en-US" dirty="0"/>
            </a:br>
            <a:r>
              <a:rPr lang="en-US" dirty="0"/>
              <a:t>This is targeted training, based on how IELTS is truly assessed.</a:t>
            </a:r>
          </a:p>
          <a:p>
            <a:r>
              <a:rPr lang="en-US" dirty="0"/>
              <a:t>That’s how </a:t>
            </a:r>
            <a:r>
              <a:rPr lang="en-US" b="1" dirty="0"/>
              <a:t>real improvement</a:t>
            </a:r>
            <a:r>
              <a:rPr lang="en-US" dirty="0"/>
              <a:t> happens.</a:t>
            </a:r>
            <a:br>
              <a:rPr lang="en-US" dirty="0"/>
            </a:br>
            <a:r>
              <a:rPr lang="en-US" dirty="0"/>
              <a:t>That’s the </a:t>
            </a:r>
            <a:r>
              <a:rPr lang="en-US" b="1" dirty="0"/>
              <a:t>IELTS NINER difference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you understand what IELTS band scores mean.”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“But here’s the next crucial question: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examiners actually decide your band score?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break down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IELTS band descriptors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—the exact marking criteria used by examiners.”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57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IELTS Band Scores Explained 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What the Numbers Really Mean</a:t>
            </a:r>
          </a:p>
          <a:p>
            <a:endParaRPr lang="en-US" dirty="0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038896" y="294349"/>
            <a:ext cx="9980682" cy="609600"/>
          </a:xfrm>
        </p:spPr>
        <p:txBody>
          <a:bodyPr/>
          <a:lstStyle/>
          <a:p>
            <a:pPr algn="ctr"/>
            <a:r>
              <a:rPr lang="en-US" dirty="0"/>
              <a:t>The IELTS Band Scale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9D333-DF9B-6E88-468B-CC91EB400082}"/>
              </a:ext>
            </a:extLst>
          </p:cNvPr>
          <p:cNvSpPr txBox="1"/>
          <p:nvPr/>
        </p:nvSpPr>
        <p:spPr>
          <a:xfrm>
            <a:off x="6886322" y="1877352"/>
            <a:ext cx="43939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IELTS uses a 9-band scoring system, from Band 1 to Band 9.</a:t>
            </a:r>
          </a:p>
          <a:p>
            <a:endParaRPr lang="en-US" dirty="0"/>
          </a:p>
          <a:p>
            <a:r>
              <a:rPr lang="en-US" dirty="0"/>
              <a:t>Each band represents a </a:t>
            </a:r>
            <a:r>
              <a:rPr lang="en-US" b="1" dirty="0"/>
              <a:t>level of English ability</a:t>
            </a:r>
            <a:r>
              <a:rPr lang="en-US" dirty="0"/>
              <a:t>, not a percentage score.</a:t>
            </a:r>
          </a:p>
          <a:p>
            <a:endParaRPr lang="en-US" dirty="0"/>
          </a:p>
          <a:p>
            <a:r>
              <a:rPr lang="en-US" dirty="0"/>
              <a:t>You receive:</a:t>
            </a:r>
          </a:p>
          <a:p>
            <a:pPr lvl="0"/>
            <a:r>
              <a:rPr lang="en-US" dirty="0"/>
              <a:t>A band score for each skill</a:t>
            </a:r>
          </a:p>
          <a:p>
            <a:pPr lvl="0"/>
            <a:r>
              <a:rPr lang="en-US" dirty="0"/>
              <a:t>And one </a:t>
            </a:r>
            <a:r>
              <a:rPr lang="en-US" b="1" dirty="0"/>
              <a:t>overall band score</a:t>
            </a:r>
            <a:endParaRPr lang="en-US" dirty="0"/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44A6C7-00CB-1BAA-CAB0-065364B6D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0B74A2-7A8C-E7D3-7A89-CA255A0C07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1" r="22542" b="3335"/>
          <a:stretch>
            <a:fillRect/>
          </a:stretch>
        </p:blipFill>
        <p:spPr>
          <a:xfrm>
            <a:off x="614995" y="0"/>
            <a:ext cx="501706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Common Bands Mean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7DFCFF-A833-A0DF-C5C3-49661B398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7363" y="1933996"/>
            <a:ext cx="10665301" cy="419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the Overall Band Score Is Calculated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03DD76-345D-50BC-C605-AAACA6CA1A74}"/>
              </a:ext>
            </a:extLst>
          </p:cNvPr>
          <p:cNvSpPr txBox="1"/>
          <p:nvPr/>
        </p:nvSpPr>
        <p:spPr>
          <a:xfrm>
            <a:off x="1219874" y="2122178"/>
            <a:ext cx="88870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 overall IELTS band score is the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average of your four skills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Listening, Reading, Writing, and Speaking.”</a:t>
            </a:r>
          </a:p>
          <a:p>
            <a:pPr marL="0" marR="0">
              <a:buNone/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average is then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rounded to the nearest half band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example: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6.25 becomes 6.5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6.75 becomes 7.0</a:t>
            </a:r>
          </a:p>
          <a:p>
            <a:pPr marL="0" marR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means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every skill matters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—one weak skill can hold back your overall score.”</a:t>
            </a:r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 Critical Truth About Band Scores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CBBE40-AA3E-9288-8B37-1126FCD7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Here’s a truth many candidates don’t realize.</a:t>
            </a:r>
          </a:p>
          <a:p>
            <a:r>
              <a:rPr lang="en-US" dirty="0"/>
              <a:t>IELTS does </a:t>
            </a:r>
            <a:r>
              <a:rPr lang="en-US" b="1" dirty="0"/>
              <a:t>not</a:t>
            </a:r>
            <a:r>
              <a:rPr lang="en-US" dirty="0"/>
              <a:t> compare you with other test takers.</a:t>
            </a:r>
            <a:br>
              <a:rPr lang="en-US" dirty="0"/>
            </a:br>
            <a:r>
              <a:rPr lang="en-US" dirty="0"/>
              <a:t>You are not competing against anyone.</a:t>
            </a:r>
          </a:p>
          <a:p>
            <a:r>
              <a:rPr lang="en-US" dirty="0"/>
              <a:t>You are measured against </a:t>
            </a:r>
            <a:r>
              <a:rPr lang="en-US" b="1" dirty="0"/>
              <a:t>band descriptors</a:t>
            </a:r>
            <a:r>
              <a:rPr lang="en-US" dirty="0"/>
              <a:t>—official criteria that describe performance at each band.”</a:t>
            </a:r>
          </a:p>
          <a:p>
            <a:r>
              <a:rPr lang="en-US" dirty="0"/>
              <a:t>That means:</a:t>
            </a:r>
            <a:br>
              <a:rPr lang="en-US" dirty="0"/>
            </a:br>
            <a:r>
              <a:rPr lang="en-US" dirty="0"/>
              <a:t>If you meet the criteria, you get the band—regardless of how others perform.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10858500" cy="1096962"/>
          </a:xfrm>
        </p:spPr>
        <p:txBody>
          <a:bodyPr>
            <a:normAutofit/>
          </a:bodyPr>
          <a:lstStyle/>
          <a:p>
            <a:r>
              <a:rPr lang="en-US" b="1" dirty="0"/>
              <a:t>OUR APPROACH AT IELTS NINER REVIEW CENTER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2AAB5-B651-39BC-C7E7-694E2000C272}"/>
              </a:ext>
            </a:extLst>
          </p:cNvPr>
          <p:cNvSpPr txBox="1"/>
          <p:nvPr/>
        </p:nvSpPr>
        <p:spPr>
          <a:xfrm>
            <a:off x="1435100" y="3213021"/>
            <a:ext cx="10528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Your current band level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The exact criteria you are missing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800" dirty="0"/>
              <a:t>The fastest path to the next band</a:t>
            </a:r>
          </a:p>
          <a:p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C9E1B2-2D2D-D3A1-B490-F1D8CD2624F3}"/>
              </a:ext>
            </a:extLst>
          </p:cNvPr>
          <p:cNvSpPr/>
          <p:nvPr/>
        </p:nvSpPr>
        <p:spPr>
          <a:xfrm>
            <a:off x="4141020" y="1731426"/>
            <a:ext cx="39084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ptos" panose="020B0004020202020204" pitchFamily="34" charset="0"/>
              </a:rPr>
              <a:t>We identify </a:t>
            </a:r>
          </a:p>
        </p:txBody>
      </p:sp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03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117</TotalTime>
  <Words>1404</Words>
  <Application>Microsoft Office PowerPoint</Application>
  <PresentationFormat>Widescreen</PresentationFormat>
  <Paragraphs>77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Euphemia</vt:lpstr>
      <vt:lpstr>Plantagenet Cherokee</vt:lpstr>
      <vt:lpstr>Symbol</vt:lpstr>
      <vt:lpstr>Times New Roman</vt:lpstr>
      <vt:lpstr>Wingdings</vt:lpstr>
      <vt:lpstr>Academic Literature 16x9</vt:lpstr>
      <vt:lpstr>IELTS Band Scores Explained </vt:lpstr>
      <vt:lpstr>The IELTS Band Scale</vt:lpstr>
      <vt:lpstr>What Common Bands Mean</vt:lpstr>
      <vt:lpstr>How the Overall Band Score Is Calculated</vt:lpstr>
      <vt:lpstr>A Critical Truth About Band Scores</vt:lpstr>
      <vt:lpstr>OUR APPROACH AT IELTS NINER REVIEW CENTER</vt:lpstr>
      <vt:lpstr>Add a Slide Title - 1</vt:lpstr>
      <vt:lpstr>Add a Slide Title - 2</vt:lpstr>
      <vt:lpstr>Add a Slide Title - 3</vt:lpstr>
      <vt:lpstr>Add a Slide Title - 4</vt:lpstr>
      <vt:lpstr>PowerPoint Presentation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April Ampong</dc:creator>
  <cp:lastModifiedBy>April Ampong</cp:lastModifiedBy>
  <cp:revision>2</cp:revision>
  <dcterms:created xsi:type="dcterms:W3CDTF">2026-01-14T11:26:43Z</dcterms:created>
  <dcterms:modified xsi:type="dcterms:W3CDTF">2026-01-16T12:52:44Z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