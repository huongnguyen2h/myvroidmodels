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56" r:id="rId5"/>
    <p:sldId id="258" r:id="rId6"/>
    <p:sldId id="257" r:id="rId7"/>
    <p:sldId id="259" r:id="rId8"/>
    <p:sldId id="260" r:id="rId9"/>
    <p:sldId id="266" r:id="rId10"/>
    <p:sldId id="261" r:id="rId11"/>
    <p:sldId id="262" r:id="rId12"/>
    <p:sldId id="263" r:id="rId13"/>
    <p:sldId id="264"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55538" autoAdjust="0"/>
  </p:normalViewPr>
  <p:slideViewPr>
    <p:cSldViewPr snapToGrid="0" showGuides="1">
      <p:cViewPr varScale="1">
        <p:scale>
          <a:sx n="63" d="100"/>
          <a:sy n="63" d="100"/>
        </p:scale>
        <p:origin x="1684" y="44"/>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3/19/2026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3/19/2026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IELTS candidates feel frustrated after the Listening test because they say,</a:t>
            </a:r>
            <a:br>
              <a:rPr lang="en-US" dirty="0"/>
            </a:br>
            <a:r>
              <a:rPr lang="en-US" i="1" dirty="0"/>
              <a:t>"I understood the audio perfectly… so why is my answer wrong?"</a:t>
            </a:r>
            <a:endParaRPr lang="en-US" dirty="0"/>
          </a:p>
          <a:p>
            <a:r>
              <a:rPr lang="en-US" dirty="0"/>
              <a:t>The truth is, in IELTS Listening, understanding alone is not enough. Accuracy is equally important.</a:t>
            </a:r>
          </a:p>
          <a:p>
            <a:r>
              <a:rPr lang="en-US" dirty="0"/>
              <a:t>Even very small mistakes can cost you marks.</a:t>
            </a:r>
            <a:br>
              <a:rPr lang="en-US" dirty="0"/>
            </a:br>
            <a:r>
              <a:rPr lang="en-US" dirty="0"/>
              <a:t>For example:</a:t>
            </a:r>
          </a:p>
          <a:p>
            <a:r>
              <a:rPr lang="en-US" dirty="0"/>
              <a:t>A spelling error</a:t>
            </a:r>
          </a:p>
          <a:p>
            <a:r>
              <a:rPr lang="en-US" dirty="0"/>
              <a:t>Writing a singular noun instead of plural</a:t>
            </a:r>
          </a:p>
          <a:p>
            <a:r>
              <a:rPr lang="en-US" dirty="0"/>
              <a:t>Incorrect capitalization when required</a:t>
            </a:r>
          </a:p>
          <a:p>
            <a:r>
              <a:rPr lang="en-US" dirty="0"/>
              <a:t>Writing a number in the wrong format</a:t>
            </a:r>
          </a:p>
          <a:p>
            <a:r>
              <a:rPr lang="en-US" dirty="0"/>
              <a:t>Exceeding the word limit</a:t>
            </a:r>
          </a:p>
          <a:p>
            <a:r>
              <a:rPr lang="en-US" dirty="0"/>
              <a:t>These may seem minor, but in the IELTS Listening test, answers are marked as either correct or incorrect. There is no partial credit.</a:t>
            </a:r>
          </a:p>
          <a:p>
            <a:r>
              <a:rPr lang="en-US" dirty="0"/>
              <a:t>Today, we are going to focus on the most common traps that cause students to lose easy points.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“Hello, my name is </a:t>
            </a:r>
            <a:r>
              <a:rPr lang="en-US" sz="1200" b="1" kern="1200" dirty="0">
                <a:solidFill>
                  <a:schemeClr val="tx1"/>
                </a:solidFill>
                <a:effectLst/>
                <a:latin typeface="+mn-lt"/>
                <a:ea typeface="+mn-ea"/>
                <a:cs typeface="+mn-cs"/>
              </a:rPr>
              <a:t>April Ampong</a:t>
            </a:r>
            <a:r>
              <a:rPr lang="en-US" sz="1200" kern="1200" dirty="0">
                <a:solidFill>
                  <a:schemeClr val="tx1"/>
                </a:solidFill>
                <a:effectLst/>
                <a:latin typeface="+mn-lt"/>
                <a:ea typeface="+mn-ea"/>
                <a:cs typeface="+mn-cs"/>
              </a:rPr>
              <a:t>, and I’m an instructor at </a:t>
            </a:r>
            <a:r>
              <a:rPr lang="en-US" sz="1200" b="1" kern="1200" dirty="0">
                <a:solidFill>
                  <a:schemeClr val="tx1"/>
                </a:solidFill>
                <a:effectLst/>
                <a:latin typeface="+mn-lt"/>
                <a:ea typeface="+mn-ea"/>
                <a:cs typeface="+mn-cs"/>
              </a:rPr>
              <a:t>IELTS NINER REVIEW CENTER</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 international-standard IELTS training system that helps learners progress </a:t>
            </a:r>
            <a:r>
              <a:rPr lang="en-US" sz="1200" b="1" kern="1200" dirty="0">
                <a:solidFill>
                  <a:schemeClr val="tx1"/>
                </a:solidFill>
                <a:effectLst/>
                <a:latin typeface="+mn-lt"/>
                <a:ea typeface="+mn-ea"/>
                <a:cs typeface="+mn-cs"/>
              </a:rPr>
              <a:t>from beginner level to Band 7.0–9.0</a:t>
            </a:r>
            <a:r>
              <a:rPr lang="en-US" sz="1200" kern="1200" dirty="0">
                <a:solidFill>
                  <a:schemeClr val="tx1"/>
                </a:solidFill>
                <a:effectLst/>
                <a:latin typeface="+mn-lt"/>
                <a:ea typeface="+mn-ea"/>
                <a:cs typeface="+mn-cs"/>
              </a:rPr>
              <a:t> in the most time-efficient way.”</a:t>
            </a:r>
          </a:p>
          <a:p>
            <a:endParaRPr lang="en-US" dirty="0"/>
          </a:p>
          <a:p>
            <a:endParaRPr lang="en-US" dirty="0"/>
          </a:p>
          <a:p>
            <a:r>
              <a:rPr lang="en-US" sz="1200" kern="1200" dirty="0">
                <a:solidFill>
                  <a:schemeClr val="tx1"/>
                </a:solidFill>
                <a:effectLst/>
                <a:latin typeface="+mn-lt"/>
                <a:ea typeface="+mn-ea"/>
                <a:cs typeface="+mn-cs"/>
              </a:rPr>
              <a:t>“In the previous video, we learned how to handle </a:t>
            </a:r>
            <a:r>
              <a:rPr lang="en-US" sz="1200" b="1" kern="1200" dirty="0">
                <a:solidFill>
                  <a:schemeClr val="tx1"/>
                </a:solidFill>
                <a:effectLst/>
                <a:latin typeface="+mn-lt"/>
                <a:ea typeface="+mn-ea"/>
                <a:cs typeface="+mn-cs"/>
              </a:rPr>
              <a:t>paraphrasing</a:t>
            </a:r>
            <a:r>
              <a:rPr lang="en-US" sz="1200" kern="1200" dirty="0">
                <a:solidFill>
                  <a:schemeClr val="tx1"/>
                </a:solidFill>
                <a:effectLst/>
                <a:latin typeface="+mn-lt"/>
                <a:ea typeface="+mn-ea"/>
                <a:cs typeface="+mn-cs"/>
              </a:rPr>
              <a:t> in IELTS Listening.”</a:t>
            </a:r>
          </a:p>
          <a:p>
            <a:r>
              <a:rPr lang="en-US" sz="1200" kern="1200" dirty="0">
                <a:solidFill>
                  <a:schemeClr val="tx1"/>
                </a:solidFill>
                <a:effectLst/>
                <a:latin typeface="+mn-lt"/>
                <a:ea typeface="+mn-ea"/>
                <a:cs typeface="+mn-cs"/>
              </a:rPr>
              <a:t>“Now we’ll focus on what often goes wrong </a:t>
            </a:r>
            <a:r>
              <a:rPr lang="en-US" sz="1200" b="1" kern="1200" dirty="0">
                <a:solidFill>
                  <a:schemeClr val="tx1"/>
                </a:solidFill>
                <a:effectLst/>
                <a:latin typeface="+mn-lt"/>
                <a:ea typeface="+mn-ea"/>
                <a:cs typeface="+mn-cs"/>
              </a:rPr>
              <a:t>after you’ve found the correct answer</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dirty="0"/>
          </a:p>
          <a:p>
            <a:br>
              <a:rPr lang="en-US" dirty="0"/>
            </a:br>
            <a:endParaRPr lang="en-US" dirty="0"/>
          </a:p>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t>
            </a:r>
            <a:r>
              <a:rPr lang="en-US" b="1" dirty="0"/>
              <a:t>spelling</a:t>
            </a:r>
            <a:r>
              <a:rPr lang="en-US" dirty="0"/>
              <a:t>, which is one of the biggest reasons correct answers become incorrect in the IELTS Listening test.</a:t>
            </a:r>
          </a:p>
          <a:p>
            <a:r>
              <a:rPr lang="en-US" dirty="0"/>
              <a:t>Many students lose marks not because they misunderstood the recording, but because they wrote the word incorrectly.</a:t>
            </a:r>
          </a:p>
          <a:p>
            <a:r>
              <a:rPr lang="en-US" dirty="0"/>
              <a:t>Some of the most common spelling problems include:</a:t>
            </a:r>
          </a:p>
          <a:p>
            <a:r>
              <a:rPr lang="en-US" dirty="0"/>
              <a:t>• Missing letters — </a:t>
            </a:r>
            <a:br>
              <a:rPr lang="en-US" dirty="0"/>
            </a:br>
            <a:r>
              <a:rPr lang="en-US" dirty="0"/>
              <a:t>• Extra letters — </a:t>
            </a:r>
            <a:br>
              <a:rPr lang="en-US" dirty="0"/>
            </a:br>
            <a:r>
              <a:rPr lang="en-US" dirty="0"/>
              <a:t>• Confusing similar sounds — </a:t>
            </a:r>
            <a:br>
              <a:rPr lang="en-US" dirty="0"/>
            </a:br>
            <a:r>
              <a:rPr lang="en-US" dirty="0"/>
              <a:t>• Mishearing vowel sounds </a:t>
            </a:r>
            <a:r>
              <a:rPr lang="en-US"/>
              <a:t>— </a:t>
            </a:r>
          </a:p>
          <a:p>
            <a:br>
              <a:rPr lang="en-US" dirty="0"/>
            </a:br>
            <a:r>
              <a:rPr lang="en-US" dirty="0"/>
              <a:t>• British versus American spelling differences</a:t>
            </a:r>
          </a:p>
          <a:p>
            <a:r>
              <a:rPr lang="en-US" dirty="0"/>
              <a:t>Now, regarding British and American spelling: IELTS accepts both. You can write </a:t>
            </a:r>
            <a:r>
              <a:rPr lang="en-US" i="1" dirty="0" err="1"/>
              <a:t>colour</a:t>
            </a:r>
            <a:r>
              <a:rPr lang="en-US" dirty="0"/>
              <a:t> or </a:t>
            </a:r>
            <a:r>
              <a:rPr lang="en-US" i="1" dirty="0"/>
              <a:t>color</a:t>
            </a:r>
            <a:r>
              <a:rPr lang="en-US" dirty="0"/>
              <a:t>, </a:t>
            </a:r>
            <a:r>
              <a:rPr lang="en-US" i="1" dirty="0" err="1"/>
              <a:t>centre</a:t>
            </a:r>
            <a:r>
              <a:rPr lang="en-US" dirty="0"/>
              <a:t> or </a:t>
            </a:r>
            <a:r>
              <a:rPr lang="en-US" i="1" dirty="0"/>
              <a:t>center</a:t>
            </a:r>
            <a:r>
              <a:rPr lang="en-US" dirty="0"/>
              <a:t>. However, your spelling must be accurate. If you choose American spelling, make sure it is spelled correctly. If you choose British spelling, make sure that is also correct.</a:t>
            </a:r>
          </a:p>
          <a:p>
            <a:r>
              <a:rPr lang="en-US" dirty="0"/>
              <a:t>Consistency is also important. Avoid mixing spelling styles randomly within the same test.</a:t>
            </a:r>
          </a:p>
          <a:p>
            <a:r>
              <a:rPr lang="en-US" dirty="0"/>
              <a:t>Remember this key rule:</a:t>
            </a:r>
            <a:br>
              <a:rPr lang="en-US" dirty="0"/>
            </a:br>
            <a:r>
              <a:rPr lang="en-US" dirty="0"/>
              <a:t>If the spelling is wrong, the answer is wrong — even if the meaning is correct.</a:t>
            </a:r>
          </a:p>
          <a:p>
            <a:r>
              <a:rPr lang="en-US" dirty="0"/>
              <a:t>The examiner does not judge your intention. The marking is precise and objective. That is why developing strong spelling accuracy is essential if you want to protect your band score.</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707466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move on to another common problem area in IELTS Listening: </a:t>
            </a:r>
            <a:r>
              <a:rPr lang="en-US" b="1" dirty="0"/>
              <a:t>numbers</a:t>
            </a:r>
            <a:r>
              <a:rPr lang="en-US" dirty="0"/>
              <a:t>.</a:t>
            </a:r>
          </a:p>
          <a:p>
            <a:r>
              <a:rPr lang="en-US" dirty="0"/>
              <a:t>Numbers are a major source of lost points. Many candidates understand the context perfectly, but they mishear or miswrite a number — and that single mistake costs them a mark.</a:t>
            </a:r>
          </a:p>
          <a:p>
            <a:r>
              <a:rPr lang="en-US" dirty="0"/>
              <a:t>You need to be especially careful with:</a:t>
            </a:r>
          </a:p>
          <a:p>
            <a:r>
              <a:rPr lang="en-US" dirty="0"/>
              <a:t>• Dates</a:t>
            </a:r>
            <a:br>
              <a:rPr lang="en-US" dirty="0"/>
            </a:br>
            <a:r>
              <a:rPr lang="en-US" dirty="0"/>
              <a:t>• Prices</a:t>
            </a:r>
            <a:br>
              <a:rPr lang="en-US" dirty="0"/>
            </a:br>
            <a:r>
              <a:rPr lang="en-US" dirty="0"/>
              <a:t>• Phone numbers</a:t>
            </a:r>
            <a:br>
              <a:rPr lang="en-US" dirty="0"/>
            </a:br>
            <a:r>
              <a:rPr lang="en-US" dirty="0"/>
              <a:t>• Times</a:t>
            </a:r>
            <a:br>
              <a:rPr lang="en-US" dirty="0"/>
            </a:br>
            <a:r>
              <a:rPr lang="en-US" dirty="0"/>
              <a:t>• Durations</a:t>
            </a:r>
          </a:p>
          <a:p>
            <a:r>
              <a:rPr lang="en-US" dirty="0"/>
              <a:t>Each of these appears frequently in Sections 1 and 2 of the Listening test.</a:t>
            </a:r>
          </a:p>
          <a:p>
            <a:r>
              <a:rPr lang="en-US" dirty="0"/>
              <a:t>One of the most common traps involves similar-sounding numbers, such as:</a:t>
            </a:r>
          </a:p>
          <a:p>
            <a:r>
              <a:rPr lang="en-US" dirty="0"/>
              <a:t>• </a:t>
            </a:r>
            <a:r>
              <a:rPr lang="en-US" i="1" dirty="0"/>
              <a:t>fifteen</a:t>
            </a:r>
            <a:r>
              <a:rPr lang="en-US" dirty="0"/>
              <a:t> versus </a:t>
            </a:r>
            <a:r>
              <a:rPr lang="en-US" i="1" dirty="0"/>
              <a:t>fifty</a:t>
            </a:r>
            <a:br>
              <a:rPr lang="en-US" dirty="0"/>
            </a:br>
            <a:r>
              <a:rPr lang="en-US" dirty="0"/>
              <a:t>• </a:t>
            </a:r>
            <a:r>
              <a:rPr lang="en-US" i="1" dirty="0"/>
              <a:t>fourteen</a:t>
            </a:r>
            <a:r>
              <a:rPr lang="en-US" dirty="0"/>
              <a:t> versus </a:t>
            </a:r>
            <a:r>
              <a:rPr lang="en-US" i="1" dirty="0"/>
              <a:t>forty</a:t>
            </a:r>
            <a:br>
              <a:rPr lang="en-US" dirty="0"/>
            </a:br>
            <a:r>
              <a:rPr lang="en-US" dirty="0"/>
              <a:t>• </a:t>
            </a:r>
            <a:r>
              <a:rPr lang="en-US" i="1" dirty="0"/>
              <a:t>thirteen</a:t>
            </a:r>
            <a:r>
              <a:rPr lang="en-US" dirty="0"/>
              <a:t> versus </a:t>
            </a:r>
            <a:r>
              <a:rPr lang="en-US" i="1" dirty="0"/>
              <a:t>thirty</a:t>
            </a:r>
            <a:endParaRPr lang="en-US" dirty="0"/>
          </a:p>
          <a:p>
            <a:r>
              <a:rPr lang="en-US" dirty="0"/>
              <a:t>The difference is often in the </a:t>
            </a:r>
            <a:r>
              <a:rPr lang="en-US" b="1" dirty="0"/>
              <a:t>stress and pronunciation</a:t>
            </a:r>
            <a:r>
              <a:rPr lang="en-US" dirty="0"/>
              <a:t>.</a:t>
            </a:r>
          </a:p>
          <a:p>
            <a:r>
              <a:rPr lang="en-US" dirty="0"/>
              <a:t>For example:</a:t>
            </a:r>
          </a:p>
          <a:p>
            <a:r>
              <a:rPr lang="en-US" dirty="0"/>
              <a:t>In </a:t>
            </a:r>
            <a:r>
              <a:rPr lang="en-US" i="1" dirty="0" err="1"/>
              <a:t>fifTEEN</a:t>
            </a:r>
            <a:r>
              <a:rPr lang="en-US" dirty="0"/>
              <a:t>, the stress is on the second syllable.</a:t>
            </a:r>
          </a:p>
          <a:p>
            <a:r>
              <a:rPr lang="en-US" dirty="0"/>
              <a:t>In </a:t>
            </a:r>
            <a:r>
              <a:rPr lang="en-US" i="1" dirty="0" err="1"/>
              <a:t>FIFty</a:t>
            </a:r>
            <a:r>
              <a:rPr lang="en-US" dirty="0"/>
              <a:t>, the stress is on the first syllable.</a:t>
            </a:r>
          </a:p>
          <a:p>
            <a:r>
              <a:rPr lang="en-US" dirty="0"/>
              <a:t>In fast speech, this difference can be subtle, so you must train your ear to notice it.</a:t>
            </a:r>
          </a:p>
          <a:p>
            <a:r>
              <a:rPr lang="en-US" dirty="0"/>
              <a:t>Also, pay attention to how numbers are grouped. For example, phone numbers are often divided into pairs or small groups. Dates may be spoken in different formats, such as “the 15th of March” or “March fifteenth.” Prices may include decimals, such as “sixteen point five zero.”</a:t>
            </a:r>
          </a:p>
          <a:p>
            <a:r>
              <a:rPr lang="en-US" dirty="0"/>
              <a:t>Another important tip: always write numbers in the format required by the instructions. If the form asks for words, do not write digits. If digits are allowed, use them carefully and clearly.</a:t>
            </a:r>
          </a:p>
          <a:p>
            <a:r>
              <a:rPr lang="en-US" dirty="0"/>
              <a:t>During the test, stay calm and focused when you hear numbers. They are often repeated, but sometimes they are corrected — which means you must listen until the speaker finishes.</a:t>
            </a:r>
          </a:p>
          <a:p>
            <a:r>
              <a:rPr lang="en-US" dirty="0"/>
              <a:t>Remember, numbers are not difficult — but they require careful attention.</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3567444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answering questions, you need to pay close attention to grammar — not just meaning.</a:t>
            </a:r>
          </a:p>
          <a:p>
            <a:r>
              <a:rPr lang="en-US" dirty="0"/>
              <a:t>There are three key things to focus on:</a:t>
            </a:r>
            <a:br>
              <a:rPr lang="en-US" dirty="0"/>
            </a:br>
            <a:r>
              <a:rPr lang="en-US" dirty="0"/>
              <a:t>singular and plural nouns,</a:t>
            </a:r>
            <a:br>
              <a:rPr lang="en-US" dirty="0"/>
            </a:br>
            <a:r>
              <a:rPr lang="en-US" dirty="0"/>
              <a:t>articles like </a:t>
            </a:r>
            <a:r>
              <a:rPr lang="en-US" i="1" dirty="0"/>
              <a:t>a</a:t>
            </a:r>
            <a:r>
              <a:rPr lang="en-US" dirty="0"/>
              <a:t> and </a:t>
            </a:r>
            <a:r>
              <a:rPr lang="en-US" i="1" dirty="0"/>
              <a:t>an</a:t>
            </a:r>
            <a:r>
              <a:rPr lang="en-US" dirty="0"/>
              <a:t>,</a:t>
            </a:r>
            <a:br>
              <a:rPr lang="en-US" dirty="0"/>
            </a:br>
            <a:r>
              <a:rPr lang="en-US" dirty="0"/>
              <a:t>and correct verb forms.</a:t>
            </a:r>
          </a:p>
          <a:p>
            <a:r>
              <a:rPr lang="en-US" dirty="0"/>
              <a:t>First, check if the answer should be singular or plural.</a:t>
            </a:r>
            <a:br>
              <a:rPr lang="en-US" dirty="0"/>
            </a:br>
            <a:r>
              <a:rPr lang="en-US" dirty="0"/>
              <a:t>If the question requires a plural noun and you write a singular form, it will be marked wrong — even if your idea is correct.</a:t>
            </a:r>
          </a:p>
          <a:p>
            <a:r>
              <a:rPr lang="en-US" dirty="0"/>
              <a:t>Next, don’t forget articles.</a:t>
            </a:r>
            <a:br>
              <a:rPr lang="en-US" dirty="0"/>
            </a:br>
            <a:r>
              <a:rPr lang="en-US" dirty="0"/>
              <a:t>Using </a:t>
            </a:r>
            <a:r>
              <a:rPr lang="en-US" i="1" dirty="0"/>
              <a:t>a</a:t>
            </a:r>
            <a:r>
              <a:rPr lang="en-US" dirty="0"/>
              <a:t> or </a:t>
            </a:r>
            <a:r>
              <a:rPr lang="en-US" i="1" dirty="0"/>
              <a:t>an</a:t>
            </a:r>
            <a:r>
              <a:rPr lang="en-US" dirty="0"/>
              <a:t> incorrectly, or missing them completely, can cost you marks.</a:t>
            </a:r>
          </a:p>
          <a:p>
            <a:r>
              <a:rPr lang="en-US" dirty="0"/>
              <a:t>Also, pay attention to verb forms.</a:t>
            </a:r>
            <a:br>
              <a:rPr lang="en-US" dirty="0"/>
            </a:br>
            <a:r>
              <a:rPr lang="en-US" dirty="0"/>
              <a:t>Make sure your verbs match the subject and are in the correct tense.</a:t>
            </a:r>
          </a:p>
          <a:p>
            <a:r>
              <a:rPr lang="en-US" dirty="0"/>
              <a:t>Remember, grammar is part of accuracy.</a:t>
            </a:r>
            <a:br>
              <a:rPr lang="en-US" dirty="0"/>
            </a:br>
            <a:r>
              <a:rPr lang="en-US" dirty="0"/>
              <a:t>Even small mistakes can make your answer incorrect.</a:t>
            </a:r>
          </a:p>
          <a:p>
            <a:r>
              <a:rPr lang="en-US" dirty="0"/>
              <a:t>So always take a moment to check your grammar before finalizing your answer.</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2334460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candidates lose points simply because they ignore the instructions.</a:t>
            </a:r>
          </a:p>
          <a:p>
            <a:r>
              <a:rPr lang="en-US" dirty="0"/>
              <a:t>For example, you might see a direction like:</a:t>
            </a:r>
            <a:br>
              <a:rPr lang="en-US" dirty="0"/>
            </a:br>
            <a:r>
              <a:rPr lang="en-US" dirty="0"/>
              <a:t>“No more than two words and/or a number.”</a:t>
            </a:r>
          </a:p>
          <a:p>
            <a:r>
              <a:rPr lang="en-US" dirty="0"/>
              <a:t>This means your answer must follow that exact limit.</a:t>
            </a:r>
            <a:br>
              <a:rPr lang="en-US" dirty="0"/>
            </a:br>
            <a:r>
              <a:rPr lang="en-US" dirty="0"/>
              <a:t>If you write three words — even if they are correct — you will lose the mark.</a:t>
            </a:r>
          </a:p>
          <a:p>
            <a:r>
              <a:rPr lang="en-US" dirty="0"/>
              <a:t>So it’s not just about understanding the answer,</a:t>
            </a:r>
            <a:br>
              <a:rPr lang="en-US" dirty="0"/>
            </a:br>
            <a:r>
              <a:rPr lang="en-US" dirty="0"/>
              <a:t>it’s also about following the rules.</a:t>
            </a:r>
          </a:p>
          <a:p>
            <a:r>
              <a:rPr lang="en-US" dirty="0"/>
              <a:t>Always take a moment to read the instructions carefully before the audio starts.</a:t>
            </a:r>
          </a:p>
          <a:p>
            <a:r>
              <a:rPr lang="en-US" dirty="0"/>
              <a:t>This small step can help you avoid unnecessary mistakes and improve your overall score.</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3941851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check spelling after writing an answer.</a:t>
            </a:r>
            <a:br>
              <a:rPr lang="en-US" dirty="0"/>
            </a:br>
            <a:r>
              <a:rPr lang="en-US" dirty="0"/>
              <a:t>Even a small spelling mistake can cost you a point.</a:t>
            </a:r>
          </a:p>
          <a:p>
            <a:r>
              <a:rPr lang="en-US" dirty="0"/>
              <a:t>Second, count words carefully.</a:t>
            </a:r>
            <a:br>
              <a:rPr lang="en-US" dirty="0"/>
            </a:br>
            <a:r>
              <a:rPr lang="en-US" dirty="0"/>
              <a:t>Always make sure answer follows the word limit given in the instructions.</a:t>
            </a:r>
          </a:p>
          <a:p>
            <a:r>
              <a:rPr lang="en-US" dirty="0"/>
              <a:t>Finally, use the last few seconds to review plural forms.</a:t>
            </a:r>
            <a:br>
              <a:rPr lang="en-US" dirty="0"/>
            </a:br>
            <a:r>
              <a:rPr lang="en-US" dirty="0"/>
              <a:t>Check if the noun should be singular or plural before time runs out.</a:t>
            </a:r>
          </a:p>
          <a:p>
            <a:r>
              <a:rPr lang="en-US" dirty="0"/>
              <a:t>These simple habits can make a big difference.</a:t>
            </a:r>
            <a:br>
              <a:rPr lang="en-US" dirty="0"/>
            </a:br>
            <a:r>
              <a:rPr lang="en-US" dirty="0"/>
              <a:t>They help protect your score and reduce avoidable mistakes.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1825142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you know how to avoid these traps, it’s time to focus on </a:t>
            </a:r>
            <a:r>
              <a:rPr lang="en-US" sz="1200" b="1" kern="1200" dirty="0">
                <a:solidFill>
                  <a:schemeClr val="tx1"/>
                </a:solidFill>
                <a:effectLst/>
                <a:latin typeface="+mn-lt"/>
                <a:ea typeface="+mn-ea"/>
                <a:cs typeface="+mn-cs"/>
              </a:rPr>
              <a:t>specific question types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“In the next video, we’ll break down: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Multiple Choice questions in IELTS Listening—and how to eliminate wrong options quickly.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“See you in the next video.”</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143077836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3/19/2026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3/19/2026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3/19/2026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3/19/2026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3/19/2026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3/19/2026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3/19/2026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3/19/2026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3/19/2026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3/19/2026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3/19/2026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3/19/2026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84417" y="2292094"/>
            <a:ext cx="6654533" cy="2219691"/>
          </a:xfrm>
        </p:spPr>
        <p:txBody>
          <a:bodyPr anchor="ctr">
            <a:normAutofit fontScale="90000"/>
          </a:bodyPr>
          <a:lstStyle/>
          <a:p>
            <a:pPr algn="ctr"/>
            <a:r>
              <a:rPr lang="en-US" dirty="0"/>
              <a:t>Spelling, Numbers &amp; Grammar Traps | Don’t Lose Easy Listening Points</a:t>
            </a:r>
            <a:endParaRPr lang="en-US" b="1"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3" name="Subtitle 2">
            <a:extLst>
              <a:ext uri="{FF2B5EF4-FFF2-40B4-BE49-F238E27FC236}">
                <a16:creationId xmlns:a16="http://schemas.microsoft.com/office/drawing/2014/main" id="{269F6D24-8B87-361D-DCAC-C6EE53DACB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Spelling Traps</a:t>
            </a:r>
          </a:p>
        </p:txBody>
      </p:sp>
      <p:sp>
        <p:nvSpPr>
          <p:cNvPr id="4" name="Content Placeholder 3">
            <a:extLst>
              <a:ext uri="{FF2B5EF4-FFF2-40B4-BE49-F238E27FC236}">
                <a16:creationId xmlns:a16="http://schemas.microsoft.com/office/drawing/2014/main" id="{3DF2BF3F-F893-85A8-C0DC-A3A43AB2CCD3}"/>
              </a:ext>
            </a:extLst>
          </p:cNvPr>
          <p:cNvSpPr>
            <a:spLocks noGrp="1"/>
          </p:cNvSpPr>
          <p:nvPr>
            <p:ph idx="1"/>
          </p:nvPr>
        </p:nvSpPr>
        <p:spPr>
          <a:xfrm>
            <a:off x="672662" y="1600200"/>
            <a:ext cx="10414438" cy="4663966"/>
          </a:xfrm>
        </p:spPr>
        <p:txBody>
          <a:bodyPr>
            <a:normAutofit/>
          </a:bodyPr>
          <a:lstStyle/>
          <a:p>
            <a:pPr marL="0" indent="0">
              <a:buNone/>
            </a:pPr>
            <a:r>
              <a:rPr lang="en-US" dirty="0"/>
              <a:t>Spelling is one of the biggest reasons correct answers become incorrect.</a:t>
            </a:r>
          </a:p>
          <a:p>
            <a:pPr marL="0" indent="0">
              <a:buNone/>
            </a:pPr>
            <a:r>
              <a:rPr lang="en-US" dirty="0"/>
              <a:t>Common Problems: </a:t>
            </a:r>
          </a:p>
          <a:p>
            <a:pPr lvl="0"/>
            <a:r>
              <a:rPr lang="en-US" dirty="0"/>
              <a:t>Missing or extra letters (</a:t>
            </a:r>
            <a:r>
              <a:rPr lang="en-US" dirty="0" err="1"/>
              <a:t>enviroment</a:t>
            </a:r>
            <a:r>
              <a:rPr lang="en-US" dirty="0"/>
              <a:t> VS enviro</a:t>
            </a:r>
            <a:r>
              <a:rPr lang="en-US" sz="2800" b="1" dirty="0">
                <a:solidFill>
                  <a:srgbClr val="FF0000"/>
                </a:solidFill>
              </a:rPr>
              <a:t>n</a:t>
            </a:r>
            <a:r>
              <a:rPr lang="en-US" dirty="0"/>
              <a:t>ment; </a:t>
            </a:r>
            <a:r>
              <a:rPr lang="en-US" i="1" dirty="0" err="1"/>
              <a:t>accomodation</a:t>
            </a:r>
            <a:r>
              <a:rPr lang="en-US" dirty="0"/>
              <a:t> instead of </a:t>
            </a:r>
            <a:r>
              <a:rPr lang="en-US" i="1" dirty="0"/>
              <a:t>accommodation)</a:t>
            </a:r>
            <a:endParaRPr lang="en-US" dirty="0"/>
          </a:p>
          <a:p>
            <a:pPr lvl="0"/>
            <a:r>
              <a:rPr lang="en-US" dirty="0"/>
              <a:t>Confusing similar sounds (</a:t>
            </a:r>
            <a:r>
              <a:rPr lang="en-US" i="1" dirty="0"/>
              <a:t>their</a:t>
            </a:r>
            <a:r>
              <a:rPr lang="en-US" dirty="0"/>
              <a:t> and </a:t>
            </a:r>
            <a:r>
              <a:rPr lang="en-US" i="1" dirty="0"/>
              <a:t>there</a:t>
            </a:r>
            <a:r>
              <a:rPr lang="en-US" dirty="0"/>
              <a:t>, or </a:t>
            </a:r>
            <a:r>
              <a:rPr lang="en-US" i="1" dirty="0"/>
              <a:t>price</a:t>
            </a:r>
            <a:r>
              <a:rPr lang="en-US" dirty="0"/>
              <a:t> and </a:t>
            </a:r>
            <a:r>
              <a:rPr lang="en-US" i="1" dirty="0"/>
              <a:t>prize)</a:t>
            </a:r>
            <a:endParaRPr lang="en-US" dirty="0"/>
          </a:p>
          <a:p>
            <a:pPr lvl="0"/>
            <a:r>
              <a:rPr lang="en-US" dirty="0"/>
              <a:t>British vs American spelling</a:t>
            </a:r>
          </a:p>
          <a:p>
            <a:pPr marL="0" indent="0">
              <a:buNone/>
            </a:pPr>
            <a:r>
              <a:rPr lang="en-US" dirty="0"/>
              <a:t>IELTS accepts </a:t>
            </a:r>
            <a:r>
              <a:rPr lang="en-US" b="1" dirty="0"/>
              <a:t>both British and American spelling</a:t>
            </a:r>
            <a:r>
              <a:rPr lang="en-US" dirty="0"/>
              <a:t>—but you must be </a:t>
            </a:r>
            <a:r>
              <a:rPr lang="en-US" b="1" dirty="0"/>
              <a:t>consistent and accurate</a:t>
            </a:r>
            <a:r>
              <a:rPr lang="en-US" dirty="0"/>
              <a:t>.</a:t>
            </a:r>
          </a:p>
          <a:p>
            <a:pPr marL="0" indent="0">
              <a:buNone/>
            </a:pPr>
            <a:r>
              <a:rPr lang="en-US" dirty="0"/>
              <a:t>Example: </a:t>
            </a:r>
            <a:r>
              <a:rPr lang="en-US" i="1" dirty="0" err="1"/>
              <a:t>colour</a:t>
            </a:r>
            <a:r>
              <a:rPr lang="en-US" dirty="0"/>
              <a:t> or </a:t>
            </a:r>
            <a:r>
              <a:rPr lang="en-US" i="1" dirty="0"/>
              <a:t>color</a:t>
            </a:r>
            <a:r>
              <a:rPr lang="en-US" dirty="0"/>
              <a:t>, </a:t>
            </a:r>
            <a:r>
              <a:rPr lang="en-US" i="1" dirty="0" err="1"/>
              <a:t>centre</a:t>
            </a:r>
            <a:r>
              <a:rPr lang="en-US" dirty="0"/>
              <a:t> or </a:t>
            </a:r>
            <a:r>
              <a:rPr lang="en-US" i="1" dirty="0"/>
              <a:t>center</a:t>
            </a:r>
            <a:endParaRPr lang="en-US" dirty="0"/>
          </a:p>
          <a:p>
            <a:pPr marL="0" indent="0">
              <a:buNone/>
            </a:pPr>
            <a:r>
              <a:rPr lang="en-US" b="1" dirty="0">
                <a:solidFill>
                  <a:srgbClr val="FF0000"/>
                </a:solidFill>
              </a:rPr>
              <a:t>If the spelling is wrong, the answer is wrong—even if the meaning is correct.</a:t>
            </a:r>
          </a:p>
          <a:p>
            <a:endParaRPr lang="en-US" dirty="0"/>
          </a:p>
        </p:txBody>
      </p:sp>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barn(inVertical)">
                                      <p:cBhvr>
                                        <p:cTn id="25" dur="500"/>
                                        <p:tgtEl>
                                          <p:spTgt spid="4">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barn(inVertical)">
                                      <p:cBhvr>
                                        <p:cTn id="30" dur="500"/>
                                        <p:tgtEl>
                                          <p:spTgt spid="4">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 calcmode="lin" valueType="num">
                                      <p:cBhvr additive="base">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ctr"/>
            <a:r>
              <a:rPr lang="en-US" dirty="0"/>
              <a:t>Number Traps</a:t>
            </a:r>
          </a:p>
        </p:txBody>
      </p:sp>
      <p:sp>
        <p:nvSpPr>
          <p:cNvPr id="14" name="Content Placeholder 13"/>
          <p:cNvSpPr>
            <a:spLocks noGrp="1"/>
          </p:cNvSpPr>
          <p:nvPr>
            <p:ph idx="1"/>
          </p:nvPr>
        </p:nvSpPr>
        <p:spPr/>
        <p:txBody>
          <a:bodyPr/>
          <a:lstStyle/>
          <a:p>
            <a:pPr marL="0" indent="0">
              <a:buNone/>
            </a:pPr>
            <a:r>
              <a:rPr lang="en-US" dirty="0"/>
              <a:t>Numbers are another major source of lost points</a:t>
            </a:r>
          </a:p>
          <a:p>
            <a:pPr marL="0" indent="0">
              <a:buNone/>
            </a:pPr>
            <a:r>
              <a:rPr lang="en-US" dirty="0"/>
              <a:t>Be careful with:</a:t>
            </a:r>
          </a:p>
          <a:p>
            <a:pPr lvl="0"/>
            <a:r>
              <a:rPr lang="en-US" dirty="0"/>
              <a:t>Dates</a:t>
            </a:r>
          </a:p>
          <a:p>
            <a:pPr lvl="0"/>
            <a:r>
              <a:rPr lang="en-US" dirty="0"/>
              <a:t>Prices</a:t>
            </a:r>
          </a:p>
          <a:p>
            <a:pPr lvl="0"/>
            <a:r>
              <a:rPr lang="en-US" dirty="0"/>
              <a:t>Phone numbers</a:t>
            </a:r>
          </a:p>
          <a:p>
            <a:pPr lvl="0"/>
            <a:r>
              <a:rPr lang="en-US" dirty="0"/>
              <a:t>Times and durations”</a:t>
            </a:r>
          </a:p>
          <a:p>
            <a:r>
              <a:rPr lang="en-US" dirty="0"/>
              <a:t>For example:</a:t>
            </a:r>
            <a:br>
              <a:rPr lang="en-US" dirty="0"/>
            </a:br>
            <a:r>
              <a:rPr lang="en-US" dirty="0"/>
              <a:t>fifteen vs fifty</a:t>
            </a:r>
            <a:br>
              <a:rPr lang="en-US" dirty="0"/>
            </a:br>
            <a:r>
              <a:rPr lang="en-US" dirty="0"/>
              <a:t>fourteen’ vs ‘forty</a:t>
            </a:r>
          </a:p>
          <a:p>
            <a:r>
              <a:rPr lang="en-US" dirty="0"/>
              <a:t>Always listen for </a:t>
            </a:r>
            <a:r>
              <a:rPr lang="en-US" b="1" dirty="0"/>
              <a:t>stress and pronunciation</a:t>
            </a:r>
            <a:r>
              <a:rPr lang="en-US" dirty="0"/>
              <a:t>, especially in fast speech.</a:t>
            </a:r>
          </a:p>
          <a:p>
            <a:endParaRPr lang="en-US"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anim calcmode="lin" valueType="num">
                                      <p:cBhvr additive="base">
                                        <p:cTn id="13"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 calcmode="lin" valueType="num">
                                      <p:cBhvr additive="base">
                                        <p:cTn id="19"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anim calcmode="lin" valueType="num">
                                      <p:cBhvr additive="base">
                                        <p:cTn id="31"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barn(inVertical)">
                                      <p:cBhvr>
                                        <p:cTn id="37" dur="500"/>
                                        <p:tgtEl>
                                          <p:spTgt spid="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barn(inVertical)">
                                      <p:cBhvr>
                                        <p:cTn id="42"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Grammar Traps (Singular &amp; Plural)</a:t>
            </a:r>
            <a:endParaRPr lang="en-US" b="1" dirty="0"/>
          </a:p>
        </p:txBody>
      </p:sp>
      <p:sp>
        <p:nvSpPr>
          <p:cNvPr id="3" name="Content Placeholder 2"/>
          <p:cNvSpPr>
            <a:spLocks noGrp="1"/>
          </p:cNvSpPr>
          <p:nvPr>
            <p:ph sz="half" idx="1"/>
          </p:nvPr>
        </p:nvSpPr>
        <p:spPr>
          <a:xfrm>
            <a:off x="1104899" y="1600200"/>
            <a:ext cx="9420639" cy="4571999"/>
          </a:xfrm>
        </p:spPr>
        <p:txBody>
          <a:bodyPr/>
          <a:lstStyle/>
          <a:p>
            <a:pPr marL="0" indent="0">
              <a:buNone/>
            </a:pPr>
            <a:r>
              <a:rPr lang="en-US" dirty="0"/>
              <a:t>Pay close attention to:</a:t>
            </a:r>
          </a:p>
          <a:p>
            <a:pPr lvl="0"/>
            <a:r>
              <a:rPr lang="en-US" dirty="0"/>
              <a:t>Singular vs plural nouns</a:t>
            </a:r>
          </a:p>
          <a:p>
            <a:pPr lvl="0"/>
            <a:r>
              <a:rPr lang="en-US" dirty="0"/>
              <a:t>Articles like </a:t>
            </a:r>
            <a:r>
              <a:rPr lang="en-US" i="1" dirty="0"/>
              <a:t>a</a:t>
            </a:r>
            <a:r>
              <a:rPr lang="en-US" dirty="0"/>
              <a:t> and </a:t>
            </a:r>
            <a:r>
              <a:rPr lang="en-US" i="1" dirty="0"/>
              <a:t>an</a:t>
            </a:r>
            <a:endParaRPr lang="en-US" dirty="0"/>
          </a:p>
          <a:p>
            <a:pPr lvl="0"/>
            <a:r>
              <a:rPr lang="en-US" dirty="0"/>
              <a:t>Verb forms</a:t>
            </a:r>
          </a:p>
          <a:p>
            <a:endParaRPr lang="en-US" dirty="0"/>
          </a:p>
          <a:p>
            <a:pPr marL="0" indent="0">
              <a:buNone/>
            </a:pPr>
            <a:r>
              <a:rPr lang="en-US" dirty="0"/>
              <a:t>If the question requires a </a:t>
            </a:r>
            <a:r>
              <a:rPr lang="en-US" b="1" dirty="0"/>
              <a:t>plural noun</a:t>
            </a:r>
            <a:r>
              <a:rPr lang="en-US" dirty="0"/>
              <a:t> and you write a singular form, the answer is marked wrong.</a:t>
            </a:r>
          </a:p>
          <a:p>
            <a:pPr marL="0" indent="0">
              <a:buNone/>
            </a:pPr>
            <a:r>
              <a:rPr lang="en-US" dirty="0"/>
              <a:t>Grammar is part of accuracy.</a:t>
            </a:r>
          </a:p>
          <a:p>
            <a:pPr marL="0" indent="0">
              <a:buNone/>
            </a:pPr>
            <a:endParaRPr lang="en-US" dirty="0"/>
          </a:p>
        </p:txBody>
      </p:sp>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Instructions Are Part of the Test</a:t>
            </a:r>
          </a:p>
        </p:txBody>
      </p:sp>
      <p:sp>
        <p:nvSpPr>
          <p:cNvPr id="5" name="Content Placeholder 4">
            <a:extLst>
              <a:ext uri="{FF2B5EF4-FFF2-40B4-BE49-F238E27FC236}">
                <a16:creationId xmlns:a16="http://schemas.microsoft.com/office/drawing/2014/main" id="{78D53442-3E5F-C0A8-91E6-84AFE47D669E}"/>
              </a:ext>
            </a:extLst>
          </p:cNvPr>
          <p:cNvSpPr>
            <a:spLocks noGrp="1"/>
          </p:cNvSpPr>
          <p:nvPr>
            <p:ph idx="1"/>
          </p:nvPr>
        </p:nvSpPr>
        <p:spPr/>
        <p:txBody>
          <a:bodyPr/>
          <a:lstStyle/>
          <a:p>
            <a:pPr marL="0" indent="0">
              <a:buNone/>
            </a:pPr>
            <a:r>
              <a:rPr lang="en-US" dirty="0"/>
              <a:t>Many candidates lose points because they ignore instructions.</a:t>
            </a:r>
          </a:p>
          <a:p>
            <a:pPr marL="0" indent="0">
              <a:buNone/>
            </a:pPr>
            <a:r>
              <a:rPr lang="en-US" dirty="0"/>
              <a:t>For example:</a:t>
            </a:r>
            <a:br>
              <a:rPr lang="en-US" dirty="0"/>
            </a:br>
            <a:r>
              <a:rPr lang="en-US" dirty="0"/>
              <a:t>NO MORE THAN TWO WORDS AND/OR A NUMBER</a:t>
            </a:r>
          </a:p>
          <a:p>
            <a:r>
              <a:rPr lang="en-US" dirty="0"/>
              <a:t>If you write three words—even if they are correct—you lose the mark.</a:t>
            </a:r>
          </a:p>
          <a:p>
            <a:r>
              <a:rPr lang="en-US" dirty="0"/>
              <a:t>Always read the instructions carefully before listening.</a:t>
            </a:r>
          </a:p>
          <a:p>
            <a:pPr marL="0" indent="0">
              <a:buNone/>
            </a:pPr>
            <a:endParaRPr lang="en-US" dirty="0"/>
          </a:p>
        </p:txBody>
      </p:sp>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Vertic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arn(inVertical)">
                                      <p:cBhvr>
                                        <p:cTn id="18"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Advice from IELTS NINER REVIEW CENTER</a:t>
            </a:r>
          </a:p>
        </p:txBody>
      </p:sp>
      <p:sp>
        <p:nvSpPr>
          <p:cNvPr id="4" name="Text Placeholder 3"/>
          <p:cNvSpPr>
            <a:spLocks noGrp="1"/>
          </p:cNvSpPr>
          <p:nvPr>
            <p:ph type="body" sz="half" idx="2"/>
          </p:nvPr>
        </p:nvSpPr>
        <p:spPr>
          <a:xfrm>
            <a:off x="1104899" y="1600200"/>
            <a:ext cx="10086561" cy="4572000"/>
          </a:xfrm>
        </p:spPr>
        <p:txBody>
          <a:bodyPr/>
          <a:lstStyle/>
          <a:p>
            <a:r>
              <a:rPr lang="en-US" sz="3200" dirty="0"/>
              <a:t>At </a:t>
            </a:r>
            <a:r>
              <a:rPr lang="en-US" sz="3200" b="1" dirty="0"/>
              <a:t>IELTS NINER REVIEW CENTER</a:t>
            </a:r>
            <a:r>
              <a:rPr lang="en-US" sz="3200" dirty="0"/>
              <a:t>, we train students to:</a:t>
            </a:r>
          </a:p>
          <a:p>
            <a:pPr marL="457200" lvl="0" indent="-457200">
              <a:buFont typeface="Wingdings" panose="05000000000000000000" pitchFamily="2" charset="2"/>
              <a:buChar char="q"/>
            </a:pPr>
            <a:r>
              <a:rPr lang="en-US" sz="3200" dirty="0"/>
              <a:t>Check spelling</a:t>
            </a:r>
          </a:p>
          <a:p>
            <a:pPr marL="457200" lvl="0" indent="-457200">
              <a:buFont typeface="Wingdings" panose="05000000000000000000" pitchFamily="2" charset="2"/>
              <a:buChar char="q"/>
            </a:pPr>
            <a:r>
              <a:rPr lang="en-US" sz="3200" dirty="0"/>
              <a:t>Count words carefully</a:t>
            </a:r>
          </a:p>
          <a:p>
            <a:pPr marL="457200" lvl="0" indent="-457200">
              <a:buFont typeface="Wingdings" panose="05000000000000000000" pitchFamily="2" charset="2"/>
              <a:buChar char="q"/>
            </a:pPr>
            <a:r>
              <a:rPr lang="en-US" sz="3200" dirty="0"/>
              <a:t>Review /singular/ plural forms </a:t>
            </a:r>
          </a:p>
          <a:p>
            <a:pPr lvl="0"/>
            <a:endParaRPr lang="en-US" sz="3200" dirty="0"/>
          </a:p>
          <a:p>
            <a:r>
              <a:rPr lang="en-US" sz="3200" dirty="0"/>
              <a:t>These habits protect your score.</a:t>
            </a:r>
          </a:p>
          <a:p>
            <a:endParaRPr lang="en-US" dirty="0"/>
          </a:p>
        </p:txBody>
      </p:sp>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stering IELTS Listening: How to navigate Multiple-Choice Questions | IDP  IELTS">
            <a:extLst>
              <a:ext uri="{FF2B5EF4-FFF2-40B4-BE49-F238E27FC236}">
                <a16:creationId xmlns:a16="http://schemas.microsoft.com/office/drawing/2014/main" id="{AA777C7C-663F-2C69-791A-DF8C212A8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2370" y="342900"/>
            <a:ext cx="5605048" cy="37508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ELTS Listening Multiple Choice Questions – IELTS Jacky">
            <a:extLst>
              <a:ext uri="{FF2B5EF4-FFF2-40B4-BE49-F238E27FC236}">
                <a16:creationId xmlns:a16="http://schemas.microsoft.com/office/drawing/2014/main" id="{BD014960-8464-82A8-A098-AB48858473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582" y="1322615"/>
            <a:ext cx="5732689" cy="4106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barn(inVertical)">
                                      <p:cBhvr>
                                        <p:cTn id="13"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- 3</a:t>
            </a:r>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endParaRPr lang="en-US"/>
          </a:p>
        </p:txBody>
      </p:sp>
    </p:spTree>
    <p:extLst>
      <p:ext uri="{BB962C8B-B14F-4D97-AF65-F5344CB8AC3E}">
        <p14:creationId xmlns:p14="http://schemas.microsoft.com/office/powerpoint/2010/main" val="222449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- 4</a:t>
            </a:r>
          </a:p>
        </p:txBody>
      </p:sp>
    </p:spTree>
    <p:extLst>
      <p:ext uri="{BB962C8B-B14F-4D97-AF65-F5344CB8AC3E}">
        <p14:creationId xmlns:p14="http://schemas.microsoft.com/office/powerpoint/2010/main" val="152700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38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- 5</a:t>
            </a:r>
          </a:p>
        </p:txBody>
      </p:sp>
      <p:sp>
        <p:nvSpPr>
          <p:cNvPr id="4" name="Text Placeholder 3"/>
          <p:cNvSpPr>
            <a:spLocks noGrp="1"/>
          </p:cNvSpPr>
          <p:nvPr>
            <p:ph type="body" sz="half" idx="2"/>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19702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177</TotalTime>
  <Words>1453</Words>
  <Application>Microsoft Office PowerPoint</Application>
  <PresentationFormat>Widescreen</PresentationFormat>
  <Paragraphs>113</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Euphemia</vt:lpstr>
      <vt:lpstr>Plantagenet Cherokee</vt:lpstr>
      <vt:lpstr>Wingdings</vt:lpstr>
      <vt:lpstr>Academic Literature 16x9</vt:lpstr>
      <vt:lpstr>Spelling, Numbers &amp; Grammar Traps | Don’t Lose Easy Listening Points</vt:lpstr>
      <vt:lpstr>Spelling Traps</vt:lpstr>
      <vt:lpstr>Number Traps</vt:lpstr>
      <vt:lpstr>Grammar Traps (Singular &amp; Plural)</vt:lpstr>
      <vt:lpstr>Instructions Are Part of the Test</vt:lpstr>
      <vt:lpstr>Advice from IELTS NINER REVIEW CENTER</vt:lpstr>
      <vt:lpstr>PowerPoint Presentation</vt:lpstr>
      <vt:lpstr>Add a Slide Title - 3</vt:lpstr>
      <vt:lpstr>Add a Slide Title - 4</vt:lpstr>
      <vt:lpstr>PowerPoint Presentation</vt:lpstr>
      <vt:lpstr>Add a Slide Title - 5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April Ampong</dc:creator>
  <cp:lastModifiedBy>April Ampong</cp:lastModifiedBy>
  <cp:revision>4</cp:revision>
  <dcterms:created xsi:type="dcterms:W3CDTF">2026-02-11T08:42:03Z</dcterms:created>
  <dcterms:modified xsi:type="dcterms:W3CDTF">2026-03-19T12:24:17Z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