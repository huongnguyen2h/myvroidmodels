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handoutMasterIdLst>
    <p:handoutMasterId r:id="rId13"/>
  </p:handoutMasterIdLst>
  <p:sldIdLst>
    <p:sldId id="256" r:id="rId5"/>
    <p:sldId id="257" r:id="rId6"/>
    <p:sldId id="259" r:id="rId7"/>
    <p:sldId id="260" r:id="rId8"/>
    <p:sldId id="266" r:id="rId9"/>
    <p:sldId id="269"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62231" autoAdjust="0"/>
  </p:normalViewPr>
  <p:slideViewPr>
    <p:cSldViewPr snapToGrid="0" showGuides="1">
      <p:cViewPr varScale="1">
        <p:scale>
          <a:sx n="55" d="100"/>
          <a:sy n="55" d="100"/>
        </p:scale>
        <p:origin x="1084" y="44"/>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3/7/2026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3/7/2026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note, and table completion questions may appear simple in the IELTS Listening test, but they are actually </a:t>
            </a:r>
            <a:r>
              <a:rPr lang="en-US" b="1" dirty="0"/>
              <a:t>one of the most common sources of careless mistakes</a:t>
            </a:r>
            <a:r>
              <a:rPr lang="en-US" dirty="0"/>
              <a:t> for many candidates. Because the answers are often short, test-takers sometimes focus only on hearing the information and forget to pay attention to </a:t>
            </a:r>
            <a:r>
              <a:rPr lang="en-US" b="1" dirty="0"/>
              <a:t>spelling, word form, or word limits</a:t>
            </a:r>
            <a:r>
              <a:rPr lang="en-US" dirty="0"/>
              <a:t>.</a:t>
            </a:r>
          </a:p>
          <a:p>
            <a:r>
              <a:rPr lang="en-US" dirty="0"/>
              <a:t>In this type of question, even a small mistake can cost you the mark. </a:t>
            </a:r>
            <a:r>
              <a:rPr lang="en-US" b="1" dirty="0"/>
              <a:t>One missing letter, one extra word, or the wrong grammatical form</a:t>
            </a:r>
            <a:r>
              <a:rPr lang="en-US" dirty="0"/>
              <a:t> may cause an otherwise correct answer to be marked incorrect. For this reason, accuracy is just as important as understanding the audio.</a:t>
            </a:r>
          </a:p>
          <a:p>
            <a:endParaRPr lang="en-US" dirty="0"/>
          </a:p>
          <a:p>
            <a:r>
              <a:rPr lang="en-US" dirty="0"/>
              <a:t>In this video, you will learn </a:t>
            </a:r>
            <a:r>
              <a:rPr lang="en-US" b="1" dirty="0"/>
              <a:t>how to approach form, note, and table completion questions effectively</a:t>
            </a:r>
            <a:r>
              <a:rPr lang="en-US" dirty="0"/>
              <a:t>, including how to listen for key information, follow the word limit, and avoid common errors. By using the right strategies, you can answer these questions </a:t>
            </a:r>
            <a:r>
              <a:rPr lang="en-US" b="1" dirty="0"/>
              <a:t>more quickly and more accurately during the test</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“Hello, my name is April Ampong, and I’m an instructor at IELTS NINER REVIEW CENTER— an international-standard IELTS training system that helps learners progress from beginner level to Band 7.0–9.0 in the most time-efficient way.” </a:t>
            </a:r>
            <a:endParaRPr lang="en-US" sz="1200" dirty="0"/>
          </a:p>
          <a:p>
            <a:endParaRPr lang="en-US" dirty="0"/>
          </a:p>
          <a:p>
            <a:endParaRPr lang="en-US" i="1" dirty="0">
              <a:latin typeface="Arial" pitchFamily="34" charset="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the previous video, we learned how to deal with </a:t>
            </a:r>
            <a:r>
              <a:rPr lang="en-US" sz="1200" b="1" kern="1200" dirty="0">
                <a:solidFill>
                  <a:schemeClr val="tx1"/>
                </a:solidFill>
                <a:effectLst/>
                <a:latin typeface="+mn-lt"/>
                <a:ea typeface="+mn-ea"/>
                <a:cs typeface="+mn-cs"/>
              </a:rPr>
              <a:t>multiple choice questions</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“Now let’s focus on a question type that appears </a:t>
            </a:r>
            <a:r>
              <a:rPr lang="en-US" sz="1200" b="1" kern="1200" dirty="0">
                <a:solidFill>
                  <a:schemeClr val="tx1"/>
                </a:solidFill>
                <a:effectLst/>
                <a:latin typeface="+mn-lt"/>
                <a:ea typeface="+mn-ea"/>
                <a:cs typeface="+mn-cs"/>
              </a:rPr>
              <a:t>very frequently</a:t>
            </a:r>
            <a:r>
              <a:rPr lang="en-US" sz="1200" kern="1200" dirty="0">
                <a:solidFill>
                  <a:schemeClr val="tx1"/>
                </a:solidFill>
                <a:effectLst/>
                <a:latin typeface="+mn-lt"/>
                <a:ea typeface="+mn-ea"/>
                <a:cs typeface="+mn-cs"/>
              </a:rPr>
              <a:t>, especially in </a:t>
            </a:r>
            <a:r>
              <a:rPr lang="en-US" sz="1200" b="1" kern="1200" dirty="0">
                <a:solidFill>
                  <a:schemeClr val="tx1"/>
                </a:solidFill>
                <a:effectLst/>
                <a:latin typeface="+mn-lt"/>
                <a:ea typeface="+mn-ea"/>
                <a:cs typeface="+mn-cs"/>
              </a:rPr>
              <a:t>Section 1 and Section 3</a:t>
            </a:r>
            <a:r>
              <a:rPr lang="en-US" sz="1200" kern="1200" dirty="0">
                <a:solidFill>
                  <a:schemeClr val="tx1"/>
                </a:solidFill>
                <a:effectLst/>
                <a:latin typeface="+mn-lt"/>
                <a:ea typeface="+mn-ea"/>
                <a:cs typeface="+mn-cs"/>
              </a:rPr>
              <a:t>.”</a:t>
            </a:r>
          </a:p>
          <a:p>
            <a:endParaRPr lang="en-US" sz="1200" kern="1200" dirty="0">
              <a:solidFill>
                <a:schemeClr val="tx1"/>
              </a:solidFill>
              <a:effectLst/>
              <a:latin typeface="+mn-lt"/>
              <a:ea typeface="+mn-ea"/>
              <a:cs typeface="+mn-cs"/>
            </a:endParaRPr>
          </a:p>
          <a:p>
            <a:r>
              <a:rPr lang="en-US" dirty="0"/>
              <a:t>Form, note, and table completion questions in the IELTS Listening test require candidates to </a:t>
            </a:r>
            <a:r>
              <a:rPr lang="en-US" b="1" dirty="0"/>
              <a:t>write the exact words they hear in the recording</a:t>
            </a:r>
            <a:r>
              <a:rPr lang="en-US" dirty="0"/>
              <a:t>. Unlike multiple-choice questions, these tasks focus on your ability to </a:t>
            </a:r>
            <a:r>
              <a:rPr lang="en-US" b="1" dirty="0"/>
              <a:t>identify specific information and record it accurately</a:t>
            </a:r>
            <a:r>
              <a:rPr lang="en-US" dirty="0"/>
              <a:t>.</a:t>
            </a:r>
          </a:p>
          <a:p>
            <a:r>
              <a:rPr lang="en-US" dirty="0"/>
              <a:t>These questions usually test </a:t>
            </a:r>
            <a:r>
              <a:rPr lang="en-US" b="1" dirty="0"/>
              <a:t>practical and factual details</a:t>
            </a:r>
            <a:r>
              <a:rPr lang="en-US" dirty="0"/>
              <a:t> from a conversation or short talk. For example, you may need to listen for </a:t>
            </a:r>
            <a:r>
              <a:rPr lang="en-US" b="1" dirty="0"/>
              <a:t>personal details</a:t>
            </a:r>
            <a:r>
              <a:rPr lang="en-US" dirty="0"/>
              <a:t> such as names, addresses, or phone numbers. In other cases, the questions may focus on </a:t>
            </a:r>
            <a:r>
              <a:rPr lang="en-US" b="1" dirty="0"/>
              <a:t>practical information</a:t>
            </a:r>
            <a:r>
              <a:rPr lang="en-US" dirty="0"/>
              <a:t>, including dates, prices, locations, or schedules. They can also test </a:t>
            </a:r>
            <a:r>
              <a:rPr lang="en-US" b="1" dirty="0"/>
              <a:t>key facts or important points</a:t>
            </a:r>
            <a:r>
              <a:rPr lang="en-US" dirty="0"/>
              <a:t> mentioned by the speaker during the discussion.</a:t>
            </a:r>
          </a:p>
          <a:p>
            <a:r>
              <a:rPr lang="en-US" dirty="0"/>
              <a:t>Another helpful feature of these questions is that </a:t>
            </a:r>
            <a:r>
              <a:rPr lang="en-US" b="1" dirty="0"/>
              <a:t>the answers appear in the same order as the audio</a:t>
            </a:r>
            <a:r>
              <a:rPr lang="en-US" dirty="0"/>
              <a:t>. This means that the first blank corresponds to the first piece of relevant information you hear, followed by the next answers in sequence. Understanding this order helps you follow the recording more easily and avoid missing important details.</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4034819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audio begins, always take a moment to </a:t>
            </a:r>
            <a:r>
              <a:rPr lang="en-US" b="1" dirty="0"/>
              <a:t>carefully read the instructions for each question</a:t>
            </a:r>
            <a:r>
              <a:rPr lang="en-US" dirty="0"/>
              <a:t>. This step may seem simple, but it is extremely important because many students lose easy points by ignoring small details in the instructions.</a:t>
            </a:r>
          </a:p>
          <a:p>
            <a:r>
              <a:rPr lang="en-US" dirty="0"/>
              <a:t>When checking the instructions, pay attention to a few key things. First, look at the </a:t>
            </a:r>
            <a:r>
              <a:rPr lang="en-US" b="1" dirty="0"/>
              <a:t>word limit</a:t>
            </a:r>
            <a:r>
              <a:rPr lang="en-US" dirty="0"/>
              <a:t>. The instructions will tell you exactly how many words you are allowed to write. If you write more words than allowed, your answer will be marked wrong, even if the information is correct.</a:t>
            </a:r>
          </a:p>
          <a:p>
            <a:r>
              <a:rPr lang="en-US" dirty="0"/>
              <a:t>Second, check </a:t>
            </a:r>
            <a:r>
              <a:rPr lang="en-US" b="1" dirty="0"/>
              <a:t>whether numbers are allowed</a:t>
            </a:r>
            <a:r>
              <a:rPr lang="en-US" dirty="0"/>
              <a:t>. Some questions allow answers with numbers, while others require only words. Understanding this helps you avoid unnecessary mistakes when writing your answer.</a:t>
            </a:r>
          </a:p>
          <a:p>
            <a:r>
              <a:rPr lang="en-US" dirty="0"/>
              <a:t>You should also pay attention to </a:t>
            </a:r>
            <a:r>
              <a:rPr lang="en-US" b="1" dirty="0"/>
              <a:t>singular and plural forms</a:t>
            </a:r>
            <a:r>
              <a:rPr lang="en-US" dirty="0"/>
              <a:t>. Sometimes the sentence structure will require a plural noun, and writing the singular form could make the answer grammatically incorrect.</a:t>
            </a:r>
          </a:p>
          <a:p>
            <a:r>
              <a:rPr lang="en-US" dirty="0"/>
              <a:t>For example, you might see an instruction like:</a:t>
            </a:r>
            <a:br>
              <a:rPr lang="en-US" dirty="0"/>
            </a:br>
            <a:r>
              <a:rPr lang="en-US" dirty="0"/>
              <a:t>“</a:t>
            </a:r>
            <a:r>
              <a:rPr lang="en-US" b="1" dirty="0"/>
              <a:t>NO MORE THAN TWO WORDS AND/OR A NUMBER</a:t>
            </a:r>
            <a:r>
              <a:rPr lang="en-US" dirty="0"/>
              <a:t>.”</a:t>
            </a:r>
          </a:p>
          <a:p>
            <a:r>
              <a:rPr lang="en-US" dirty="0"/>
              <a:t>This means your answer can contain </a:t>
            </a:r>
            <a:r>
              <a:rPr lang="en-US" b="1" dirty="0"/>
              <a:t>one or two words, a number, or a combination of both</a:t>
            </a:r>
            <a:r>
              <a:rPr lang="en-US" dirty="0"/>
              <a:t>. However, if you write </a:t>
            </a:r>
            <a:r>
              <a:rPr lang="en-US" b="1" dirty="0"/>
              <a:t>three words</a:t>
            </a:r>
            <a:r>
              <a:rPr lang="en-US" dirty="0"/>
              <a:t>, the answer will automatically be marked wrong.</a:t>
            </a:r>
          </a:p>
          <a:p>
            <a:r>
              <a:rPr lang="en-US" dirty="0"/>
              <a:t>Because of this, always remember: </a:t>
            </a:r>
            <a:r>
              <a:rPr lang="en-US" b="1" dirty="0"/>
              <a:t>breaking the instruction rule automatically loses the mark</a:t>
            </a:r>
            <a:r>
              <a:rPr lang="en-US" dirty="0"/>
              <a:t>, even if you clearly understood the audio. Taking a few seconds to read the instructions carefully can help you avoid these mistakes and protect your score.</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459534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audio starts, take a few seconds to </a:t>
            </a:r>
            <a:r>
              <a:rPr lang="en-US" b="1" dirty="0"/>
              <a:t>look at each gap and try to predict the type of information that might be missing</a:t>
            </a:r>
            <a:r>
              <a:rPr lang="en-US" dirty="0"/>
              <a:t>. This strategy is called </a:t>
            </a:r>
            <a:r>
              <a:rPr lang="en-US" i="1" dirty="0"/>
              <a:t>prediction</a:t>
            </a:r>
            <a:r>
              <a:rPr lang="en-US" dirty="0"/>
              <a:t>, and it can help you stay focused and ready for the answer when you hear it.</a:t>
            </a:r>
          </a:p>
          <a:p>
            <a:r>
              <a:rPr lang="en-US" dirty="0"/>
              <a:t>When you look at the sentence, ask yourself simple questions such as:</a:t>
            </a:r>
            <a:br>
              <a:rPr lang="en-US" dirty="0"/>
            </a:br>
            <a:r>
              <a:rPr lang="en-US" dirty="0"/>
              <a:t>• </a:t>
            </a:r>
            <a:r>
              <a:rPr lang="en-US" b="1" dirty="0"/>
              <a:t>Is the answer likely to be a name?</a:t>
            </a:r>
            <a:br>
              <a:rPr lang="en-US" dirty="0"/>
            </a:br>
            <a:r>
              <a:rPr lang="en-US" dirty="0"/>
              <a:t>• </a:t>
            </a:r>
            <a:r>
              <a:rPr lang="en-US" b="1" dirty="0"/>
              <a:t>Is it a number, like a date, price, or time?</a:t>
            </a:r>
            <a:br>
              <a:rPr lang="en-US" dirty="0"/>
            </a:br>
            <a:r>
              <a:rPr lang="en-US" dirty="0"/>
              <a:t>• </a:t>
            </a:r>
            <a:r>
              <a:rPr lang="en-US" b="1" dirty="0"/>
              <a:t>Could it be a place, such as a city, building, or location?</a:t>
            </a:r>
            <a:br>
              <a:rPr lang="en-US" dirty="0"/>
            </a:br>
            <a:r>
              <a:rPr lang="en-US" dirty="0"/>
              <a:t>• </a:t>
            </a:r>
            <a:r>
              <a:rPr lang="en-US" b="1" dirty="0"/>
              <a:t>Does the grammar suggest a noun or an adjective?</a:t>
            </a:r>
            <a:endParaRPr lang="en-US" dirty="0"/>
          </a:p>
          <a:p>
            <a:r>
              <a:rPr lang="en-US" dirty="0"/>
              <a:t>By asking these questions, you train your brain to </a:t>
            </a:r>
            <a:r>
              <a:rPr lang="en-US" b="1" dirty="0"/>
              <a:t>expect a certain type of word or information</a:t>
            </a:r>
            <a:r>
              <a:rPr lang="en-US" dirty="0"/>
              <a:t>. This makes it easier to recognize the correct answer when you hear it in the recording.</a:t>
            </a:r>
          </a:p>
          <a:p>
            <a:r>
              <a:rPr lang="en-US" dirty="0"/>
              <a:t>Prediction is especially helpful when the speaker </a:t>
            </a:r>
            <a:r>
              <a:rPr lang="en-US" b="1" dirty="0"/>
              <a:t>talks quickly or uses natural conversation speed</a:t>
            </a:r>
            <a:r>
              <a:rPr lang="en-US" dirty="0"/>
              <a:t>. Even if the audio moves fast, your mind is already prepared for the kind of answer you need to listen for. As a result, you are more likely to </a:t>
            </a:r>
            <a:r>
              <a:rPr lang="en-US" b="1" dirty="0"/>
              <a:t>catch the correct word and write it down accurately</a:t>
            </a:r>
            <a:r>
              <a:rPr lang="en-US" dirty="0"/>
              <a:t>.</a:t>
            </a:r>
          </a:p>
          <a:p>
            <a:r>
              <a:rPr lang="en-US" dirty="0"/>
              <a:t>In IELTS Listening, using prediction effectively can help you </a:t>
            </a:r>
            <a:r>
              <a:rPr lang="en-US" b="1" dirty="0"/>
              <a:t>stay one step ahead of the recording</a:t>
            </a:r>
            <a:r>
              <a:rPr lang="en-US" dirty="0"/>
              <a:t> and reduce the chances of missing important information.</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4</a:t>
            </a:fld>
            <a:endParaRPr lang="en-US"/>
          </a:p>
        </p:txBody>
      </p:sp>
    </p:spTree>
    <p:extLst>
      <p:ext uri="{BB962C8B-B14F-4D97-AF65-F5344CB8AC3E}">
        <p14:creationId xmlns:p14="http://schemas.microsoft.com/office/powerpoint/2010/main" val="4016467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answering IELTS Listening questions, remember that </a:t>
            </a:r>
            <a:r>
              <a:rPr lang="en-US" b="1" dirty="0"/>
              <a:t>you do not need to write full sentences</a:t>
            </a:r>
            <a:r>
              <a:rPr lang="en-US" dirty="0"/>
              <a:t>. Your goal is simply to </a:t>
            </a:r>
            <a:r>
              <a:rPr lang="en-US" b="1" dirty="0"/>
              <a:t>write the correct word or phrase that completes the gap</a:t>
            </a:r>
            <a:r>
              <a:rPr lang="en-US" dirty="0"/>
              <a:t>. Writing full sentences can waste valuable time and may even cause you to miss the next answer.</a:t>
            </a:r>
          </a:p>
          <a:p>
            <a:r>
              <a:rPr lang="en-US" dirty="0"/>
              <a:t>Instead, focus on </a:t>
            </a:r>
            <a:r>
              <a:rPr lang="en-US" b="1" dirty="0"/>
              <a:t>writing only the essential words exactly as you hear them in the audio</a:t>
            </a:r>
            <a:r>
              <a:rPr lang="en-US" dirty="0"/>
              <a:t>. The listening test moves quickly, so keeping your answers short and precise will help you stay on track with the recording.</a:t>
            </a:r>
          </a:p>
          <a:p>
            <a:r>
              <a:rPr lang="en-US" dirty="0"/>
              <a:t>However, even though the answers are short, you still need to be careful with a few important details.</a:t>
            </a:r>
          </a:p>
          <a:p>
            <a:r>
              <a:rPr lang="en-US" dirty="0"/>
              <a:t>First, pay attention to </a:t>
            </a:r>
            <a:r>
              <a:rPr lang="en-US" b="1" dirty="0"/>
              <a:t>spelling</a:t>
            </a:r>
            <a:r>
              <a:rPr lang="en-US" dirty="0"/>
              <a:t>. IELTS Listening is strict about spelling, and a small mistake can cause you to lose the mark. If you are unsure about a word, try to write it as clearly and accurately as possible.</a:t>
            </a:r>
          </a:p>
          <a:p>
            <a:endParaRPr lang="en-US" dirty="0"/>
          </a:p>
          <a:p>
            <a:r>
              <a:rPr lang="en-US" dirty="0"/>
              <a:t>Second, remember to use </a:t>
            </a:r>
            <a:r>
              <a:rPr lang="en-US" b="1" dirty="0"/>
              <a:t>capital letters for names</a:t>
            </a:r>
            <a:r>
              <a:rPr lang="en-US" dirty="0"/>
              <a:t>, such as people, places, or organizations. For example, a person’s name or a city name should always begin with a capital letter.</a:t>
            </a:r>
          </a:p>
          <a:p>
            <a:endParaRPr lang="en-US" dirty="0"/>
          </a:p>
          <a:p>
            <a:r>
              <a:rPr lang="en-US" dirty="0"/>
              <a:t>You should also check </a:t>
            </a:r>
            <a:r>
              <a:rPr lang="en-US" b="1" dirty="0"/>
              <a:t>singular and plural nouns</a:t>
            </a:r>
            <a:r>
              <a:rPr lang="en-US" dirty="0"/>
              <a:t>. Sometimes the correct answer requires an </a:t>
            </a:r>
            <a:r>
              <a:rPr lang="en-US" b="1" dirty="0"/>
              <a:t>“s”</a:t>
            </a:r>
            <a:r>
              <a:rPr lang="en-US" dirty="0"/>
              <a:t> at the end, and forgetting it can make the answer incorrect.</a:t>
            </a:r>
          </a:p>
          <a:p>
            <a:endParaRPr lang="en-US" dirty="0"/>
          </a:p>
          <a:p>
            <a:r>
              <a:rPr lang="en-US" dirty="0"/>
              <a:t>Finally, if you miss an answer, </a:t>
            </a:r>
            <a:r>
              <a:rPr lang="en-US" b="1" dirty="0"/>
              <a:t>do not panic</a:t>
            </a:r>
            <a:r>
              <a:rPr lang="en-US" dirty="0"/>
              <a:t>. The recording will continue, and worrying about one question may cause you to miss the next one. Simply </a:t>
            </a:r>
            <a:r>
              <a:rPr lang="en-US" b="1" dirty="0"/>
              <a:t>move on and focus on the upcoming answers</a:t>
            </a:r>
            <a:r>
              <a:rPr lang="en-US" dirty="0"/>
              <a:t>. Often, staying calm and attentive will help you perform much better throughout the rest of the test.</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5</a:t>
            </a:fld>
            <a:endParaRPr lang="en-US"/>
          </a:p>
        </p:txBody>
      </p:sp>
    </p:spTree>
    <p:extLst>
      <p:ext uri="{BB962C8B-B14F-4D97-AF65-F5344CB8AC3E}">
        <p14:creationId xmlns:p14="http://schemas.microsoft.com/office/powerpoint/2010/main" val="3470191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t>
            </a:r>
            <a:r>
              <a:rPr lang="en-US" b="1" dirty="0"/>
              <a:t>IELTS NINER REVIEW CENTER</a:t>
            </a:r>
            <a:r>
              <a:rPr lang="en-US" dirty="0"/>
              <a:t>, students are trained to use simple but effective strategies to avoid losing easy points in the IELTS Listening test.</a:t>
            </a:r>
          </a:p>
          <a:p>
            <a:r>
              <a:rPr lang="en-US" dirty="0"/>
              <a:t>First, students learn to </a:t>
            </a:r>
            <a:r>
              <a:rPr lang="en-US" b="1" dirty="0"/>
              <a:t>write short and clear answers</a:t>
            </a:r>
            <a:r>
              <a:rPr lang="en-US" dirty="0"/>
              <a:t>. Instead of writing long phrases or full sentences, they focus only on the </a:t>
            </a:r>
            <a:r>
              <a:rPr lang="en-US" b="1" dirty="0"/>
              <a:t>exact word or phrase needed to complete the gap</a:t>
            </a:r>
            <a:r>
              <a:rPr lang="en-US" dirty="0"/>
              <a:t>. This helps them keep up with the recording and avoid missing the next answer.</a:t>
            </a:r>
          </a:p>
          <a:p>
            <a:endParaRPr lang="en-US" dirty="0"/>
          </a:p>
          <a:p>
            <a:r>
              <a:rPr lang="en-US" dirty="0"/>
              <a:t>Second, students are trained to </a:t>
            </a:r>
            <a:r>
              <a:rPr lang="en-US" b="1" dirty="0"/>
              <a:t>check grammar immediately after writing their answer</a:t>
            </a:r>
            <a:r>
              <a:rPr lang="en-US" dirty="0"/>
              <a:t>. Even though listening answers are short, small grammar details still matter. For example, students quickly check if the answer should be </a:t>
            </a:r>
            <a:r>
              <a:rPr lang="en-US" b="1" dirty="0"/>
              <a:t>singular or plural</a:t>
            </a:r>
            <a:r>
              <a:rPr lang="en-US" dirty="0"/>
              <a:t>, if the spelling is correct, and if a </a:t>
            </a:r>
            <a:r>
              <a:rPr lang="en-US" b="1" dirty="0"/>
              <a:t>capital letter</a:t>
            </a:r>
            <a:r>
              <a:rPr lang="en-US" dirty="0"/>
              <a:t> is needed for names or places.</a:t>
            </a:r>
          </a:p>
          <a:p>
            <a:r>
              <a:rPr lang="en-US" dirty="0"/>
              <a:t>Finally, students practice how to </a:t>
            </a:r>
            <a:r>
              <a:rPr lang="en-US" b="1" dirty="0"/>
              <a:t>review their answers quickly at the end of the test</a:t>
            </a:r>
            <a:r>
              <a:rPr lang="en-US" dirty="0"/>
              <a:t>. During the short checking time, they look for common mistakes such as spelling errors, missing letters, or answers that may exceed the word limit in the instructions.</a:t>
            </a:r>
          </a:p>
          <a:p>
            <a:endParaRPr lang="en-US" dirty="0"/>
          </a:p>
          <a:p>
            <a:r>
              <a:rPr lang="en-US" dirty="0"/>
              <a:t>These simple habits help students </a:t>
            </a:r>
            <a:r>
              <a:rPr lang="en-US" b="1" dirty="0"/>
              <a:t>stay organized and confident during the test</a:t>
            </a:r>
            <a:r>
              <a:rPr lang="en-US" dirty="0"/>
              <a:t>. By writing clearly, checking grammar quickly, and reviewing answers at the end, students can </a:t>
            </a:r>
            <a:r>
              <a:rPr lang="en-US" b="1" dirty="0"/>
              <a:t>reduce stress and protect their IELTS score</a:t>
            </a:r>
            <a:r>
              <a:rPr lang="en-US" dirty="0"/>
              <a:t>.</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6</a:t>
            </a:fld>
            <a:endParaRPr lang="en-US"/>
          </a:p>
        </p:txBody>
      </p:sp>
    </p:spTree>
    <p:extLst>
      <p:ext uri="{BB962C8B-B14F-4D97-AF65-F5344CB8AC3E}">
        <p14:creationId xmlns:p14="http://schemas.microsoft.com/office/powerpoint/2010/main" val="981742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that you know how to handle completion questions, let’s move to a more visual challenge.”</a:t>
            </a:r>
          </a:p>
          <a:p>
            <a:r>
              <a:rPr lang="en-US" sz="1200" kern="1200" dirty="0">
                <a:solidFill>
                  <a:schemeClr val="tx1"/>
                </a:solidFill>
                <a:effectLst/>
                <a:latin typeface="+mn-lt"/>
                <a:ea typeface="+mn-ea"/>
                <a:cs typeface="+mn-cs"/>
              </a:rPr>
              <a:t>“In the next video, we’ll cover: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Map and Diagram Labelling in IELTS Listening—and how to follow directions accurately.</a:t>
            </a:r>
            <a:r>
              <a:rPr lang="en-US" sz="1200" kern="1200" dirty="0">
                <a:solidFill>
                  <a:schemeClr val="tx1"/>
                </a:solidFill>
                <a:effectLst/>
                <a:latin typeface="+mn-lt"/>
                <a:ea typeface="+mn-ea"/>
                <a:cs typeface="+mn-cs"/>
              </a:rPr>
              <a:t>”</a:t>
            </a:r>
          </a:p>
          <a:p>
            <a:r>
              <a:rPr lang="en-US" sz="1200" kern="1200" dirty="0">
                <a:solidFill>
                  <a:schemeClr val="tx1"/>
                </a:solidFill>
                <a:effectLst/>
                <a:latin typeface="+mn-lt"/>
                <a:ea typeface="+mn-ea"/>
                <a:cs typeface="+mn-cs"/>
              </a:rPr>
              <a:t>“See you in the next video.”</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7</a:t>
            </a:fld>
            <a:endParaRPr lang="en-US"/>
          </a:p>
        </p:txBody>
      </p:sp>
    </p:spTree>
    <p:extLst>
      <p:ext uri="{BB962C8B-B14F-4D97-AF65-F5344CB8AC3E}">
        <p14:creationId xmlns:p14="http://schemas.microsoft.com/office/powerpoint/2010/main" val="279862527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3/7/2026</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3/7/2026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3/7/2026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3/7/2026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3/7/2026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3/7/2026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3/7/2026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3/7/2026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3/7/2026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3/7/2026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3/7/2026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3/7/2026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normAutofit fontScale="90000"/>
          </a:bodyPr>
          <a:lstStyle/>
          <a:p>
            <a:pPr algn="ctr"/>
            <a:r>
              <a:rPr lang="en-US" dirty="0"/>
              <a:t>Form, Note &amp; Table Completion | Write the Right Answer Fast</a:t>
            </a:r>
            <a:endParaRPr lang="en-US" b="1" dirty="0"/>
          </a:p>
        </p:txBody>
      </p:sp>
      <p:sp>
        <p:nvSpPr>
          <p:cNvPr id="7" name="Subtitle 6"/>
          <p:cNvSpPr>
            <a:spLocks noGrp="1"/>
          </p:cNvSpPr>
          <p:nvPr>
            <p:ph type="subTitle" idx="1"/>
          </p:nvPr>
        </p:nvSpPr>
        <p:spPr/>
        <p:txBody>
          <a:bodyPr/>
          <a:lstStyle/>
          <a:p>
            <a:r>
              <a:rPr lang="en-US" dirty="0"/>
              <a:t>Subtitle</a:t>
            </a:r>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pPr algn="ctr"/>
            <a:r>
              <a:rPr lang="en-US" dirty="0"/>
              <a:t>What Are Completion Questions?</a:t>
            </a:r>
          </a:p>
        </p:txBody>
      </p:sp>
      <p:sp>
        <p:nvSpPr>
          <p:cNvPr id="14" name="Content Placeholder 13"/>
          <p:cNvSpPr>
            <a:spLocks noGrp="1"/>
          </p:cNvSpPr>
          <p:nvPr>
            <p:ph idx="1"/>
          </p:nvPr>
        </p:nvSpPr>
        <p:spPr>
          <a:xfrm>
            <a:off x="547116" y="1600200"/>
            <a:ext cx="2708148" cy="4572000"/>
          </a:xfrm>
        </p:spPr>
        <p:txBody>
          <a:bodyPr>
            <a:normAutofit/>
          </a:bodyPr>
          <a:lstStyle/>
          <a:p>
            <a:r>
              <a:rPr lang="en-US" dirty="0"/>
              <a:t>“Form, note, and table completion questions require you to </a:t>
            </a:r>
            <a:r>
              <a:rPr lang="en-US" b="1" dirty="0"/>
              <a:t>write the exact words you </a:t>
            </a:r>
            <a:r>
              <a:rPr lang="en-US" b="1" dirty="0" err="1"/>
              <a:t>hear</a:t>
            </a:r>
            <a:r>
              <a:rPr lang="en-US" dirty="0" err="1"/>
              <a:t>.They</a:t>
            </a:r>
            <a:r>
              <a:rPr lang="en-US" dirty="0"/>
              <a:t> usually test:</a:t>
            </a:r>
          </a:p>
          <a:p>
            <a:pPr lvl="0"/>
            <a:r>
              <a:rPr lang="en-US" dirty="0"/>
              <a:t>Personal details</a:t>
            </a:r>
          </a:p>
          <a:p>
            <a:pPr lvl="0"/>
            <a:r>
              <a:rPr lang="en-US" dirty="0"/>
              <a:t>Practical information</a:t>
            </a:r>
          </a:p>
          <a:p>
            <a:pPr lvl="0"/>
            <a:r>
              <a:rPr lang="en-US" dirty="0"/>
              <a:t>Key facts from a conversation or talk”</a:t>
            </a:r>
          </a:p>
          <a:p>
            <a:r>
              <a:rPr lang="en-US" dirty="0"/>
              <a:t>“The answers come in the </a:t>
            </a:r>
            <a:r>
              <a:rPr lang="en-US" b="1" dirty="0"/>
              <a:t>same order as the audio</a:t>
            </a:r>
            <a:r>
              <a:rPr lang="en-US" dirty="0"/>
              <a:t>.”</a:t>
            </a:r>
          </a:p>
          <a:p>
            <a:pPr marL="0" indent="0">
              <a:buNone/>
            </a:pPr>
            <a:endParaRPr lang="en-US" dirty="0"/>
          </a:p>
        </p:txBody>
      </p:sp>
      <p:pic>
        <p:nvPicPr>
          <p:cNvPr id="1026" name="Picture 2" descr="IELTS Listening Sample – Table Completion Question – IELTS Jacky">
            <a:extLst>
              <a:ext uri="{FF2B5EF4-FFF2-40B4-BE49-F238E27FC236}">
                <a16:creationId xmlns:a16="http://schemas.microsoft.com/office/drawing/2014/main" id="{0C58E35D-60A1-CA32-CB7D-FBF5228C9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9459" y="4334256"/>
            <a:ext cx="5182092" cy="252374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ướng dẫn 6 biến thể dạng Completion IELTS Listening">
            <a:extLst>
              <a:ext uri="{FF2B5EF4-FFF2-40B4-BE49-F238E27FC236}">
                <a16:creationId xmlns:a16="http://schemas.microsoft.com/office/drawing/2014/main" id="{781DEEDF-0258-8B83-633B-46CD9DD663C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911"/>
          <a:stretch>
            <a:fillRect/>
          </a:stretch>
        </p:blipFill>
        <p:spPr bwMode="auto">
          <a:xfrm>
            <a:off x="3417797" y="2084832"/>
            <a:ext cx="3419043" cy="422725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ELTS Listening Note Completion Practice – IELTS Jacky">
            <a:extLst>
              <a:ext uri="{FF2B5EF4-FFF2-40B4-BE49-F238E27FC236}">
                <a16:creationId xmlns:a16="http://schemas.microsoft.com/office/drawing/2014/main" id="{FBE6F6AF-216A-E909-BCC1-BB94943440A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68946" y="1257300"/>
            <a:ext cx="5420499" cy="3259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xEl>
                                              <p:pRg st="1" end="1"/>
                                            </p:txEl>
                                          </p:spTgt>
                                        </p:tgtEl>
                                        <p:attrNameLst>
                                          <p:attrName>style.visibility</p:attrName>
                                        </p:attrNameLst>
                                      </p:cBhvr>
                                      <p:to>
                                        <p:strVal val="visible"/>
                                      </p:to>
                                    </p:set>
                                    <p:anim calcmode="lin" valueType="num">
                                      <p:cBhvr additive="base">
                                        <p:cTn id="7" dur="500" fill="hold"/>
                                        <p:tgtEl>
                                          <p:spTgt spid="1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xEl>
                                              <p:pRg st="2" end="2"/>
                                            </p:txEl>
                                          </p:spTgt>
                                        </p:tgtEl>
                                        <p:attrNameLst>
                                          <p:attrName>style.visibility</p:attrName>
                                        </p:attrNameLst>
                                      </p:cBhvr>
                                      <p:to>
                                        <p:strVal val="visible"/>
                                      </p:to>
                                    </p:set>
                                    <p:anim calcmode="lin" valueType="num">
                                      <p:cBhvr additive="base">
                                        <p:cTn id="13" dur="500" fill="hold"/>
                                        <p:tgtEl>
                                          <p:spTgt spid="1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xEl>
                                              <p:pRg st="3" end="3"/>
                                            </p:txEl>
                                          </p:spTgt>
                                        </p:tgtEl>
                                        <p:attrNameLst>
                                          <p:attrName>style.visibility</p:attrName>
                                        </p:attrNameLst>
                                      </p:cBhvr>
                                      <p:to>
                                        <p:strVal val="visible"/>
                                      </p:to>
                                    </p:set>
                                    <p:anim calcmode="lin" valueType="num">
                                      <p:cBhvr additive="base">
                                        <p:cTn id="19" dur="500" fill="hold"/>
                                        <p:tgtEl>
                                          <p:spTgt spid="1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xEl>
                                              <p:pRg st="4" end="4"/>
                                            </p:txEl>
                                          </p:spTgt>
                                        </p:tgtEl>
                                        <p:attrNameLst>
                                          <p:attrName>style.visibility</p:attrName>
                                        </p:attrNameLst>
                                      </p:cBhvr>
                                      <p:to>
                                        <p:strVal val="visible"/>
                                      </p:to>
                                    </p:set>
                                    <p:anim calcmode="lin" valueType="num">
                                      <p:cBhvr additive="base">
                                        <p:cTn id="25" dur="500" fill="hold"/>
                                        <p:tgtEl>
                                          <p:spTgt spid="1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Read the Instructions Carefully</a:t>
            </a:r>
          </a:p>
        </p:txBody>
      </p:sp>
      <p:sp>
        <p:nvSpPr>
          <p:cNvPr id="3" name="Content Placeholder 2"/>
          <p:cNvSpPr>
            <a:spLocks noGrp="1"/>
          </p:cNvSpPr>
          <p:nvPr>
            <p:ph sz="half" idx="1"/>
          </p:nvPr>
        </p:nvSpPr>
        <p:spPr>
          <a:xfrm>
            <a:off x="676656" y="1591056"/>
            <a:ext cx="11247120" cy="4261104"/>
          </a:xfrm>
        </p:spPr>
        <p:txBody>
          <a:bodyPr>
            <a:normAutofit/>
          </a:bodyPr>
          <a:lstStyle/>
          <a:p>
            <a:pPr marL="0" indent="0">
              <a:buNone/>
            </a:pPr>
            <a:r>
              <a:rPr lang="en-US" dirty="0"/>
              <a:t>Before listening, always check:</a:t>
            </a:r>
          </a:p>
          <a:p>
            <a:pPr lvl="0"/>
            <a:r>
              <a:rPr lang="en-US" dirty="0"/>
              <a:t>Word limit</a:t>
            </a:r>
          </a:p>
          <a:p>
            <a:pPr lvl="0"/>
            <a:r>
              <a:rPr lang="en-US" dirty="0"/>
              <a:t>Whether numbers are allowed</a:t>
            </a:r>
          </a:p>
          <a:p>
            <a:pPr lvl="0"/>
            <a:r>
              <a:rPr lang="en-US" dirty="0"/>
              <a:t>Singular or plural forms”</a:t>
            </a:r>
          </a:p>
          <a:p>
            <a:pPr marL="0" indent="0">
              <a:buNone/>
            </a:pPr>
            <a:r>
              <a:rPr lang="en-US" dirty="0"/>
              <a:t>For example:</a:t>
            </a:r>
            <a:br>
              <a:rPr lang="en-US" dirty="0"/>
            </a:br>
            <a:r>
              <a:rPr lang="en-US" dirty="0"/>
              <a:t>‘NO MORE THAN TWO WORDS AND/OR A NUMBER’”</a:t>
            </a:r>
          </a:p>
          <a:p>
            <a:pPr marL="0" indent="0">
              <a:buNone/>
            </a:pPr>
            <a:r>
              <a:rPr lang="en-US" dirty="0"/>
              <a:t>Breaking this rule automatically loses the mark</a:t>
            </a:r>
          </a:p>
          <a:p>
            <a:endParaRPr lang="en-US" dirty="0"/>
          </a:p>
        </p:txBody>
      </p:sp>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Step 2: Predict the Type of Answer</a:t>
            </a:r>
          </a:p>
        </p:txBody>
      </p:sp>
      <p:sp>
        <p:nvSpPr>
          <p:cNvPr id="5" name="Content Placeholder 4">
            <a:extLst>
              <a:ext uri="{FF2B5EF4-FFF2-40B4-BE49-F238E27FC236}">
                <a16:creationId xmlns:a16="http://schemas.microsoft.com/office/drawing/2014/main" id="{13D4BCEF-0073-2E16-B748-CABE32A03A34}"/>
              </a:ext>
            </a:extLst>
          </p:cNvPr>
          <p:cNvSpPr>
            <a:spLocks noGrp="1"/>
          </p:cNvSpPr>
          <p:nvPr>
            <p:ph idx="1"/>
          </p:nvPr>
        </p:nvSpPr>
        <p:spPr>
          <a:xfrm>
            <a:off x="894588" y="1618488"/>
            <a:ext cx="5743956" cy="4572000"/>
          </a:xfrm>
        </p:spPr>
        <p:txBody>
          <a:bodyPr/>
          <a:lstStyle/>
          <a:p>
            <a:pPr marL="0" indent="0">
              <a:buNone/>
            </a:pPr>
            <a:r>
              <a:rPr lang="en-US" dirty="0"/>
              <a:t>Use prediction to your advantage.”</a:t>
            </a:r>
          </a:p>
          <a:p>
            <a:pPr marL="0" indent="0">
              <a:buNone/>
            </a:pPr>
            <a:r>
              <a:rPr lang="en-US" dirty="0"/>
              <a:t>Look at each gap and ask:</a:t>
            </a:r>
          </a:p>
          <a:p>
            <a:pPr lvl="0"/>
            <a:r>
              <a:rPr lang="en-US" dirty="0"/>
              <a:t>Is this a </a:t>
            </a:r>
            <a:r>
              <a:rPr lang="en-US" b="1" dirty="0"/>
              <a:t>name</a:t>
            </a:r>
            <a:r>
              <a:rPr lang="en-US" dirty="0"/>
              <a:t>?</a:t>
            </a:r>
          </a:p>
          <a:p>
            <a:pPr lvl="0"/>
            <a:r>
              <a:rPr lang="en-US" dirty="0"/>
              <a:t>A </a:t>
            </a:r>
            <a:r>
              <a:rPr lang="en-US" b="1" dirty="0"/>
              <a:t>number</a:t>
            </a:r>
            <a:r>
              <a:rPr lang="en-US" dirty="0"/>
              <a:t>?</a:t>
            </a:r>
          </a:p>
          <a:p>
            <a:pPr lvl="0"/>
            <a:r>
              <a:rPr lang="en-US" dirty="0"/>
              <a:t>A </a:t>
            </a:r>
            <a:r>
              <a:rPr lang="en-US" b="1" dirty="0"/>
              <a:t>place</a:t>
            </a:r>
            <a:r>
              <a:rPr lang="en-US" dirty="0"/>
              <a:t>?</a:t>
            </a:r>
          </a:p>
          <a:p>
            <a:pPr lvl="0"/>
            <a:r>
              <a:rPr lang="en-US" dirty="0"/>
              <a:t>A </a:t>
            </a:r>
            <a:r>
              <a:rPr lang="en-US" b="1" dirty="0"/>
              <a:t>noun or adjective</a:t>
            </a:r>
            <a:r>
              <a:rPr lang="en-US" dirty="0"/>
              <a:t>?”</a:t>
            </a:r>
          </a:p>
          <a:p>
            <a:pPr marL="0" indent="0">
              <a:buNone/>
            </a:pPr>
            <a:r>
              <a:rPr lang="en-US" dirty="0"/>
              <a:t>This helps you catch the answer even if the speaker talks quickly.”</a:t>
            </a:r>
          </a:p>
          <a:p>
            <a:pPr marL="0" indent="0">
              <a:buNone/>
            </a:pPr>
            <a:endParaRPr lang="en-US" dirty="0"/>
          </a:p>
        </p:txBody>
      </p:sp>
      <p:sp>
        <p:nvSpPr>
          <p:cNvPr id="6" name="TextBox 5">
            <a:extLst>
              <a:ext uri="{FF2B5EF4-FFF2-40B4-BE49-F238E27FC236}">
                <a16:creationId xmlns:a16="http://schemas.microsoft.com/office/drawing/2014/main" id="{688D098C-9B17-8780-0608-A7F0F88582D0}"/>
              </a:ext>
            </a:extLst>
          </p:cNvPr>
          <p:cNvSpPr txBox="1"/>
          <p:nvPr/>
        </p:nvSpPr>
        <p:spPr>
          <a:xfrm>
            <a:off x="6739128" y="1673352"/>
            <a:ext cx="4572000" cy="3693319"/>
          </a:xfrm>
          <a:prstGeom prst="rect">
            <a:avLst/>
          </a:prstGeom>
          <a:solidFill>
            <a:schemeClr val="accent5">
              <a:lumMod val="40000"/>
              <a:lumOff val="60000"/>
            </a:schemeClr>
          </a:solidFill>
        </p:spPr>
        <p:txBody>
          <a:bodyPr wrap="square" rtlCol="0">
            <a:spAutoFit/>
          </a:bodyPr>
          <a:lstStyle/>
          <a:p>
            <a:r>
              <a:rPr lang="en-US" b="1" dirty="0"/>
              <a:t>Example 1: Predicting a Name</a:t>
            </a:r>
          </a:p>
          <a:p>
            <a:endParaRPr lang="en-US" b="1" dirty="0"/>
          </a:p>
          <a:p>
            <a:r>
              <a:rPr lang="en-US" b="1" dirty="0"/>
              <a:t>Question:</a:t>
            </a:r>
          </a:p>
          <a:p>
            <a:br>
              <a:rPr lang="en-US" dirty="0"/>
            </a:br>
            <a:r>
              <a:rPr lang="en-US" b="1" dirty="0"/>
              <a:t>The appointment is booked under the name _______.</a:t>
            </a:r>
          </a:p>
          <a:p>
            <a:endParaRPr lang="en-US" dirty="0"/>
          </a:p>
          <a:p>
            <a:r>
              <a:rPr lang="en-US" dirty="0"/>
              <a:t>Prediction:</a:t>
            </a:r>
            <a:br>
              <a:rPr lang="en-US" dirty="0"/>
            </a:br>
            <a:r>
              <a:rPr lang="en-US" dirty="0"/>
              <a:t>Ask yourself: </a:t>
            </a:r>
            <a:r>
              <a:rPr lang="en-US" i="1" dirty="0"/>
              <a:t>What kind of answer fits here?</a:t>
            </a:r>
            <a:br>
              <a:rPr lang="en-US" dirty="0"/>
            </a:br>
            <a:r>
              <a:rPr lang="en-US" dirty="0"/>
              <a:t>The phrase </a:t>
            </a:r>
            <a:r>
              <a:rPr lang="en-US" b="1" dirty="0"/>
              <a:t>“under the name”</a:t>
            </a:r>
            <a:r>
              <a:rPr lang="en-US" dirty="0"/>
              <a:t> tells you the answer will be </a:t>
            </a:r>
            <a:r>
              <a:rPr lang="en-US" b="1" dirty="0"/>
              <a:t>a person’s name</a:t>
            </a:r>
            <a:r>
              <a:rPr lang="en-US" dirty="0"/>
              <a:t>.</a:t>
            </a:r>
          </a:p>
          <a:p>
            <a:endParaRPr lang="en-US" dirty="0"/>
          </a:p>
        </p:txBody>
      </p:sp>
    </p:spTree>
    <p:extLst>
      <p:ext uri="{BB962C8B-B14F-4D97-AF65-F5344CB8AC3E}">
        <p14:creationId xmlns:p14="http://schemas.microsoft.com/office/powerpoint/2010/main" val="422450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randombar(horizontal)">
                                      <p:cBhvr>
                                        <p:cTn id="7" dur="500"/>
                                        <p:tgtEl>
                                          <p:spTgt spid="5">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5">
                                            <p:txEl>
                                              <p:pRg st="3" end="3"/>
                                            </p:txEl>
                                          </p:spTgt>
                                        </p:tgtEl>
                                        <p:attrNameLst>
                                          <p:attrName>style.visibility</p:attrName>
                                        </p:attrNameLst>
                                      </p:cBhvr>
                                      <p:to>
                                        <p:strVal val="visible"/>
                                      </p:to>
                                    </p:set>
                                    <p:animEffect transition="in" filter="randombar(horizontal)">
                                      <p:cBhvr>
                                        <p:cTn id="10" dur="500"/>
                                        <p:tgtEl>
                                          <p:spTgt spid="5">
                                            <p:txEl>
                                              <p:pRg st="3" end="3"/>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randombar(horizontal)">
                                      <p:cBhvr>
                                        <p:cTn id="13" dur="500"/>
                                        <p:tgtEl>
                                          <p:spTgt spid="5">
                                            <p:txEl>
                                              <p:pRg st="4" end="4"/>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5">
                                            <p:txEl>
                                              <p:pRg st="5" end="5"/>
                                            </p:txEl>
                                          </p:spTgt>
                                        </p:tgtEl>
                                        <p:attrNameLst>
                                          <p:attrName>style.visibility</p:attrName>
                                        </p:attrNameLst>
                                      </p:cBhvr>
                                      <p:to>
                                        <p:strVal val="visible"/>
                                      </p:to>
                                    </p:set>
                                    <p:animEffect transition="in" filter="randombar(horizontal)">
                                      <p:cBhvr>
                                        <p:cTn id="16" dur="500"/>
                                        <p:tgtEl>
                                          <p:spTgt spid="5">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animEffect transition="in" filter="randombar(horizontal)">
                                      <p:cBhvr>
                                        <p:cTn id="21" dur="500"/>
                                        <p:tgtEl>
                                          <p:spTgt spid="5">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randombar(horizontal)">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3: Write While Listening</a:t>
            </a:r>
          </a:p>
        </p:txBody>
      </p:sp>
      <p:sp>
        <p:nvSpPr>
          <p:cNvPr id="4" name="Text Placeholder 3"/>
          <p:cNvSpPr>
            <a:spLocks noGrp="1"/>
          </p:cNvSpPr>
          <p:nvPr>
            <p:ph type="body" sz="half" idx="2"/>
          </p:nvPr>
        </p:nvSpPr>
        <p:spPr>
          <a:xfrm>
            <a:off x="345948" y="1828800"/>
            <a:ext cx="5497068" cy="4572000"/>
          </a:xfrm>
        </p:spPr>
        <p:txBody>
          <a:bodyPr/>
          <a:lstStyle/>
          <a:p>
            <a:pPr marL="342900" indent="-342900">
              <a:buFont typeface="Wingdings" panose="05000000000000000000" pitchFamily="2" charset="2"/>
              <a:buChar char="Ø"/>
            </a:pPr>
            <a:r>
              <a:rPr lang="en-US" sz="2400" dirty="0"/>
              <a:t>You don’t need to write full </a:t>
            </a:r>
            <a:r>
              <a:rPr lang="en-US" sz="2400" dirty="0" err="1"/>
              <a:t>sentences.Write</a:t>
            </a:r>
            <a:r>
              <a:rPr lang="en-US" sz="2400" dirty="0"/>
              <a:t> only the </a:t>
            </a:r>
            <a:r>
              <a:rPr lang="en-US" sz="2400" b="1" dirty="0"/>
              <a:t>essential words</a:t>
            </a:r>
            <a:r>
              <a:rPr lang="en-US" sz="2400" dirty="0"/>
              <a:t>, exactly as you hear them.</a:t>
            </a:r>
          </a:p>
          <a:p>
            <a:pPr marL="342900" indent="-342900">
              <a:buFont typeface="Wingdings" panose="05000000000000000000" pitchFamily="2" charset="2"/>
              <a:buChar char="Ø"/>
            </a:pPr>
            <a:r>
              <a:rPr lang="en-US" sz="2400" dirty="0"/>
              <a:t>Be careful with:</a:t>
            </a:r>
          </a:p>
          <a:p>
            <a:pPr marL="342900" lvl="0" indent="-342900">
              <a:buFont typeface="Wingdings" panose="05000000000000000000" pitchFamily="2" charset="2"/>
              <a:buChar char="§"/>
            </a:pPr>
            <a:r>
              <a:rPr lang="en-US" sz="2400" dirty="0"/>
              <a:t>Spelling</a:t>
            </a:r>
          </a:p>
          <a:p>
            <a:pPr marL="342900" lvl="0" indent="-342900">
              <a:buFont typeface="Wingdings" panose="05000000000000000000" pitchFamily="2" charset="2"/>
              <a:buChar char="§"/>
            </a:pPr>
            <a:r>
              <a:rPr lang="en-US" sz="2400" dirty="0"/>
              <a:t>Capital letters for names</a:t>
            </a:r>
          </a:p>
          <a:p>
            <a:pPr marL="342900" lvl="0" indent="-342900">
              <a:buFont typeface="Wingdings" panose="05000000000000000000" pitchFamily="2" charset="2"/>
              <a:buChar char="§"/>
            </a:pPr>
            <a:r>
              <a:rPr lang="en-US" sz="2400" dirty="0"/>
              <a:t>Singular and plural nouns</a:t>
            </a:r>
          </a:p>
          <a:p>
            <a:pPr marL="342900" indent="-342900">
              <a:buFont typeface="Wingdings" panose="05000000000000000000" pitchFamily="2" charset="2"/>
              <a:buChar char="Ø"/>
            </a:pPr>
            <a:r>
              <a:rPr lang="en-US" sz="2400" dirty="0"/>
              <a:t>If you miss an answer, move on—don’t panic.</a:t>
            </a:r>
          </a:p>
          <a:p>
            <a:endParaRPr lang="en-US" dirty="0"/>
          </a:p>
        </p:txBody>
      </p:sp>
      <p:sp>
        <p:nvSpPr>
          <p:cNvPr id="7" name="TextBox 6">
            <a:extLst>
              <a:ext uri="{FF2B5EF4-FFF2-40B4-BE49-F238E27FC236}">
                <a16:creationId xmlns:a16="http://schemas.microsoft.com/office/drawing/2014/main" id="{0C073BB0-82E9-56D2-EA2E-7BD8D26CD214}"/>
              </a:ext>
            </a:extLst>
          </p:cNvPr>
          <p:cNvSpPr txBox="1"/>
          <p:nvPr/>
        </p:nvSpPr>
        <p:spPr>
          <a:xfrm>
            <a:off x="6437376" y="1828800"/>
            <a:ext cx="5266943" cy="4062651"/>
          </a:xfrm>
          <a:prstGeom prst="rect">
            <a:avLst/>
          </a:prstGeom>
          <a:solidFill>
            <a:schemeClr val="bg2">
              <a:lumMod val="90000"/>
            </a:schemeClr>
          </a:solidFill>
        </p:spPr>
        <p:txBody>
          <a:bodyPr wrap="square" rtlCol="0">
            <a:spAutoFit/>
          </a:bodyPr>
          <a:lstStyle/>
          <a:p>
            <a:r>
              <a:rPr lang="en-US" sz="2000" b="1" dirty="0"/>
              <a:t>Example 1: Writing the Key Word Only</a:t>
            </a:r>
          </a:p>
          <a:p>
            <a:r>
              <a:rPr lang="en-US" sz="2000" dirty="0"/>
              <a:t>Sentence in the question:</a:t>
            </a:r>
            <a:br>
              <a:rPr lang="en-US" sz="2000" dirty="0"/>
            </a:br>
            <a:r>
              <a:rPr lang="en-US" sz="2000" b="1" dirty="0"/>
              <a:t>Students must bring their ______ to the test.</a:t>
            </a:r>
            <a:endParaRPr lang="en-US" sz="2000" dirty="0"/>
          </a:p>
          <a:p>
            <a:r>
              <a:rPr lang="en-US" sz="2000" dirty="0"/>
              <a:t>Audio:</a:t>
            </a:r>
            <a:br>
              <a:rPr lang="en-US" sz="2000" dirty="0"/>
            </a:br>
            <a:r>
              <a:rPr lang="en-US" sz="2000" dirty="0"/>
              <a:t>“Please remember to bring your </a:t>
            </a:r>
            <a:r>
              <a:rPr lang="en-US" sz="2000" b="1" dirty="0"/>
              <a:t>passport</a:t>
            </a:r>
            <a:r>
              <a:rPr lang="en-US" sz="2000" dirty="0"/>
              <a:t> on the test day.”</a:t>
            </a:r>
          </a:p>
          <a:p>
            <a:r>
              <a:rPr lang="en-US" sz="2000" dirty="0"/>
              <a:t>Correct answer:</a:t>
            </a:r>
            <a:br>
              <a:rPr lang="en-US" sz="2000" dirty="0"/>
            </a:br>
            <a:r>
              <a:rPr lang="en-US" sz="2000" b="1" dirty="0"/>
              <a:t>passport</a:t>
            </a:r>
            <a:endParaRPr lang="en-US" sz="2000" dirty="0"/>
          </a:p>
          <a:p>
            <a:r>
              <a:rPr lang="en-US" sz="2000" dirty="0"/>
              <a:t>❌ Wrong: </a:t>
            </a:r>
            <a:r>
              <a:rPr lang="en-US" sz="2000" i="1" dirty="0"/>
              <a:t>Students must bring their passport to the test.</a:t>
            </a:r>
            <a:br>
              <a:rPr lang="en-US" sz="2000" dirty="0"/>
            </a:br>
            <a:r>
              <a:rPr lang="en-US" sz="2000" dirty="0"/>
              <a:t>✅ Correct: </a:t>
            </a:r>
            <a:r>
              <a:rPr lang="en-US" sz="2000" b="1" dirty="0"/>
              <a:t>passport</a:t>
            </a:r>
            <a:endParaRPr lang="en-US" sz="2000" dirty="0"/>
          </a:p>
          <a:p>
            <a:endParaRPr lang="en-US" dirty="0"/>
          </a:p>
        </p:txBody>
      </p:sp>
    </p:spTree>
    <p:extLst>
      <p:ext uri="{BB962C8B-B14F-4D97-AF65-F5344CB8AC3E}">
        <p14:creationId xmlns:p14="http://schemas.microsoft.com/office/powerpoint/2010/main" val="368354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randombar(horizontal)">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 calcmode="lin" valueType="num">
                                      <p:cBhvr additive="base">
                                        <p:cTn id="1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 calcmode="lin" valueType="num">
                                      <p:cBhvr additive="base">
                                        <p:cTn id="24"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xEl>
                                              <p:pRg st="3" end="3"/>
                                            </p:txEl>
                                          </p:spTgt>
                                        </p:tgtEl>
                                        <p:attrNameLst>
                                          <p:attrName>style.visibility</p:attrName>
                                        </p:attrNameLst>
                                      </p:cBhvr>
                                      <p:to>
                                        <p:strVal val="visible"/>
                                      </p:to>
                                    </p:set>
                                    <p:anim calcmode="lin" valueType="num">
                                      <p:cBhvr additive="base">
                                        <p:cTn id="30"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
                                            <p:txEl>
                                              <p:pRg st="4" end="4"/>
                                            </p:txEl>
                                          </p:spTgt>
                                        </p:tgtEl>
                                        <p:attrNameLst>
                                          <p:attrName>style.visibility</p:attrName>
                                        </p:attrNameLst>
                                      </p:cBhvr>
                                      <p:to>
                                        <p:strVal val="visible"/>
                                      </p:to>
                                    </p:set>
                                    <p:anim calcmode="lin" valueType="num">
                                      <p:cBhvr additive="base">
                                        <p:cTn id="36"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 calcmode="lin" valueType="num">
                                      <p:cBhvr additive="base">
                                        <p:cTn id="42"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E14EE-55A4-A009-288A-4385E98C07C9}"/>
              </a:ext>
            </a:extLst>
          </p:cNvPr>
          <p:cNvSpPr>
            <a:spLocks noGrp="1"/>
          </p:cNvSpPr>
          <p:nvPr>
            <p:ph type="title"/>
          </p:nvPr>
        </p:nvSpPr>
        <p:spPr/>
        <p:txBody>
          <a:bodyPr/>
          <a:lstStyle/>
          <a:p>
            <a:pPr algn="ctr"/>
            <a:r>
              <a:rPr lang="en-US" dirty="0"/>
              <a:t>Advice from IELTS NINER REVIEW CENTER</a:t>
            </a:r>
          </a:p>
        </p:txBody>
      </p:sp>
      <p:sp>
        <p:nvSpPr>
          <p:cNvPr id="6" name="TextBox 5">
            <a:extLst>
              <a:ext uri="{FF2B5EF4-FFF2-40B4-BE49-F238E27FC236}">
                <a16:creationId xmlns:a16="http://schemas.microsoft.com/office/drawing/2014/main" id="{CA56A3DA-F749-E883-0C38-38B9C0D7DB71}"/>
              </a:ext>
            </a:extLst>
          </p:cNvPr>
          <p:cNvSpPr txBox="1"/>
          <p:nvPr/>
        </p:nvSpPr>
        <p:spPr>
          <a:xfrm>
            <a:off x="987552" y="1865376"/>
            <a:ext cx="10098030" cy="3046988"/>
          </a:xfrm>
          <a:prstGeom prst="rect">
            <a:avLst/>
          </a:prstGeom>
          <a:noFill/>
        </p:spPr>
        <p:txBody>
          <a:bodyPr wrap="square">
            <a:spAutoFit/>
          </a:bodyPr>
          <a:lstStyle/>
          <a:p>
            <a:pPr marL="0" marR="0">
              <a:buNone/>
            </a:pPr>
            <a:r>
              <a:rPr lang="en-US" sz="2400" dirty="0">
                <a:effectLst/>
                <a:ea typeface="Times New Roman" panose="02020603050405020304" pitchFamily="18" charset="0"/>
              </a:rPr>
              <a:t>At </a:t>
            </a:r>
            <a:r>
              <a:rPr lang="en-US" sz="2400" b="1" dirty="0">
                <a:effectLst/>
                <a:ea typeface="Times New Roman" panose="02020603050405020304" pitchFamily="18" charset="0"/>
              </a:rPr>
              <a:t>IELTS NINER REVIEW CENTER</a:t>
            </a:r>
            <a:r>
              <a:rPr lang="en-US" sz="2400" dirty="0">
                <a:effectLst/>
                <a:ea typeface="Times New Roman" panose="02020603050405020304" pitchFamily="18" charset="0"/>
              </a:rPr>
              <a:t>, we train students to:</a:t>
            </a:r>
          </a:p>
          <a:p>
            <a:pPr marL="0" marR="0">
              <a:buNone/>
            </a:pPr>
            <a:endParaRPr lang="en-US" sz="2400" dirty="0">
              <a:effectLst/>
              <a:ea typeface="Times New Roman" panose="02020603050405020304" pitchFamily="18" charset="0"/>
            </a:endParaRPr>
          </a:p>
          <a:p>
            <a:pPr marL="342900" marR="0" lvl="0" indent="-342900">
              <a:buSzPts val="1000"/>
              <a:buFont typeface="Wingdings" panose="05000000000000000000" pitchFamily="2" charset="2"/>
              <a:buChar char="q"/>
              <a:tabLst>
                <a:tab pos="457200" algn="l"/>
              </a:tabLst>
            </a:pPr>
            <a:r>
              <a:rPr lang="en-US" sz="2400" dirty="0">
                <a:effectLst/>
                <a:ea typeface="Times New Roman" panose="02020603050405020304" pitchFamily="18" charset="0"/>
              </a:rPr>
              <a:t>Write short, clear answers</a:t>
            </a:r>
          </a:p>
          <a:p>
            <a:pPr marL="342900" marR="0" lvl="0" indent="-342900">
              <a:buSzPts val="1000"/>
              <a:buFont typeface="Wingdings" panose="05000000000000000000" pitchFamily="2" charset="2"/>
              <a:buChar char="q"/>
              <a:tabLst>
                <a:tab pos="457200" algn="l"/>
              </a:tabLst>
            </a:pPr>
            <a:r>
              <a:rPr lang="en-US" sz="2400" dirty="0">
                <a:effectLst/>
                <a:ea typeface="Times New Roman" panose="02020603050405020304" pitchFamily="18" charset="0"/>
              </a:rPr>
              <a:t>Check grammar immediately</a:t>
            </a:r>
          </a:p>
          <a:p>
            <a:pPr marL="342900" marR="0" lvl="0" indent="-342900">
              <a:buSzPts val="1000"/>
              <a:buFont typeface="Wingdings" panose="05000000000000000000" pitchFamily="2" charset="2"/>
              <a:buChar char="q"/>
              <a:tabLst>
                <a:tab pos="457200" algn="l"/>
              </a:tabLst>
            </a:pPr>
            <a:r>
              <a:rPr lang="en-US" sz="2400" dirty="0">
                <a:effectLst/>
                <a:ea typeface="Times New Roman" panose="02020603050405020304" pitchFamily="18" charset="0"/>
              </a:rPr>
              <a:t>Review answers quickly at the end</a:t>
            </a:r>
          </a:p>
          <a:p>
            <a:pPr marL="342900" marR="0" lvl="0" indent="-342900">
              <a:buSzPts val="1000"/>
              <a:buFont typeface="Symbol" panose="05050102010706020507" pitchFamily="18" charset="2"/>
              <a:buChar char=""/>
              <a:tabLst>
                <a:tab pos="457200" algn="l"/>
              </a:tabLst>
            </a:pPr>
            <a:endParaRPr lang="en-US" sz="2400" dirty="0">
              <a:ea typeface="Times New Roman" panose="02020603050405020304" pitchFamily="18" charset="0"/>
            </a:endParaRPr>
          </a:p>
          <a:p>
            <a:pPr marL="342900" marR="0" lvl="0" indent="-342900">
              <a:buSzPts val="1000"/>
              <a:buFont typeface="Symbol" panose="05050102010706020507" pitchFamily="18" charset="2"/>
              <a:buChar char=""/>
              <a:tabLst>
                <a:tab pos="457200" algn="l"/>
              </a:tabLst>
            </a:pPr>
            <a:endParaRPr lang="en-US" sz="2400" dirty="0">
              <a:effectLst/>
              <a:ea typeface="Times New Roman" panose="02020603050405020304" pitchFamily="18" charset="0"/>
            </a:endParaRPr>
          </a:p>
          <a:p>
            <a:pPr marL="0" marR="0">
              <a:buNone/>
            </a:pPr>
            <a:r>
              <a:rPr lang="en-US" sz="2400" dirty="0">
                <a:effectLst/>
                <a:ea typeface="Times New Roman" panose="02020603050405020304" pitchFamily="18" charset="0"/>
              </a:rPr>
              <a:t>This reduces stress and protects your score.</a:t>
            </a:r>
          </a:p>
        </p:txBody>
      </p:sp>
    </p:spTree>
    <p:extLst>
      <p:ext uri="{BB962C8B-B14F-4D97-AF65-F5344CB8AC3E}">
        <p14:creationId xmlns:p14="http://schemas.microsoft.com/office/powerpoint/2010/main" val="2473335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 calcmode="lin" valueType="num">
                                      <p:cBhvr additive="base">
                                        <p:cTn id="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 calcmode="lin" valueType="num">
                                      <p:cBhvr additive="base">
                                        <p:cTn id="13"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 calcmode="lin" valueType="num">
                                      <p:cBhvr additive="base">
                                        <p:cTn id="1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animEffect transition="in" filter="wipe(down)">
                                      <p:cBhvr>
                                        <p:cTn id="25" dur="500"/>
                                        <p:tgtEl>
                                          <p:spTgt spid="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Add a Slide Title - 1</a:t>
            </a:r>
          </a:p>
        </p:txBody>
      </p:sp>
      <p:sp>
        <p:nvSpPr>
          <p:cNvPr id="3" name="Subtitle 2"/>
          <p:cNvSpPr>
            <a:spLocks noGrp="1"/>
          </p:cNvSpPr>
          <p:nvPr>
            <p:ph type="subTitle" idx="1"/>
          </p:nvPr>
        </p:nvSpPr>
        <p:spPr/>
        <p:txBody>
          <a:bodyPr/>
          <a:lstStyle/>
          <a:p>
            <a:endParaRPr lang="en-US"/>
          </a:p>
        </p:txBody>
      </p:sp>
      <p:pic>
        <p:nvPicPr>
          <p:cNvPr id="1026" name="Picture 2" descr="IELTS Listening Map Labelling Practice">
            <a:extLst>
              <a:ext uri="{FF2B5EF4-FFF2-40B4-BE49-F238E27FC236}">
                <a16:creationId xmlns:a16="http://schemas.microsoft.com/office/drawing/2014/main" id="{A0CFC50A-394E-B506-37A0-9DF1A38731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484" y="1181375"/>
            <a:ext cx="6124913" cy="48536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ELTS Listening Practice Tests – Diagram Labelling – IELTS Jacky">
            <a:extLst>
              <a:ext uri="{FF2B5EF4-FFF2-40B4-BE49-F238E27FC236}">
                <a16:creationId xmlns:a16="http://schemas.microsoft.com/office/drawing/2014/main" id="{E2253069-41D9-EB78-1F60-9A662293AB3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93" t="17226" r="3804" b="4134"/>
          <a:stretch>
            <a:fillRect/>
          </a:stretch>
        </p:blipFill>
        <p:spPr bwMode="auto">
          <a:xfrm>
            <a:off x="6848857" y="477287"/>
            <a:ext cx="5074920" cy="5393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6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arn(inVertical)">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028"/>
                                        </p:tgtEl>
                                        <p:attrNameLst>
                                          <p:attrName>style.visibility</p:attrName>
                                        </p:attrNameLst>
                                      </p:cBhvr>
                                      <p:to>
                                        <p:strVal val="visible"/>
                                      </p:to>
                                    </p:set>
                                    <p:animEffect transition="in" filter="barn(inVertical)">
                                      <p:cBhvr>
                                        <p:cTn id="12" dur="500"/>
                                        <p:tgtEl>
                                          <p:spTgt spid="1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450</TotalTime>
  <Words>1877</Words>
  <Application>Microsoft Office PowerPoint</Application>
  <PresentationFormat>Widescreen</PresentationFormat>
  <Paragraphs>102</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Euphemia</vt:lpstr>
      <vt:lpstr>Plantagenet Cherokee</vt:lpstr>
      <vt:lpstr>Symbol</vt:lpstr>
      <vt:lpstr>Times New Roman</vt:lpstr>
      <vt:lpstr>Wingdings</vt:lpstr>
      <vt:lpstr>Academic Literature 16x9</vt:lpstr>
      <vt:lpstr>Form, Note &amp; Table Completion | Write the Right Answer Fast</vt:lpstr>
      <vt:lpstr>What Are Completion Questions?</vt:lpstr>
      <vt:lpstr>Step 1: Read the Instructions Carefully</vt:lpstr>
      <vt:lpstr>Step 2: Predict the Type of Answer</vt:lpstr>
      <vt:lpstr>Step 3: Write While Listening</vt:lpstr>
      <vt:lpstr>Advice from IELTS NINER REVIEW CENTER</vt:lpstr>
      <vt:lpstr>Add a Slide Title - 1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April Ampong</dc:creator>
  <cp:lastModifiedBy>April Ampong</cp:lastModifiedBy>
  <cp:revision>2</cp:revision>
  <dcterms:created xsi:type="dcterms:W3CDTF">2026-03-06T04:48:36Z</dcterms:created>
  <dcterms:modified xsi:type="dcterms:W3CDTF">2026-03-07T12:25:14Z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