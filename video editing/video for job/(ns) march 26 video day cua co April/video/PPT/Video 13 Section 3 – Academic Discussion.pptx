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6" r:id="rId10"/>
    <p:sldId id="267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8" autoAdjust="0"/>
    <p:restoredTop sz="69721" autoAdjust="0"/>
  </p:normalViewPr>
  <p:slideViewPr>
    <p:cSldViewPr snapToGrid="0" showGuides="1">
      <p:cViewPr>
        <p:scale>
          <a:sx n="90" d="100"/>
          <a:sy n="90" d="100"/>
        </p:scale>
        <p:origin x="-16" y="-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3/24/2026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3/24/2026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“IELTS Listening Section 3 is widely regarded as one of the most challenging parts of the test, where many candidates begin to lose track of the conversation.</a:t>
            </a:r>
            <a:br>
              <a:rPr lang="en-US" dirty="0"/>
            </a:br>
            <a:r>
              <a:rPr lang="en-US" dirty="0"/>
              <a:t>With two or three speakers involved, often using similar voices and expressing changing or contrasting opinions, it becomes increasingly difficult to follow the flow of information.”</a:t>
            </a:r>
          </a:p>
          <a:p>
            <a:r>
              <a:rPr lang="en-US" dirty="0"/>
              <a:t>“As the discussion develops, ideas are introduced, clarified, and sometimes corrected, which can easily cause confusion.</a:t>
            </a:r>
            <a:br>
              <a:rPr lang="en-US" dirty="0"/>
            </a:br>
            <a:r>
              <a:rPr lang="en-US" dirty="0"/>
              <a:t>As a result, candidates may miss key details before they even realize it.”</a:t>
            </a:r>
          </a:p>
          <a:p>
            <a:r>
              <a:rPr lang="en-US" dirty="0"/>
              <a:t>“However, this section is not unpredictable. In fact, it follows clear patterns in terms of structure, question types, and speaker interaction.”</a:t>
            </a:r>
          </a:p>
          <a:p>
            <a:endParaRPr lang="en-US" dirty="0"/>
          </a:p>
          <a:p>
            <a:r>
              <a:rPr lang="en-US" dirty="0"/>
              <a:t>“In this video, you will gain a deeper understanding of how IELTS Listening Section 3 works, as well as practical strategies to help you stay focused, follow the discussion effectively, and remain in control throughout the task.”</a:t>
            </a:r>
          </a:p>
          <a:p>
            <a:endParaRPr lang="en-US" i="1" dirty="0"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“Hello, my name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April Ampong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I’m an instructor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IELTS NINER REVIEW CENTER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international-standard IELTS training system that helps learners progress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beginner level to Band 7.0–9.0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most time-efficient way.”</a:t>
            </a:r>
          </a:p>
          <a:p>
            <a:endParaRPr lang="en-US" i="1" dirty="0">
              <a:latin typeface="Arial" pitchFamily="34" charset="0"/>
              <a:cs typeface="Arial" pitchFamily="34" charset="0"/>
            </a:endParaRPr>
          </a:p>
          <a:p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previous video, we learned how to handle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and diagram labelling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we move into one of the most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mentally demanding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parts of the Listening test—Section 3.”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“Section 3 typically features an academic discussion, most commonly between two students and a tutor, or among a small group of students engaged in a collaborative task.”</a:t>
            </a:r>
          </a:p>
          <a:p>
            <a:r>
              <a:rPr lang="en-US" dirty="0"/>
              <a:t>“The speakers are usually discussing topics such as academic assignments, research projects, or decisions related to course selection and future study plans.”</a:t>
            </a:r>
          </a:p>
          <a:p>
            <a:r>
              <a:rPr lang="en-US" dirty="0"/>
              <a:t>“Compared to earlier sections, the language used is more complex and discipline-oriented, reflecting a more formal academic context.”</a:t>
            </a:r>
          </a:p>
          <a:p>
            <a:r>
              <a:rPr lang="en-US" dirty="0"/>
              <a:t>“In addition, speakers frequently express, reconsider, and modify their opinions during the discussion, which requires candidates to follow the conversation carefully and interpret meaning as it develops.”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06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primary challenge in Section 3 lies not in understanding individual words, but in following the interaction between speakers as the discussion unfolds.”</a:t>
            </a:r>
          </a:p>
          <a:p>
            <a:r>
              <a:rPr lang="en-US" dirty="0"/>
              <a:t>“Candidates are required to track a range of communicative functions, including disagreement, clarification, correction, and the expression of final decisions.”</a:t>
            </a:r>
          </a:p>
          <a:p>
            <a:r>
              <a:rPr lang="en-US" dirty="0"/>
              <a:t>“Throughout the conversation, speakers may introduce initial ideas, question them, and subsequently revise their viewpoints. This dynamic exchange can make it difficult to identify the most relevant information.”</a:t>
            </a:r>
          </a:p>
          <a:p>
            <a:r>
              <a:rPr lang="en-US" dirty="0"/>
              <a:t>“It is therefore essential to </a:t>
            </a:r>
            <a:r>
              <a:rPr lang="en-US" dirty="0" err="1"/>
              <a:t>recognise</a:t>
            </a:r>
            <a:r>
              <a:rPr lang="en-US" dirty="0"/>
              <a:t> that correct answers are often based on the speakers’ final, agreed-upon opinions, rather than the first ideas that are mentioned.”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36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“It is essential to pay close attention to who is speaking at any given moment, the role they play in the discussion, and whether they are expressing agreement or disagreement.”</a:t>
            </a:r>
          </a:p>
          <a:p>
            <a:r>
              <a:rPr lang="en-US" dirty="0"/>
              <a:t>“Distinguishing between speakers—such as identifying a student’s suggestion versus a tutor’s correction—can significantly improve comprehension.”</a:t>
            </a:r>
          </a:p>
          <a:p>
            <a:r>
              <a:rPr lang="en-US" dirty="0"/>
              <a:t>“To support this process, candidates are encouraged to use brief, systematic notes, for example: ‘Student 1 agrees’, ‘Tutor corrects’, or ‘Final decision’.”</a:t>
            </a:r>
          </a:p>
          <a:p>
            <a:r>
              <a:rPr lang="en-US" dirty="0"/>
              <a:t>“These concise annotations help to </a:t>
            </a:r>
            <a:r>
              <a:rPr lang="en-US" dirty="0" err="1"/>
              <a:t>organise</a:t>
            </a:r>
            <a:r>
              <a:rPr lang="en-US" dirty="0"/>
              <a:t> information in real time and reduce confusion, particularly when opinions are modified or replaced during the course of the discussion.”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98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“Section 3 frequently incorporates clear academic signal phrases, which play a crucial role in guiding the development of the discussion.”</a:t>
            </a:r>
          </a:p>
          <a:p>
            <a:r>
              <a:rPr lang="en-US" dirty="0"/>
              <a:t>“Candidates should listen carefully for expressions such as:</a:t>
            </a:r>
            <a:br>
              <a:rPr lang="en-US" dirty="0"/>
            </a:br>
            <a:r>
              <a:rPr lang="en-US" dirty="0"/>
              <a:t>‘I think we should…’, ‘Actually, that might not work…’, ‘What if we…?’, and ‘So we’ve decided to…’.”</a:t>
            </a:r>
          </a:p>
          <a:p>
            <a:r>
              <a:rPr lang="en-US" dirty="0"/>
              <a:t>“These phrases often indicate key stages in the conversation, including the introduction of ideas, the expression of doubt or disagreement, the suggestion of alternatives, and the confirmation of final decisions.”</a:t>
            </a:r>
          </a:p>
          <a:p>
            <a:r>
              <a:rPr lang="en-US" dirty="0"/>
              <a:t>“</a:t>
            </a:r>
            <a:r>
              <a:rPr lang="en-US" dirty="0" err="1"/>
              <a:t>Recognising</a:t>
            </a:r>
            <a:r>
              <a:rPr lang="en-US" dirty="0"/>
              <a:t> these signals can help candidates anticipate important information and identify answers more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43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“At IELTS NINER REVIEW CENTER, students are systematically trained to adopt effective listening strategies, particularly for Section 3.”</a:t>
            </a:r>
          </a:p>
          <a:p>
            <a:r>
              <a:rPr lang="en-US" dirty="0"/>
              <a:t>“They are encouraged to avoid relying on initial opinions, to wait for confirmation as the discussion develops, and to focus primarily on the speakers’ final conclusions.”</a:t>
            </a:r>
          </a:p>
          <a:p>
            <a:r>
              <a:rPr lang="en-US" dirty="0"/>
              <a:t>“This approach reflects the dynamic nature of academic discussions, where ideas are often introduced, challenged, and subsequently refined.”</a:t>
            </a:r>
          </a:p>
          <a:p>
            <a:r>
              <a:rPr lang="en-US" dirty="0"/>
              <a:t>“By applying this strategy consistently, candidates can significantly improve their accuracy and overall performance in Section 3.”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that you can follow academic discussions, it’s time to face the final Listening challenge.”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next video, we’ll focus on: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4 of IELTS Listening—academic lectures and how to stay focused until the end.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 you in the next video.”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46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that you can follow academic discussions, it’s time to face the final Listening challenge.”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next video, we’ll focus on: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4 of IELTS Listening—academic lectures and how to stay focused until the end.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 you in the next video.”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28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6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>
                <a:latin typeface="Franklin Gothic Medium Cond" panose="020B0606030402020204" pitchFamily="34" charset="0"/>
              </a:rPr>
              <a:t>Section 3 – Academic Discussion | How to Follow Multiple Speakers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3855B7E-1482-2344-E8FF-F9E3E2321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What Is Section 3?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Section 3 is an academic discussion, usually between:</a:t>
            </a:r>
          </a:p>
          <a:p>
            <a:pPr marL="0" lvl="0" indent="0">
              <a:buNone/>
            </a:pPr>
            <a:r>
              <a:rPr lang="en-US" dirty="0"/>
              <a:t>Two students and a tutor OR a small group of students</a:t>
            </a:r>
          </a:p>
          <a:p>
            <a:pPr marL="0" indent="0">
              <a:buNone/>
            </a:pPr>
            <a:r>
              <a:rPr lang="en-US" dirty="0"/>
              <a:t>They are often discussing:</a:t>
            </a:r>
          </a:p>
          <a:p>
            <a:pPr lvl="0"/>
            <a:r>
              <a:rPr lang="en-US" dirty="0"/>
              <a:t>Assignments</a:t>
            </a:r>
          </a:p>
          <a:p>
            <a:pPr lvl="0"/>
            <a:r>
              <a:rPr lang="en-US" dirty="0"/>
              <a:t>Research projects</a:t>
            </a:r>
          </a:p>
          <a:p>
            <a:pPr lvl="0"/>
            <a:r>
              <a:rPr lang="en-US" dirty="0"/>
              <a:t>Course choices or plans</a:t>
            </a:r>
          </a:p>
          <a:p>
            <a:pPr marL="0" indent="0">
              <a:buNone/>
            </a:pPr>
            <a:r>
              <a:rPr lang="en-US" dirty="0"/>
              <a:t>The language is more complex, and opinions often </a:t>
            </a:r>
            <a:r>
              <a:rPr lang="en-US" b="1" dirty="0"/>
              <a:t>change during the discussion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3,184 Conversation Student Teacher Stock Vectors and Vector Art |  Shutterstock">
            <a:extLst>
              <a:ext uri="{FF2B5EF4-FFF2-40B4-BE49-F238E27FC236}">
                <a16:creationId xmlns:a16="http://schemas.microsoft.com/office/drawing/2014/main" id="{78DA19FA-7149-D669-9A5E-479E0631C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743" y="1600200"/>
            <a:ext cx="3610594" cy="28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Biggest Challenge in Section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7193E-F0D3-8E3C-EB84-27546EF3E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biggest challenge is </a:t>
            </a:r>
            <a:r>
              <a:rPr lang="en-US" b="1" dirty="0"/>
              <a:t>following the speakers</a:t>
            </a:r>
            <a:r>
              <a:rPr lang="en-US" dirty="0"/>
              <a:t>, not understanding individual words.</a:t>
            </a:r>
          </a:p>
          <a:p>
            <a:pPr marL="0" indent="0">
              <a:buNone/>
            </a:pPr>
            <a:r>
              <a:rPr lang="en-US" dirty="0"/>
              <a:t>You will hear:</a:t>
            </a:r>
          </a:p>
          <a:p>
            <a:pPr lvl="0"/>
            <a:r>
              <a:rPr lang="en-US" dirty="0"/>
              <a:t>Disagreement</a:t>
            </a:r>
          </a:p>
          <a:p>
            <a:pPr lvl="0"/>
            <a:r>
              <a:rPr lang="en-US" dirty="0"/>
              <a:t>Clarification</a:t>
            </a:r>
          </a:p>
          <a:p>
            <a:pPr lvl="0"/>
            <a:r>
              <a:rPr lang="en-US" dirty="0"/>
              <a:t>Correction</a:t>
            </a:r>
          </a:p>
          <a:p>
            <a:pPr lvl="0"/>
            <a:r>
              <a:rPr lang="en-US" dirty="0"/>
              <a:t>Final decisions</a:t>
            </a:r>
          </a:p>
          <a:p>
            <a:pPr marL="0" indent="0">
              <a:buNone/>
            </a:pPr>
            <a:r>
              <a:rPr lang="en-US" dirty="0"/>
              <a:t>Many answers are based on the </a:t>
            </a:r>
            <a:r>
              <a:rPr lang="en-US" b="1" dirty="0"/>
              <a:t>final opinion</a:t>
            </a:r>
            <a:r>
              <a:rPr lang="en-US" dirty="0"/>
              <a:t>, not the first one mentioned.”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2" name="Picture 4" descr="36,200+ Person Speaker Icon Stock Illustrations, Royalty-Free Vector  Graphics &amp; Clip Art - iStock">
            <a:extLst>
              <a:ext uri="{FF2B5EF4-FFF2-40B4-BE49-F238E27FC236}">
                <a16:creationId xmlns:a16="http://schemas.microsoft.com/office/drawing/2014/main" id="{C45E849D-3D79-6350-EFBE-6F0169FEB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37" b="89646" l="7843" r="94118">
                        <a14:foregroundMark x1="66340" y1="51499" x2="83170" y2="50409"/>
                        <a14:foregroundMark x1="74020" y1="23161" x2="74346" y2="42234"/>
                        <a14:foregroundMark x1="57516" y1="77929" x2="77041" y2="76120"/>
                        <a14:foregroundMark x1="85378" y1="76136" x2="90196" y2="76567"/>
                        <a14:foregroundMark x1="71816" y1="67207" x2="77441" y2="67395"/>
                        <a14:foregroundMark x1="58333" y1="66757" x2="63478" y2="66929"/>
                        <a14:foregroundMark x1="85892" y1="67411" x2="87908" y2="67302"/>
                        <a14:foregroundMark x1="85299" y1="61376" x2="85948" y2="61308"/>
                        <a14:foregroundMark x1="71816" y1="62790" x2="76936" y2="62253"/>
                        <a14:foregroundMark x1="59967" y1="64033" x2="63478" y2="63665"/>
                        <a14:foregroundMark x1="85948" y1="61308" x2="86275" y2="61308"/>
                        <a14:foregroundMark x1="86438" y1="79564" x2="94118" y2="80926"/>
                        <a14:foregroundMark x1="25980" y1="22343" x2="25980" y2="38965"/>
                        <a14:foregroundMark x1="23856" y1="40327" x2="27941" y2="39782"/>
                        <a14:foregroundMark x1="7843" y1="82016" x2="13072" y2="82289"/>
                        <a14:foregroundMark x1="10458" y1="66757" x2="12255" y2="69210"/>
                        <a14:foregroundMark x1="25163" y1="65940" x2="27124" y2="68392"/>
                        <a14:foregroundMark x1="23203" y1="81199" x2="26307" y2="80926"/>
                        <a14:foregroundMark x1="39706" y1="80381" x2="42810" y2="80381"/>
                        <a14:foregroundMark x1="41176" y1="68665" x2="43301" y2="68665"/>
                        <a14:backgroundMark x1="40850" y1="4905" x2="46242" y2="50409"/>
                        <a14:backgroundMark x1="67647" y1="59128" x2="67647" y2="76294"/>
                        <a14:backgroundMark x1="80719" y1="57766" x2="82353" y2="74387"/>
                        <a14:backgroundMark x1="81209" y1="74659" x2="81209" y2="773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672" y="2056847"/>
            <a:ext cx="4079104" cy="244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Strategy 1: Track Who Says What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CAC67-8663-5F0D-FC09-44249D41D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899" y="1600200"/>
            <a:ext cx="6961667" cy="4571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Always pay attention to:</a:t>
            </a:r>
          </a:p>
          <a:p>
            <a:pPr lvl="0"/>
            <a:r>
              <a:rPr lang="en-US" dirty="0"/>
              <a:t>Who is speaking</a:t>
            </a:r>
          </a:p>
          <a:p>
            <a:pPr lvl="0"/>
            <a:r>
              <a:rPr lang="en-US" dirty="0"/>
              <a:t>What their role is</a:t>
            </a:r>
          </a:p>
          <a:p>
            <a:pPr lvl="0"/>
            <a:r>
              <a:rPr lang="en-US" dirty="0"/>
              <a:t>Whether they agree or disagree</a:t>
            </a:r>
          </a:p>
          <a:p>
            <a:pPr marL="0" indent="0">
              <a:buNone/>
            </a:pPr>
            <a:r>
              <a:rPr lang="en-US" dirty="0"/>
              <a:t>Use quick notes like:</a:t>
            </a:r>
          </a:p>
          <a:p>
            <a:pPr lvl="0"/>
            <a:r>
              <a:rPr lang="en-US" dirty="0"/>
              <a:t>‘S1 agrees</a:t>
            </a:r>
          </a:p>
          <a:p>
            <a:pPr lvl="0"/>
            <a:r>
              <a:rPr lang="en-US" dirty="0"/>
              <a:t>‘Tutor corrects’</a:t>
            </a:r>
          </a:p>
          <a:p>
            <a:pPr lvl="0"/>
            <a:r>
              <a:rPr lang="en-US" dirty="0"/>
              <a:t>‘Final decision’</a:t>
            </a:r>
          </a:p>
          <a:p>
            <a:pPr marL="0" indent="0">
              <a:buNone/>
            </a:pPr>
            <a:r>
              <a:rPr lang="en-US" dirty="0"/>
              <a:t>This helps you avoid confusion when opinions change.</a:t>
            </a:r>
          </a:p>
          <a:p>
            <a:endParaRPr lang="en-US" dirty="0"/>
          </a:p>
        </p:txBody>
      </p:sp>
      <p:pic>
        <p:nvPicPr>
          <p:cNvPr id="3074" name="Picture 2" descr="Right Decision Wrong Decision: Over 16,405 Royalty-Free Licensable Stock  Illustrations &amp; Drawings | Shutterstock">
            <a:extLst>
              <a:ext uri="{FF2B5EF4-FFF2-40B4-BE49-F238E27FC236}">
                <a16:creationId xmlns:a16="http://schemas.microsoft.com/office/drawing/2014/main" id="{FB291F75-5DEB-C0F2-544C-779CE5219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786" b="77857" l="5088" r="87124">
                        <a14:foregroundMark x1="13292" y1="16786" x2="13292" y2="25357"/>
                        <a14:foregroundMark x1="6542" y1="33214" x2="18692" y2="32143"/>
                        <a14:foregroundMark x1="18692" y1="32143" x2="19626" y2="32143"/>
                        <a14:foregroundMark x1="5088" y1="53929" x2="8930" y2="46786"/>
                        <a14:foregroundMark x1="18380" y1="53214" x2="21288" y2="48929"/>
                        <a14:foregroundMark x1="31880" y1="34286" x2="36033" y2="27857"/>
                        <a14:foregroundMark x1="38837" y1="32500" x2="42471" y2="29643"/>
                        <a14:foregroundMark x1="32191" y1="71429" x2="32087" y2="54286"/>
                        <a14:foregroundMark x1="37383" y1="55000" x2="37591" y2="71786"/>
                        <a14:foregroundMark x1="42264" y1="52143" x2="42783" y2="710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9" t="10997" r="48377" b="13787"/>
          <a:stretch>
            <a:fillRect/>
          </a:stretch>
        </p:blipFill>
        <p:spPr bwMode="auto">
          <a:xfrm>
            <a:off x="6669526" y="2814083"/>
            <a:ext cx="4416056" cy="200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Strategy 2: Listen for Academic Signals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DA1E16-F115-C1EB-E7A2-A6CB8B25B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Section 3 uses clear academic signal phrases.</a:t>
            </a:r>
          </a:p>
          <a:p>
            <a:pPr marL="0" indent="0">
              <a:buNone/>
            </a:pPr>
            <a:r>
              <a:rPr lang="en-US" dirty="0"/>
              <a:t>Listen for:</a:t>
            </a:r>
          </a:p>
          <a:p>
            <a:pPr lvl="0"/>
            <a:r>
              <a:rPr lang="en-US" dirty="0"/>
              <a:t>‘I think we should…’</a:t>
            </a:r>
          </a:p>
          <a:p>
            <a:pPr lvl="0"/>
            <a:r>
              <a:rPr lang="en-US" dirty="0"/>
              <a:t>‘Actually, that might not work…’</a:t>
            </a:r>
          </a:p>
          <a:p>
            <a:pPr lvl="0"/>
            <a:r>
              <a:rPr lang="en-US" dirty="0"/>
              <a:t>‘What if we…?’</a:t>
            </a:r>
          </a:p>
          <a:p>
            <a:pPr lvl="0"/>
            <a:r>
              <a:rPr lang="en-US" dirty="0"/>
              <a:t>‘So we’ve decided to…’”</a:t>
            </a:r>
          </a:p>
          <a:p>
            <a:pPr marL="0" indent="0">
              <a:buNone/>
            </a:pPr>
            <a:r>
              <a:rPr lang="en-US" dirty="0"/>
              <a:t>These signals often introduce </a:t>
            </a:r>
            <a:r>
              <a:rPr lang="en-US" b="1" dirty="0"/>
              <a:t>important information or answers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100" name="Picture 4" descr="How to Develop the 7 Skills of Critical Thinking | Bright Concept -  Consultancy">
            <a:extLst>
              <a:ext uri="{FF2B5EF4-FFF2-40B4-BE49-F238E27FC236}">
                <a16:creationId xmlns:a16="http://schemas.microsoft.com/office/drawing/2014/main" id="{BA3C33BA-541B-BEAA-FF5C-94A54E4A8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32" b="99257" l="1367" r="96387">
                        <a14:foregroundMark x1="13477" y1="8364" x2="38867" y2="3532"/>
                        <a14:foregroundMark x1="38867" y1="3532" x2="49121" y2="5390"/>
                        <a14:foregroundMark x1="85449" y1="31413" x2="91699" y2="97212"/>
                        <a14:foregroundMark x1="73242" y1="31784" x2="73438" y2="45167"/>
                        <a14:foregroundMark x1="93750" y1="84387" x2="93457" y2="99257"/>
                        <a14:foregroundMark x1="85059" y1="93494" x2="96484" y2="85688"/>
                        <a14:foregroundMark x1="96484" y1="85688" x2="96582" y2="85688"/>
                        <a14:foregroundMark x1="83008" y1="98327" x2="85449" y2="75279"/>
                        <a14:foregroundMark x1="84180" y1="94796" x2="84180" y2="94796"/>
                        <a14:foregroundMark x1="6836" y1="61152" x2="25391" y2="89591"/>
                        <a14:foregroundMark x1="25391" y1="89591" x2="32227" y2="92751"/>
                        <a14:foregroundMark x1="1367" y1="63755" x2="10645" y2="86431"/>
                        <a14:foregroundMark x1="10645" y1="86431" x2="24609" y2="94238"/>
                        <a14:foregroundMark x1="24609" y1="94238" x2="24609" y2="93123"/>
                        <a14:foregroundMark x1="37891" y1="94238" x2="46094" y2="979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61" y="2289545"/>
            <a:ext cx="3548298" cy="186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Advice from IELTS NINER REVIEW CENTER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9980682" cy="4572000"/>
          </a:xfrm>
        </p:spPr>
        <p:txBody>
          <a:bodyPr>
            <a:normAutofit/>
          </a:bodyPr>
          <a:lstStyle/>
          <a:p>
            <a:r>
              <a:rPr lang="en-US" sz="3200" dirty="0"/>
              <a:t>“At </a:t>
            </a:r>
            <a:r>
              <a:rPr lang="en-US" sz="3200" b="1" dirty="0"/>
              <a:t>IELTS NINER REVIEW CENTER</a:t>
            </a:r>
            <a:r>
              <a:rPr lang="en-US" sz="3200" dirty="0"/>
              <a:t>, we train students to:</a:t>
            </a:r>
          </a:p>
          <a:p>
            <a:endParaRPr lang="en-US" sz="32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/>
              <a:t>Ignore early opinions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/>
              <a:t>Wait for confirmation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/>
              <a:t>Focus on conclusions</a:t>
            </a:r>
          </a:p>
          <a:p>
            <a:endParaRPr lang="en-US" sz="3200" dirty="0"/>
          </a:p>
          <a:p>
            <a:r>
              <a:rPr lang="en-US" sz="3200" dirty="0"/>
              <a:t>This strategy alone can significantly improve Section 3 scores</a:t>
            </a:r>
          </a:p>
          <a:p>
            <a:endParaRPr lang="en-US" sz="3200" dirty="0"/>
          </a:p>
        </p:txBody>
      </p:sp>
      <p:pic>
        <p:nvPicPr>
          <p:cNvPr id="5122" name="Picture 2" descr="Teacher Helping: Over 14,587 Royalty-Free Licensable Stock Illustrations &amp;  Drawings | Shutterstock">
            <a:extLst>
              <a:ext uri="{FF2B5EF4-FFF2-40B4-BE49-F238E27FC236}">
                <a16:creationId xmlns:a16="http://schemas.microsoft.com/office/drawing/2014/main" id="{67AE78F5-D214-2D61-9DC7-487C206396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71" b="83929" l="12308" r="84359">
                        <a14:foregroundMark x1="12308" y1="45000" x2="17949" y2="46786"/>
                        <a14:foregroundMark x1="83846" y1="51071" x2="84615" y2="63571"/>
                        <a14:foregroundMark x1="56410" y1="20000" x2="58974" y2="32143"/>
                        <a14:foregroundMark x1="48462" y1="72143" x2="65385" y2="81786"/>
                        <a14:foregroundMark x1="46667" y1="76786" x2="59231" y2="83929"/>
                        <a14:foregroundMark x1="59231" y1="83929" x2="60769" y2="83929"/>
                        <a14:foregroundMark x1="44103" y1="79643" x2="54872" y2="70357"/>
                        <a14:foregroundMark x1="45897" y1="75000" x2="70513" y2="60357"/>
                        <a14:foregroundMark x1="70513" y1="60357" x2="74103" y2="43214"/>
                        <a14:foregroundMark x1="74103" y1="43214" x2="71026" y2="34286"/>
                        <a14:foregroundMark x1="56154" y1="78929" x2="66667" y2="64286"/>
                        <a14:foregroundMark x1="33846" y1="6071" x2="34359" y2="22500"/>
                        <a14:foregroundMark x1="73590" y1="25714" x2="73846" y2="45000"/>
                        <a14:foregroundMark x1="53333" y1="26786" x2="61538" y2="22857"/>
                        <a14:foregroundMark x1="58462" y1="25357" x2="59744" y2="34286"/>
                        <a14:foregroundMark x1="69744" y1="32857" x2="72308" y2="4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56" r="8784" b="9801"/>
          <a:stretch>
            <a:fillRect/>
          </a:stretch>
        </p:blipFill>
        <p:spPr bwMode="auto">
          <a:xfrm>
            <a:off x="7570381" y="2336503"/>
            <a:ext cx="3870252" cy="262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CAFEEF-9359-9160-E54E-E690F06C3C77}"/>
              </a:ext>
            </a:extLst>
          </p:cNvPr>
          <p:cNvSpPr/>
          <p:nvPr/>
        </p:nvSpPr>
        <p:spPr>
          <a:xfrm>
            <a:off x="3196810" y="2967335"/>
            <a:ext cx="579838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Broadway" panose="04040905080B02020502" pitchFamily="82" charset="0"/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383172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3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71</TotalTime>
  <Words>1185</Words>
  <Application>Microsoft Office PowerPoint</Application>
  <PresentationFormat>Widescreen</PresentationFormat>
  <Paragraphs>93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Broadway</vt:lpstr>
      <vt:lpstr>Euphemia</vt:lpstr>
      <vt:lpstr>Franklin Gothic Medium Cond</vt:lpstr>
      <vt:lpstr>Plantagenet Cherokee</vt:lpstr>
      <vt:lpstr>Wingdings</vt:lpstr>
      <vt:lpstr>Academic Literature 16x9</vt:lpstr>
      <vt:lpstr>Section 3 – Academic Discussion | How to Follow Multiple Speakers </vt:lpstr>
      <vt:lpstr>What Is Section 3?</vt:lpstr>
      <vt:lpstr>The Biggest Challenge in Section 3</vt:lpstr>
      <vt:lpstr>Strategy 1: Track Who Says What</vt:lpstr>
      <vt:lpstr>Strategy 2: Listen for Academic Signals</vt:lpstr>
      <vt:lpstr>Advice from IELTS NINER REVIEW CENTER</vt:lpstr>
      <vt:lpstr>PowerPoint Presentation</vt:lpstr>
      <vt:lpstr>Add a Slide Title - 2</vt:lpstr>
      <vt:lpstr>Add a Slide Title - 3</vt:lpstr>
      <vt:lpstr>Add a Slide Title - 4</vt:lpstr>
      <vt:lpstr>PowerPoint Presentation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April Ampong</dc:creator>
  <cp:lastModifiedBy>April Ampong</cp:lastModifiedBy>
  <cp:revision>2</cp:revision>
  <dcterms:created xsi:type="dcterms:W3CDTF">2026-03-24T07:14:05Z</dcterms:created>
  <dcterms:modified xsi:type="dcterms:W3CDTF">2026-03-24T08:25:12Z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