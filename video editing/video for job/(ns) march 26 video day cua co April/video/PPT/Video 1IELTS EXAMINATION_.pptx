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3"/>
  </p:notesMasterIdLst>
  <p:handoutMasterIdLst>
    <p:handoutMasterId r:id="rId14"/>
  </p:handoutMasterIdLst>
  <p:sldIdLst>
    <p:sldId id="256" r:id="rId5"/>
    <p:sldId id="257" r:id="rId6"/>
    <p:sldId id="258" r:id="rId7"/>
    <p:sldId id="259" r:id="rId8"/>
    <p:sldId id="260" r:id="rId9"/>
    <p:sldId id="266" r:id="rId10"/>
    <p:sldId id="269"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35" autoAdjust="0"/>
    <p:restoredTop sz="94660"/>
  </p:normalViewPr>
  <p:slideViewPr>
    <p:cSldViewPr snapToGrid="0" showGuides="1">
      <p:cViewPr varScale="1">
        <p:scale>
          <a:sx n="102" d="100"/>
          <a:sy n="102" d="100"/>
        </p:scale>
        <p:origin x="96" y="188"/>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12/30/2025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12/30/2025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b="0" i="0" kern="1200" dirty="0">
                <a:solidFill>
                  <a:schemeClr val="tx1"/>
                </a:solidFill>
                <a:effectLst/>
                <a:latin typeface="+mn-lt"/>
                <a:ea typeface="+mn-ea"/>
                <a:cs typeface="+mn-cs"/>
              </a:rPr>
              <a:t>Do you want to study abroad, work overseas, or immigrate—but the moment you hear IELTS, you feel confused? Many people study IELTS for years but still don’t really understand what they are taking or why their score never improves.” “In this video, I’ll help you clearly understand what IELTS really is, and why learning the right way from the beginning matters more than studying for a long time.” </a:t>
            </a:r>
          </a:p>
          <a:p>
            <a:endParaRPr lang="en-US" sz="1600" b="0" i="0" kern="1200" dirty="0">
              <a:solidFill>
                <a:schemeClr val="tx1"/>
              </a:solidFill>
              <a:effectLst/>
              <a:latin typeface="+mn-lt"/>
              <a:ea typeface="+mn-ea"/>
              <a:cs typeface="+mn-cs"/>
            </a:endParaRPr>
          </a:p>
          <a:p>
            <a:r>
              <a:rPr lang="en-US" sz="1600" b="0" i="0" kern="1200" dirty="0">
                <a:solidFill>
                  <a:schemeClr val="tx1"/>
                </a:solidFill>
                <a:effectLst/>
                <a:latin typeface="+mn-lt"/>
                <a:ea typeface="+mn-ea"/>
                <a:cs typeface="+mn-cs"/>
              </a:rPr>
              <a:t>“Hello, my name is April Ampong, and I’m an instructor at IELTS NINER REVIEW CENTER— an international-standard IELTS training system that helps learners progress from beginner level to Band 7.0–9.0 in the most time-efficient way.” “This entire video series is designed in short, focused 5–7 minute lessons, targeting exactly what IELTS examiners assess.”</a:t>
            </a:r>
            <a:endParaRPr lang="en-US" sz="1600"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146564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“IELTS, or the International English Language Testing System, is a globally recognized English proficiency test.</a:t>
            </a:r>
            <a:br>
              <a:rPr lang="en-US" dirty="0"/>
            </a:br>
            <a:r>
              <a:rPr lang="en-US" dirty="0"/>
              <a:t>It measures a person’s ability to use English in four key skills: listening, reading, writing, and speaking.</a:t>
            </a:r>
            <a:br>
              <a:rPr lang="en-US" dirty="0"/>
            </a:br>
            <a:r>
              <a:rPr lang="en-US" dirty="0"/>
              <a:t>IELTS is commonly required for study, work, and migration in English-speaking countries such as the UK, Canada, Australia, and New Zealand.”</a:t>
            </a:r>
          </a:p>
        </p:txBody>
      </p:sp>
      <p:sp>
        <p:nvSpPr>
          <p:cNvPr id="4" name="Slide Number Placeholder 3"/>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3406499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“IELTS is required by individuals who plan to study abroad, apply for overseas employment, or migrate to an English-speaking country.</a:t>
            </a:r>
            <a:br>
              <a:rPr lang="en-US" dirty="0"/>
            </a:br>
            <a:r>
              <a:rPr lang="en-US" dirty="0"/>
              <a:t>It is also needed by professionals such as teachers, nurses, and other skilled workers whose licenses require proof of English proficiency.</a:t>
            </a:r>
            <a:br>
              <a:rPr lang="en-US" dirty="0"/>
            </a:br>
            <a:r>
              <a:rPr lang="en-US" dirty="0"/>
              <a:t>In short, anyone who needs to demonstrate their English ability for international purposes may need IELTS.”</a:t>
            </a:r>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28033584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misconceptions about IELTS.</a:t>
            </a:r>
            <a:br>
              <a:rPr lang="en-US" dirty="0"/>
            </a:br>
            <a:r>
              <a:rPr lang="en-US" dirty="0"/>
              <a:t>One common misunderstanding is that IELTS is only for native English speakers, when in fact it is designed for non-native speakers.</a:t>
            </a:r>
            <a:br>
              <a:rPr lang="en-US" dirty="0"/>
            </a:br>
            <a:r>
              <a:rPr lang="en-US" dirty="0"/>
              <a:t>Another myth is that IELTS is extremely difficult, when success actually depends on proper training, strategy, and practice.</a:t>
            </a:r>
            <a:br>
              <a:rPr lang="en-US" dirty="0"/>
            </a:br>
            <a:r>
              <a:rPr lang="en-US" dirty="0"/>
              <a:t>IELTS does not test intelligence—it tests how effectively you can communicate in English.”</a:t>
            </a:r>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858501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teaching approach is focused on helping students achieve their best possible band score, even up to IELTS 9.0.</a:t>
            </a:r>
            <a:br>
              <a:rPr lang="en-US" dirty="0"/>
            </a:br>
            <a:r>
              <a:rPr lang="en-US" dirty="0"/>
              <a:t>We emphasize clear strategies, real exam practice, and personalized feedback for each skill area.</a:t>
            </a:r>
            <a:br>
              <a:rPr lang="en-US" dirty="0"/>
            </a:br>
            <a:r>
              <a:rPr lang="en-US" dirty="0"/>
              <a:t>Rather than memorization, we focus on confidence-building, accuracy, and real-life communication—ensuring students are fully prepared for the IELTS exam.”</a:t>
            </a:r>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2327001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“But understanding what IELTS is—that’s not enough.” “In the next video, I’ll help you answer the most important question of all: Should you take IELTS Academic or IELTS General Training? Choose the wrong one, and you could waste 6–12 months starting over.” “See you in the next video.”</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8</a:t>
            </a:fld>
            <a:endParaRPr lang="en-US"/>
          </a:p>
        </p:txBody>
      </p:sp>
    </p:spTree>
    <p:extLst>
      <p:ext uri="{BB962C8B-B14F-4D97-AF65-F5344CB8AC3E}">
        <p14:creationId xmlns:p14="http://schemas.microsoft.com/office/powerpoint/2010/main" val="244030288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pPr/>
              <a:t>12/30/2025</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3097745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1451748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402B9795-92DC-40DC-A1CA-9A4B349D7824}" type="datetimeFigureOut">
              <a:rPr lang="en-US" smtClean="0"/>
              <a:t>12/30/2025</a:t>
            </a:fld>
            <a:endParaRPr lang="en-US"/>
          </a:p>
        </p:txBody>
      </p:sp>
      <p:sp>
        <p:nvSpPr>
          <p:cNvPr id="5" name="Footer Placeholder 4"/>
          <p:cNvSpPr>
            <a:spLocks noGrp="1"/>
          </p:cNvSpPr>
          <p:nvPr>
            <p:ph type="ftr" sz="quarter" idx="11"/>
          </p:nvPr>
        </p:nvSpPr>
        <p:spPr>
          <a:xfrm>
            <a:off x="2182708" y="6272784"/>
            <a:ext cx="6327648" cy="365125"/>
          </a:xfrm>
        </p:spPr>
        <p:txBody>
          <a:bodyPr/>
          <a:lstStyle/>
          <a:p>
            <a:endParaRPr lang="en-US"/>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FF54DE5-C571-48E8-A5BC-B369434E2F44}" type="slidenum">
              <a:rPr lang="en-US" smtClean="0"/>
              <a:t>‹#›</a:t>
            </a:fld>
            <a:endParaRPr lang="en-US"/>
          </a:p>
        </p:txBody>
      </p:sp>
    </p:spTree>
    <p:extLst>
      <p:ext uri="{BB962C8B-B14F-4D97-AF65-F5344CB8AC3E}">
        <p14:creationId xmlns:p14="http://schemas.microsoft.com/office/powerpoint/2010/main" val="38457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2B9795-92DC-40DC-A1CA-9A4B349D782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212457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2B9795-92DC-40DC-A1CA-9A4B349D7824}" type="datetimeFigureOut">
              <a:rPr lang="en-US" smtClean="0"/>
              <a:t>12/30/2025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3628015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2B9795-92DC-40DC-A1CA-9A4B349D7824}" type="datetimeFigureOut">
              <a:rPr lang="en-US" smtClean="0"/>
              <a:t>12/30/2025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3576702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12/30/2025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3983585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12/30/2025</a:t>
            </a:fld>
            <a:endParaRPr lang="en-US"/>
          </a:p>
        </p:txBody>
      </p:sp>
      <p:sp>
        <p:nvSpPr>
          <p:cNvPr id="6" name="Footer Placeholder 5"/>
          <p:cNvSpPr>
            <a:spLocks noGrp="1"/>
          </p:cNvSpPr>
          <p:nvPr>
            <p:ph type="ftr" sz="quarter" idx="11"/>
          </p:nvPr>
        </p:nvSpPr>
        <p:spPr/>
        <p:txBody>
          <a:bodyPr/>
          <a:lstStyle/>
          <a:p>
            <a:endParaRPr lang="en-US"/>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1810950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12/30/2025</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3131693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911885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t>12/30/2025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2467462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Tree>
    <p:extLst>
      <p:ext uri="{BB962C8B-B14F-4D97-AF65-F5344CB8AC3E}">
        <p14:creationId xmlns:p14="http://schemas.microsoft.com/office/powerpoint/2010/main" val="2196847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402B9795-92DC-40DC-A1CA-9A4B349D7824}" type="datetimeFigureOut">
              <a:rPr lang="en-US" smtClean="0"/>
              <a:pPr/>
              <a:t>12/30/2025</a:t>
            </a:fld>
            <a:endParaRPr lang="en-US"/>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383216762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hyperlink" Target="https://pxhere.com/en/photo/1179028"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854380" y="400664"/>
            <a:ext cx="5734050" cy="2219691"/>
          </a:xfrm>
        </p:spPr>
        <p:txBody>
          <a:bodyPr anchor="ctr"/>
          <a:lstStyle/>
          <a:p>
            <a:r>
              <a:rPr lang="en-US" dirty="0"/>
              <a:t>IELTs </a:t>
            </a:r>
            <a:r>
              <a:rPr lang="en-US" dirty="0" err="1"/>
              <a:t>EXAMINATion</a:t>
            </a:r>
            <a:endParaRPr lang="en-US" dirty="0"/>
          </a:p>
        </p:txBody>
      </p:sp>
      <p:sp>
        <p:nvSpPr>
          <p:cNvPr id="7" name="Subtitle 6"/>
          <p:cNvSpPr>
            <a:spLocks noGrp="1"/>
          </p:cNvSpPr>
          <p:nvPr>
            <p:ph type="subTitle" idx="1"/>
          </p:nvPr>
        </p:nvSpPr>
        <p:spPr/>
        <p:txBody>
          <a:bodyPr/>
          <a:lstStyle/>
          <a:p>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a:fillRect/>
          </a:stretch>
        </p:blipFill>
        <p:spPr/>
      </p:pic>
      <p:pic>
        <p:nvPicPr>
          <p:cNvPr id="2" name="Picture 1">
            <a:extLst>
              <a:ext uri="{FF2B5EF4-FFF2-40B4-BE49-F238E27FC236}">
                <a16:creationId xmlns:a16="http://schemas.microsoft.com/office/drawing/2014/main" id="{B7CF9309-0709-C570-8830-9CD4220849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9997" y="3174670"/>
            <a:ext cx="3040167" cy="3040167"/>
          </a:xfrm>
          <a:prstGeom prst="rect">
            <a:avLst/>
          </a:prstGeo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p:cNvSpPr>
            <a:spLocks noGrp="1"/>
          </p:cNvSpPr>
          <p:nvPr>
            <p:ph idx="1"/>
          </p:nvPr>
        </p:nvSpPr>
        <p:spPr>
          <a:xfrm>
            <a:off x="1104900" y="395416"/>
            <a:ext cx="9982200" cy="5776784"/>
          </a:xfrm>
        </p:spPr>
        <p:txBody>
          <a:bodyPr>
            <a:normAutofit/>
          </a:bodyPr>
          <a:lstStyle/>
          <a:p>
            <a:pPr marL="0" indent="0">
              <a:buNone/>
            </a:pPr>
            <a:r>
              <a:rPr lang="en-US" sz="6000" dirty="0">
                <a:latin typeface="Eras Bold ITC" panose="020B0907030504020204" pitchFamily="34" charset="0"/>
              </a:rPr>
              <a:t>STUDY OR WORK ABROAD? </a:t>
            </a:r>
          </a:p>
        </p:txBody>
      </p:sp>
      <p:pic>
        <p:nvPicPr>
          <p:cNvPr id="3" name="Picture 2">
            <a:extLst>
              <a:ext uri="{FF2B5EF4-FFF2-40B4-BE49-F238E27FC236}">
                <a16:creationId xmlns:a16="http://schemas.microsoft.com/office/drawing/2014/main" id="{5D8578B4-47C8-64B2-EC13-8790E96F2164}"/>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rot="20818172">
            <a:off x="-20296" y="2259445"/>
            <a:ext cx="6230698" cy="3687008"/>
          </a:xfrm>
          <a:prstGeom prst="ellipse">
            <a:avLst/>
          </a:prstGeom>
          <a:ln>
            <a:noFill/>
          </a:ln>
          <a:effectLst>
            <a:softEdge rad="112500"/>
          </a:effectLst>
        </p:spPr>
      </p:pic>
      <p:sp>
        <p:nvSpPr>
          <p:cNvPr id="4" name="Rectangle 3">
            <a:extLst>
              <a:ext uri="{FF2B5EF4-FFF2-40B4-BE49-F238E27FC236}">
                <a16:creationId xmlns:a16="http://schemas.microsoft.com/office/drawing/2014/main" id="{BF260015-F274-E7A2-E63B-F8D8EB6DBC54}"/>
              </a:ext>
            </a:extLst>
          </p:cNvPr>
          <p:cNvSpPr/>
          <p:nvPr/>
        </p:nvSpPr>
        <p:spPr>
          <a:xfrm>
            <a:off x="6376087" y="1028343"/>
            <a:ext cx="5029200" cy="2400657"/>
          </a:xfrm>
          <a:prstGeom prst="rect">
            <a:avLst/>
          </a:prstGeom>
          <a:noFill/>
        </p:spPr>
        <p:txBody>
          <a:bodyPr wrap="square" lIns="91440" tIns="45720" rIns="91440" bIns="45720">
            <a:spAutoFit/>
          </a:bodyPr>
          <a:lstStyle/>
          <a:p>
            <a:pPr algn="ctr"/>
            <a:r>
              <a:rPr lang="en-US" sz="15000" b="1" cap="none" spc="0" dirty="0">
                <a:ln w="12700">
                  <a:solidFill>
                    <a:schemeClr val="accent3">
                      <a:lumMod val="50000"/>
                    </a:schemeClr>
                  </a:solidFill>
                  <a:prstDash val="solid"/>
                </a:ln>
                <a:solidFill>
                  <a:srgbClr val="0070C0"/>
                </a:solidFill>
                <a:effectLst>
                  <a:innerShdw blurRad="177800">
                    <a:schemeClr val="accent3">
                      <a:lumMod val="50000"/>
                    </a:schemeClr>
                  </a:innerShdw>
                </a:effectLst>
                <a:latin typeface="Aldhabi" panose="01000000000000000000" pitchFamily="2" charset="-78"/>
                <a:cs typeface="Aldhabi" panose="01000000000000000000" pitchFamily="2" charset="-78"/>
              </a:rPr>
              <a:t>IELTS???</a:t>
            </a:r>
          </a:p>
        </p:txBody>
      </p:sp>
      <p:pic>
        <p:nvPicPr>
          <p:cNvPr id="6" name="Picture 5">
            <a:extLst>
              <a:ext uri="{FF2B5EF4-FFF2-40B4-BE49-F238E27FC236}">
                <a16:creationId xmlns:a16="http://schemas.microsoft.com/office/drawing/2014/main" id="{9C537CDD-9BCE-19C3-AA70-2C3F328F22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7241" y="3707026"/>
            <a:ext cx="3040167" cy="3040167"/>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 calcmode="lin" valueType="num">
                                      <p:cBhvr additive="base">
                                        <p:cTn id="13"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9B36BE-B566-93A3-B0E7-7997940D6F76}"/>
              </a:ext>
            </a:extLst>
          </p:cNvPr>
          <p:cNvSpPr>
            <a:spLocks noGrp="1"/>
          </p:cNvSpPr>
          <p:nvPr>
            <p:ph type="title"/>
          </p:nvPr>
        </p:nvSpPr>
        <p:spPr/>
        <p:txBody>
          <a:bodyPr>
            <a:normAutofit/>
          </a:bodyPr>
          <a:lstStyle/>
          <a:p>
            <a:pPr algn="ctr"/>
            <a:r>
              <a:rPr lang="en-US" sz="5400" dirty="0"/>
              <a:t>Coverage</a:t>
            </a:r>
          </a:p>
        </p:txBody>
      </p:sp>
      <p:sp>
        <p:nvSpPr>
          <p:cNvPr id="7" name="Content Placeholder 6">
            <a:extLst>
              <a:ext uri="{FF2B5EF4-FFF2-40B4-BE49-F238E27FC236}">
                <a16:creationId xmlns:a16="http://schemas.microsoft.com/office/drawing/2014/main" id="{56D91447-46A7-BFA3-F89E-755F0A7FC8E8}"/>
              </a:ext>
            </a:extLst>
          </p:cNvPr>
          <p:cNvSpPr>
            <a:spLocks noGrp="1"/>
          </p:cNvSpPr>
          <p:nvPr>
            <p:ph idx="1"/>
          </p:nvPr>
        </p:nvSpPr>
        <p:spPr/>
        <p:txBody>
          <a:bodyPr>
            <a:normAutofit/>
          </a:bodyPr>
          <a:lstStyle/>
          <a:p>
            <a:r>
              <a:rPr lang="en-US" sz="2800" dirty="0"/>
              <a:t>What Is IELTS?</a:t>
            </a:r>
          </a:p>
          <a:p>
            <a:r>
              <a:rPr lang="en-US" sz="2800" dirty="0"/>
              <a:t>Who Needs IELTS?</a:t>
            </a:r>
          </a:p>
          <a:p>
            <a:r>
              <a:rPr lang="en-US" sz="2800" dirty="0"/>
              <a:t>Common Misunderstandings About IELTS</a:t>
            </a:r>
          </a:p>
          <a:p>
            <a:r>
              <a:rPr lang="en-US" sz="2800" dirty="0"/>
              <a:t>Our Teaching Approach-   </a:t>
            </a:r>
            <a:r>
              <a:rPr lang="en-US" sz="2800" b="1" dirty="0"/>
              <a:t> IELTS 9.0</a:t>
            </a:r>
          </a:p>
        </p:txBody>
      </p:sp>
      <p:pic>
        <p:nvPicPr>
          <p:cNvPr id="8" name="Picture 7">
            <a:extLst>
              <a:ext uri="{FF2B5EF4-FFF2-40B4-BE49-F238E27FC236}">
                <a16:creationId xmlns:a16="http://schemas.microsoft.com/office/drawing/2014/main" id="{DDED5CA7-FA03-3F72-B46C-F9DFE0CE2B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7241" y="3707026"/>
            <a:ext cx="3040167" cy="3040167"/>
          </a:xfrm>
          <a:prstGeom prst="rect">
            <a:avLst/>
          </a:prstGeom>
        </p:spPr>
      </p:pic>
    </p:spTree>
    <p:extLst>
      <p:ext uri="{BB962C8B-B14F-4D97-AF65-F5344CB8AC3E}">
        <p14:creationId xmlns:p14="http://schemas.microsoft.com/office/powerpoint/2010/main" val="401027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heel(1)">
                                      <p:cBhvr>
                                        <p:cTn id="12" dur="20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7">
                                            <p:txEl>
                                              <p:pRg st="1" end="1"/>
                                            </p:txEl>
                                          </p:spTgt>
                                        </p:tgtEl>
                                        <p:attrNameLst>
                                          <p:attrName>style.visibility</p:attrName>
                                        </p:attrNameLst>
                                      </p:cBhvr>
                                      <p:to>
                                        <p:strVal val="visible"/>
                                      </p:to>
                                    </p:set>
                                    <p:animEffect transition="in" filter="fade">
                                      <p:cBhvr>
                                        <p:cTn id="17" dur="1000"/>
                                        <p:tgtEl>
                                          <p:spTgt spid="7">
                                            <p:txEl>
                                              <p:pRg st="1" end="1"/>
                                            </p:txEl>
                                          </p:spTgt>
                                        </p:tgtEl>
                                      </p:cBhvr>
                                    </p:animEffect>
                                    <p:anim calcmode="lin" valueType="num">
                                      <p:cBhvr>
                                        <p:cTn id="18"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5F1EB0-93EB-7468-D477-6AAB62425C37}"/>
              </a:ext>
            </a:extLst>
          </p:cNvPr>
          <p:cNvSpPr>
            <a:spLocks noGrp="1"/>
          </p:cNvSpPr>
          <p:nvPr>
            <p:ph type="title"/>
          </p:nvPr>
        </p:nvSpPr>
        <p:spPr>
          <a:xfrm>
            <a:off x="1113097" y="-235315"/>
            <a:ext cx="10058400" cy="1609344"/>
          </a:xfrm>
        </p:spPr>
        <p:txBody>
          <a:bodyPr/>
          <a:lstStyle/>
          <a:p>
            <a:pPr algn="ctr"/>
            <a:r>
              <a:rPr lang="en-US" b="1" dirty="0">
                <a:solidFill>
                  <a:srgbClr val="0070C0"/>
                </a:solidFill>
                <a:latin typeface="Arial Rounded MT Bold" panose="020F0704030504030204" pitchFamily="34" charset="0"/>
              </a:rPr>
              <a:t>What Is IELTS?</a:t>
            </a:r>
          </a:p>
        </p:txBody>
      </p:sp>
      <p:sp>
        <p:nvSpPr>
          <p:cNvPr id="11" name="TextBox 10">
            <a:extLst>
              <a:ext uri="{FF2B5EF4-FFF2-40B4-BE49-F238E27FC236}">
                <a16:creationId xmlns:a16="http://schemas.microsoft.com/office/drawing/2014/main" id="{2D42145D-B01A-EEDD-4874-D7DBEEB1B45A}"/>
              </a:ext>
            </a:extLst>
          </p:cNvPr>
          <p:cNvSpPr txBox="1"/>
          <p:nvPr/>
        </p:nvSpPr>
        <p:spPr>
          <a:xfrm>
            <a:off x="565955" y="800468"/>
            <a:ext cx="4020579" cy="5693866"/>
          </a:xfrm>
          <a:prstGeom prst="rect">
            <a:avLst/>
          </a:prstGeom>
          <a:noFill/>
        </p:spPr>
        <p:txBody>
          <a:bodyPr wrap="square">
            <a:spAutoFit/>
          </a:bodyPr>
          <a:lstStyle/>
          <a:p>
            <a:pPr marL="285750" indent="-285750">
              <a:buFont typeface="Wingdings" panose="05000000000000000000" pitchFamily="2" charset="2"/>
              <a:buChar char="Ø"/>
            </a:pPr>
            <a:r>
              <a:rPr lang="en-US" sz="2800" i="0" dirty="0">
                <a:solidFill>
                  <a:srgbClr val="0070C0"/>
                </a:solidFill>
                <a:effectLst/>
                <a:latin typeface="Aptos Display" panose="020B0004020202020204" pitchFamily="34" charset="0"/>
              </a:rPr>
              <a:t>IELTS stands for </a:t>
            </a:r>
            <a:r>
              <a:rPr lang="en-US" sz="2800" b="1" i="0" dirty="0">
                <a:solidFill>
                  <a:srgbClr val="0070C0"/>
                </a:solidFill>
                <a:effectLst/>
                <a:highlight>
                  <a:srgbClr val="FFFF00"/>
                </a:highlight>
                <a:latin typeface="Aptos Display" panose="020B0004020202020204" pitchFamily="34" charset="0"/>
              </a:rPr>
              <a:t>International English Language Testing System</a:t>
            </a:r>
            <a:r>
              <a:rPr lang="en-US" sz="2800" i="0" dirty="0">
                <a:solidFill>
                  <a:srgbClr val="0070C0"/>
                </a:solidFill>
                <a:effectLst/>
                <a:latin typeface="Aptos Display" panose="020B0004020202020204" pitchFamily="34" charset="0"/>
              </a:rPr>
              <a:t>— an exam that measures your ability to use English in real-life situations, not test tricks or memorization</a:t>
            </a:r>
          </a:p>
          <a:p>
            <a:pPr marL="285750" indent="-285750">
              <a:buFont typeface="Wingdings" panose="05000000000000000000" pitchFamily="2" charset="2"/>
              <a:buChar char="Ø"/>
            </a:pPr>
            <a:endParaRPr lang="en-US" sz="2800" i="0" dirty="0">
              <a:solidFill>
                <a:srgbClr val="0070C0"/>
              </a:solidFill>
              <a:effectLst/>
              <a:latin typeface="Aptos Display" panose="020B0004020202020204" pitchFamily="34" charset="0"/>
            </a:endParaRPr>
          </a:p>
          <a:p>
            <a:pPr marL="285750" indent="-285750">
              <a:buFont typeface="Wingdings" panose="05000000000000000000" pitchFamily="2" charset="2"/>
              <a:buChar char="Ø"/>
            </a:pPr>
            <a:r>
              <a:rPr lang="en-US" sz="2800" dirty="0">
                <a:solidFill>
                  <a:srgbClr val="0070C0"/>
                </a:solidFill>
                <a:latin typeface="Aptos Display" panose="020B0004020202020204" pitchFamily="34" charset="0"/>
              </a:rPr>
              <a:t>IELTS does </a:t>
            </a:r>
            <a:r>
              <a:rPr lang="en-US" sz="2800" b="1" dirty="0">
                <a:solidFill>
                  <a:srgbClr val="0070C0"/>
                </a:solidFill>
                <a:highlight>
                  <a:srgbClr val="FFFF00"/>
                </a:highlight>
                <a:latin typeface="Aptos Display" panose="020B0004020202020204" pitchFamily="34" charset="0"/>
              </a:rPr>
              <a:t>not</a:t>
            </a:r>
            <a:r>
              <a:rPr lang="en-US" sz="2800" dirty="0">
                <a:solidFill>
                  <a:srgbClr val="0070C0"/>
                </a:solidFill>
                <a:latin typeface="Aptos Display" panose="020B0004020202020204" pitchFamily="34" charset="0"/>
              </a:rPr>
              <a:t> test</a:t>
            </a:r>
          </a:p>
          <a:p>
            <a:r>
              <a:rPr lang="en-US" sz="2800" dirty="0">
                <a:solidFill>
                  <a:srgbClr val="0070C0"/>
                </a:solidFill>
                <a:latin typeface="Aptos Display" panose="020B0004020202020204" pitchFamily="34" charset="0"/>
              </a:rPr>
              <a:t> how many words you know, but how effectively you use English.</a:t>
            </a:r>
          </a:p>
        </p:txBody>
      </p:sp>
      <p:pic>
        <p:nvPicPr>
          <p:cNvPr id="19" name="Picture 18" descr="A screen shot of a diagram&#10;&#10;AI-generated content may be incorrect.">
            <a:extLst>
              <a:ext uri="{FF2B5EF4-FFF2-40B4-BE49-F238E27FC236}">
                <a16:creationId xmlns:a16="http://schemas.microsoft.com/office/drawing/2014/main" id="{7F5E77D1-00F4-B071-497E-628928D2C849}"/>
              </a:ext>
            </a:extLst>
          </p:cNvPr>
          <p:cNvPicPr>
            <a:picLocks noChangeAspect="1"/>
          </p:cNvPicPr>
          <p:nvPr/>
        </p:nvPicPr>
        <p:blipFill>
          <a:blip r:embed="rId3"/>
          <a:stretch>
            <a:fillRect/>
          </a:stretch>
        </p:blipFill>
        <p:spPr>
          <a:xfrm>
            <a:off x="5069352" y="3378345"/>
            <a:ext cx="6921856" cy="326406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0" name="Rectangle 19">
            <a:extLst>
              <a:ext uri="{FF2B5EF4-FFF2-40B4-BE49-F238E27FC236}">
                <a16:creationId xmlns:a16="http://schemas.microsoft.com/office/drawing/2014/main" id="{EF1BBC77-9908-AB17-0DEB-2D4F91DCF894}"/>
              </a:ext>
            </a:extLst>
          </p:cNvPr>
          <p:cNvSpPr/>
          <p:nvPr/>
        </p:nvSpPr>
        <p:spPr>
          <a:xfrm>
            <a:off x="8227472" y="2640366"/>
            <a:ext cx="2199641" cy="646331"/>
          </a:xfrm>
          <a:prstGeom prst="rect">
            <a:avLst/>
          </a:prstGeom>
          <a:noFill/>
        </p:spPr>
        <p:txBody>
          <a:bodyPr wrap="none" lIns="91440" tIns="45720" rIns="91440" bIns="45720">
            <a:spAutoFit/>
          </a:bodyPr>
          <a:lstStyle/>
          <a:p>
            <a:pPr algn="ctr"/>
            <a:r>
              <a:rPr lang="en-US" sz="36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4 SKILLS</a:t>
            </a:r>
          </a:p>
        </p:txBody>
      </p:sp>
      <p:pic>
        <p:nvPicPr>
          <p:cNvPr id="21" name="Picture 20">
            <a:extLst>
              <a:ext uri="{FF2B5EF4-FFF2-40B4-BE49-F238E27FC236}">
                <a16:creationId xmlns:a16="http://schemas.microsoft.com/office/drawing/2014/main" id="{810E3A65-BFBE-994B-C85D-81B68435E22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242483" y="52376"/>
            <a:ext cx="1858027" cy="1858027"/>
          </a:xfrm>
          <a:prstGeom prst="rect">
            <a:avLst/>
          </a:prstGeom>
        </p:spPr>
      </p:pic>
    </p:spTree>
    <p:extLst>
      <p:ext uri="{BB962C8B-B14F-4D97-AF65-F5344CB8AC3E}">
        <p14:creationId xmlns:p14="http://schemas.microsoft.com/office/powerpoint/2010/main" val="285378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 calcmode="lin" valueType="num">
                                      <p:cBhvr additive="base">
                                        <p:cTn id="7"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0">
                                            <p:txEl>
                                              <p:pRg st="0" end="0"/>
                                            </p:txEl>
                                          </p:spTgt>
                                        </p:tgtEl>
                                        <p:attrNameLst>
                                          <p:attrName>style.visibility</p:attrName>
                                        </p:attrNameLst>
                                      </p:cBhvr>
                                      <p:to>
                                        <p:strVal val="visible"/>
                                      </p:to>
                                    </p:set>
                                    <p:animEffect transition="in" filter="barn(inVertical)">
                                      <p:cBhvr>
                                        <p:cTn id="13" dur="500"/>
                                        <p:tgtEl>
                                          <p:spTgt spid="20">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 calcmode="lin" valueType="num">
                                      <p:cBhvr>
                                        <p:cTn id="18" dur="1000" fill="hold"/>
                                        <p:tgtEl>
                                          <p:spTgt spid="19"/>
                                        </p:tgtEl>
                                        <p:attrNameLst>
                                          <p:attrName>ppt_w</p:attrName>
                                        </p:attrNameLst>
                                      </p:cBhvr>
                                      <p:tavLst>
                                        <p:tav tm="0">
                                          <p:val>
                                            <p:fltVal val="0"/>
                                          </p:val>
                                        </p:tav>
                                        <p:tav tm="100000">
                                          <p:val>
                                            <p:strVal val="#ppt_w"/>
                                          </p:val>
                                        </p:tav>
                                      </p:tavLst>
                                    </p:anim>
                                    <p:anim calcmode="lin" valueType="num">
                                      <p:cBhvr>
                                        <p:cTn id="19" dur="1000" fill="hold"/>
                                        <p:tgtEl>
                                          <p:spTgt spid="19"/>
                                        </p:tgtEl>
                                        <p:attrNameLst>
                                          <p:attrName>ppt_h</p:attrName>
                                        </p:attrNameLst>
                                      </p:cBhvr>
                                      <p:tavLst>
                                        <p:tav tm="0">
                                          <p:val>
                                            <p:fltVal val="0"/>
                                          </p:val>
                                        </p:tav>
                                        <p:tav tm="100000">
                                          <p:val>
                                            <p:strVal val="#ppt_h"/>
                                          </p:val>
                                        </p:tav>
                                      </p:tavLst>
                                    </p:anim>
                                    <p:anim calcmode="lin" valueType="num">
                                      <p:cBhvr>
                                        <p:cTn id="20" dur="1000" fill="hold"/>
                                        <p:tgtEl>
                                          <p:spTgt spid="19"/>
                                        </p:tgtEl>
                                        <p:attrNameLst>
                                          <p:attrName>style.rotation</p:attrName>
                                        </p:attrNameLst>
                                      </p:cBhvr>
                                      <p:tavLst>
                                        <p:tav tm="0">
                                          <p:val>
                                            <p:fltVal val="90"/>
                                          </p:val>
                                        </p:tav>
                                        <p:tav tm="100000">
                                          <p:val>
                                            <p:fltVal val="0"/>
                                          </p:val>
                                        </p:tav>
                                      </p:tavLst>
                                    </p:anim>
                                    <p:animEffect transition="in" filter="fade">
                                      <p:cBhvr>
                                        <p:cTn id="21" dur="10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11">
                                            <p:txEl>
                                              <p:pRg st="2" end="2"/>
                                            </p:txEl>
                                          </p:spTgt>
                                        </p:tgtEl>
                                        <p:attrNameLst>
                                          <p:attrName>style.visibility</p:attrName>
                                        </p:attrNameLst>
                                      </p:cBhvr>
                                      <p:to>
                                        <p:strVal val="visible"/>
                                      </p:to>
                                    </p:set>
                                    <p:animEffect transition="in" filter="randombar(horizontal)">
                                      <p:cBhvr>
                                        <p:cTn id="26" dur="500"/>
                                        <p:tgtEl>
                                          <p:spTgt spid="11">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11">
                                            <p:txEl>
                                              <p:pRg st="3" end="3"/>
                                            </p:txEl>
                                          </p:spTgt>
                                        </p:tgtEl>
                                        <p:attrNameLst>
                                          <p:attrName>style.visibility</p:attrName>
                                        </p:attrNameLst>
                                      </p:cBhvr>
                                      <p:to>
                                        <p:strVal val="visible"/>
                                      </p:to>
                                    </p:set>
                                    <p:animEffect transition="in" filter="randombar(horizontal)">
                                      <p:cBhvr>
                                        <p:cTn id="31" dur="500"/>
                                        <p:tgtEl>
                                          <p:spTgt spid="11">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circle(in)">
                                      <p:cBhvr>
                                        <p:cTn id="36"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ich Countries Accept IELTS">
            <a:extLst>
              <a:ext uri="{FF2B5EF4-FFF2-40B4-BE49-F238E27FC236}">
                <a16:creationId xmlns:a16="http://schemas.microsoft.com/office/drawing/2014/main" id="{E65DA942-AB68-679E-4297-B4015FC5FC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11" y="54367"/>
            <a:ext cx="12121977" cy="685947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69957A2D-734A-73DA-E9A2-08ADA58C5015}"/>
              </a:ext>
            </a:extLst>
          </p:cNvPr>
          <p:cNvSpPr>
            <a:spLocks noGrp="1"/>
          </p:cNvSpPr>
          <p:nvPr>
            <p:ph idx="1"/>
          </p:nvPr>
        </p:nvSpPr>
        <p:spPr>
          <a:xfrm>
            <a:off x="175055" y="5396389"/>
            <a:ext cx="13921369" cy="4159366"/>
          </a:xfrm>
        </p:spPr>
        <p:txBody>
          <a:bodyPr/>
          <a:lstStyle/>
          <a:p>
            <a:r>
              <a:rPr lang="en-US" sz="3200" b="1" dirty="0">
                <a:highlight>
                  <a:srgbClr val="FFFF00"/>
                </a:highlight>
              </a:rPr>
              <a:t>Study for a bachelor’s, master’s, or PhD degree</a:t>
            </a:r>
          </a:p>
          <a:p>
            <a:r>
              <a:rPr lang="en-US" sz="3200" b="1" dirty="0">
                <a:highlight>
                  <a:srgbClr val="FFFF00"/>
                </a:highlight>
              </a:rPr>
              <a:t>Apply for a visa or immigration</a:t>
            </a:r>
          </a:p>
          <a:p>
            <a:endParaRPr lang="en-US" dirty="0"/>
          </a:p>
        </p:txBody>
      </p:sp>
      <p:sp>
        <p:nvSpPr>
          <p:cNvPr id="2" name="Title 1"/>
          <p:cNvSpPr>
            <a:spLocks noGrp="1"/>
          </p:cNvSpPr>
          <p:nvPr>
            <p:ph type="title"/>
          </p:nvPr>
        </p:nvSpPr>
        <p:spPr>
          <a:xfrm>
            <a:off x="742394" y="-139384"/>
            <a:ext cx="10058400" cy="1609344"/>
          </a:xfrm>
        </p:spPr>
        <p:txBody>
          <a:bodyPr/>
          <a:lstStyle/>
          <a:p>
            <a:pPr algn="ctr"/>
            <a:r>
              <a:rPr lang="en-US" b="1" dirty="0">
                <a:solidFill>
                  <a:srgbClr val="C00000"/>
                </a:solidFill>
                <a:highlight>
                  <a:srgbClr val="FFFF00"/>
                </a:highlight>
              </a:rPr>
              <a:t>Who Needs IELTS? </a:t>
            </a:r>
          </a:p>
        </p:txBody>
      </p:sp>
      <p:pic>
        <p:nvPicPr>
          <p:cNvPr id="6" name="Picture 5">
            <a:extLst>
              <a:ext uri="{FF2B5EF4-FFF2-40B4-BE49-F238E27FC236}">
                <a16:creationId xmlns:a16="http://schemas.microsoft.com/office/drawing/2014/main" id="{026753B1-97FB-15E0-A440-44DEE26AAF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53279" y="54367"/>
            <a:ext cx="2703709" cy="2419481"/>
          </a:xfrm>
          <a:prstGeom prst="ellipse">
            <a:avLst/>
          </a:prstGeom>
          <a:ln>
            <a:noFill/>
          </a:ln>
          <a:effectLst>
            <a:softEdge rad="112500"/>
          </a:effectLst>
        </p:spPr>
      </p:pic>
    </p:spTree>
    <p:extLst>
      <p:ext uri="{BB962C8B-B14F-4D97-AF65-F5344CB8AC3E}">
        <p14:creationId xmlns:p14="http://schemas.microsoft.com/office/powerpoint/2010/main" val="4224509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p:cTn id="13"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5">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ircle(in)">
                                      <p:cBhvr>
                                        <p:cTn id="19"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eveloping Effective Communication: 5 ways to avoid misunderstanding –  Startup Istanbul">
            <a:extLst>
              <a:ext uri="{FF2B5EF4-FFF2-40B4-BE49-F238E27FC236}">
                <a16:creationId xmlns:a16="http://schemas.microsoft.com/office/drawing/2014/main" id="{3B977E19-EBE6-E670-D398-ED21BF567D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8292230" cy="68579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643703" y="-548014"/>
            <a:ext cx="7432589" cy="1772434"/>
          </a:xfrm>
        </p:spPr>
        <p:txBody>
          <a:bodyPr>
            <a:noAutofit/>
          </a:bodyPr>
          <a:lstStyle/>
          <a:p>
            <a:pPr algn="ctr"/>
            <a:r>
              <a:rPr lang="en-US" sz="3600" dirty="0">
                <a:solidFill>
                  <a:srgbClr val="0070C0"/>
                </a:solidFill>
              </a:rPr>
              <a:t>Common Misunderstandings About IELTS</a:t>
            </a:r>
          </a:p>
        </p:txBody>
      </p:sp>
      <p:sp>
        <p:nvSpPr>
          <p:cNvPr id="7" name="TextBox 6">
            <a:extLst>
              <a:ext uri="{FF2B5EF4-FFF2-40B4-BE49-F238E27FC236}">
                <a16:creationId xmlns:a16="http://schemas.microsoft.com/office/drawing/2014/main" id="{CA6589DD-4BC4-710F-357E-213C70267B9D}"/>
              </a:ext>
            </a:extLst>
          </p:cNvPr>
          <p:cNvSpPr txBox="1"/>
          <p:nvPr/>
        </p:nvSpPr>
        <p:spPr>
          <a:xfrm>
            <a:off x="7480831" y="2229633"/>
            <a:ext cx="2990928" cy="2585323"/>
          </a:xfrm>
          <a:prstGeom prst="rect">
            <a:avLst/>
          </a:prstGeom>
          <a:noFill/>
        </p:spPr>
        <p:txBody>
          <a:bodyPr wrap="square" rtlCol="0">
            <a:spAutoFit/>
          </a:bodyPr>
          <a:lstStyle/>
          <a:p>
            <a:pPr marL="285750" indent="-285750">
              <a:buFont typeface="Wingdings" panose="05000000000000000000" pitchFamily="2" charset="2"/>
              <a:buChar char="Ø"/>
            </a:pPr>
            <a:r>
              <a:rPr lang="en-US" b="1" dirty="0">
                <a:solidFill>
                  <a:srgbClr val="002060"/>
                </a:solidFill>
              </a:rPr>
              <a:t>Believing you must sound like a native speaker</a:t>
            </a:r>
          </a:p>
          <a:p>
            <a:pPr marL="285750" indent="-285750">
              <a:buFont typeface="Wingdings" panose="05000000000000000000" pitchFamily="2" charset="2"/>
              <a:buChar char="Ø"/>
            </a:pPr>
            <a:r>
              <a:rPr lang="en-US" b="1" dirty="0">
                <a:solidFill>
                  <a:srgbClr val="002060"/>
                </a:solidFill>
              </a:rPr>
              <a:t>Assuming more materials mean better results</a:t>
            </a:r>
          </a:p>
          <a:p>
            <a:pPr marL="285750" indent="-285750">
              <a:buFont typeface="Wingdings" panose="05000000000000000000" pitchFamily="2" charset="2"/>
              <a:buChar char="Ø"/>
            </a:pPr>
            <a:r>
              <a:rPr lang="en-US" b="1" dirty="0">
                <a:solidFill>
                  <a:srgbClr val="002060"/>
                </a:solidFill>
              </a:rPr>
              <a:t>Thinking IELTS is a general English test</a:t>
            </a:r>
          </a:p>
          <a:p>
            <a:pPr marL="285750" indent="-285750">
              <a:buFont typeface="Wingdings" panose="05000000000000000000" pitchFamily="2" charset="2"/>
              <a:buChar char="Ø"/>
            </a:pPr>
            <a:endParaRPr lang="en-US" b="1" dirty="0">
              <a:solidFill>
                <a:srgbClr val="002060"/>
              </a:solidFill>
            </a:endParaRPr>
          </a:p>
        </p:txBody>
      </p:sp>
      <p:sp>
        <p:nvSpPr>
          <p:cNvPr id="9" name="TextBox 8">
            <a:extLst>
              <a:ext uri="{FF2B5EF4-FFF2-40B4-BE49-F238E27FC236}">
                <a16:creationId xmlns:a16="http://schemas.microsoft.com/office/drawing/2014/main" id="{280D0124-A7F4-6BB3-B47B-8C4EAC1A4393}"/>
              </a:ext>
            </a:extLst>
          </p:cNvPr>
          <p:cNvSpPr txBox="1"/>
          <p:nvPr/>
        </p:nvSpPr>
        <p:spPr>
          <a:xfrm>
            <a:off x="7308935" y="4792073"/>
            <a:ext cx="4514067" cy="1938992"/>
          </a:xfrm>
          <a:prstGeom prst="rect">
            <a:avLst/>
          </a:prstGeom>
          <a:noFill/>
        </p:spPr>
        <p:txBody>
          <a:bodyPr wrap="square">
            <a:spAutoFit/>
          </a:bodyPr>
          <a:lstStyle/>
          <a:p>
            <a:pPr algn="ctr"/>
            <a:r>
              <a:rPr lang="en-US" sz="2400" b="1" i="0" dirty="0">
                <a:solidFill>
                  <a:srgbClr val="081B3A"/>
                </a:solidFill>
                <a:effectLst/>
                <a:latin typeface="SegoeuiPc"/>
              </a:rPr>
              <a:t>IELTS is </a:t>
            </a:r>
            <a:r>
              <a:rPr lang="en-US" sz="2400" b="1" i="0" dirty="0">
                <a:solidFill>
                  <a:srgbClr val="081B3A"/>
                </a:solidFill>
                <a:effectLst/>
                <a:highlight>
                  <a:srgbClr val="FFFF00"/>
                </a:highlight>
                <a:latin typeface="SegoeuiPc"/>
              </a:rPr>
              <a:t>a criteria-based exam with very clear marking standards</a:t>
            </a:r>
            <a:r>
              <a:rPr lang="en-US" sz="2400" b="1" i="0" dirty="0">
                <a:solidFill>
                  <a:srgbClr val="081B3A"/>
                </a:solidFill>
                <a:effectLst/>
                <a:latin typeface="SegoeuiPc"/>
              </a:rPr>
              <a:t>. Those who </a:t>
            </a:r>
            <a:r>
              <a:rPr lang="en-US" sz="2400" b="1" i="0" dirty="0">
                <a:solidFill>
                  <a:srgbClr val="FF0000"/>
                </a:solidFill>
                <a:effectLst/>
                <a:latin typeface="SegoeuiPc"/>
              </a:rPr>
              <a:t>understand</a:t>
            </a:r>
            <a:r>
              <a:rPr lang="en-US" sz="2400" b="1" i="0" dirty="0">
                <a:solidFill>
                  <a:srgbClr val="081B3A"/>
                </a:solidFill>
                <a:effectLst/>
                <a:latin typeface="SegoeuiPc"/>
              </a:rPr>
              <a:t> the criteria </a:t>
            </a:r>
            <a:r>
              <a:rPr lang="en-US" sz="2400" b="1" i="0" dirty="0">
                <a:solidFill>
                  <a:srgbClr val="FF0000"/>
                </a:solidFill>
                <a:effectLst/>
                <a:latin typeface="SegoeuiPc"/>
              </a:rPr>
              <a:t>always have an advantage</a:t>
            </a:r>
            <a:endParaRPr lang="en-US" sz="2400" b="1" dirty="0">
              <a:solidFill>
                <a:srgbClr val="FF0000"/>
              </a:solidFill>
            </a:endParaRPr>
          </a:p>
        </p:txBody>
      </p:sp>
      <p:pic>
        <p:nvPicPr>
          <p:cNvPr id="10" name="Picture 9">
            <a:extLst>
              <a:ext uri="{FF2B5EF4-FFF2-40B4-BE49-F238E27FC236}">
                <a16:creationId xmlns:a16="http://schemas.microsoft.com/office/drawing/2014/main" id="{3AC88A28-8D0B-35EC-BC2C-4616C7D121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39119" y="99757"/>
            <a:ext cx="2818356" cy="1938993"/>
          </a:xfrm>
          <a:prstGeom prst="ellipse">
            <a:avLst/>
          </a:prstGeom>
          <a:ln>
            <a:noFill/>
          </a:ln>
          <a:effectLst>
            <a:softEdge rad="112500"/>
          </a:effectLst>
        </p:spPr>
      </p:pic>
    </p:spTree>
    <p:extLst>
      <p:ext uri="{BB962C8B-B14F-4D97-AF65-F5344CB8AC3E}">
        <p14:creationId xmlns:p14="http://schemas.microsoft.com/office/powerpoint/2010/main" val="3683544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 calcmode="lin" valueType="num">
                                      <p:cBhvr additive="base">
                                        <p:cTn id="12"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7">
                                            <p:txEl>
                                              <p:pRg st="1" end="1"/>
                                            </p:txEl>
                                          </p:spTgt>
                                        </p:tgtEl>
                                        <p:attrNameLst>
                                          <p:attrName>style.visibility</p:attrName>
                                        </p:attrNameLst>
                                      </p:cBhvr>
                                      <p:to>
                                        <p:strVal val="visible"/>
                                      </p:to>
                                    </p:set>
                                    <p:anim calcmode="lin" valueType="num">
                                      <p:cBhvr additive="base">
                                        <p:cTn id="18"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 calcmode="lin" valueType="num">
                                      <p:cBhvr additive="base">
                                        <p:cTn id="24"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DEF7F-EF9C-F923-447C-5B2E2736FB75}"/>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30E372D1-3F83-6B13-62DB-988A160C6B68}"/>
              </a:ext>
            </a:extLst>
          </p:cNvPr>
          <p:cNvSpPr>
            <a:spLocks noGrp="1"/>
          </p:cNvSpPr>
          <p:nvPr>
            <p:ph type="pic" idx="1"/>
          </p:nvPr>
        </p:nvSpPr>
        <p:spPr>
          <a:xfrm>
            <a:off x="0" y="0"/>
            <a:ext cx="8303740" cy="6858000"/>
          </a:xfrm>
        </p:spPr>
      </p:sp>
      <p:sp>
        <p:nvSpPr>
          <p:cNvPr id="4" name="Text Placeholder 3">
            <a:extLst>
              <a:ext uri="{FF2B5EF4-FFF2-40B4-BE49-F238E27FC236}">
                <a16:creationId xmlns:a16="http://schemas.microsoft.com/office/drawing/2014/main" id="{F107911B-1740-09B1-383D-4D9825BDE8E8}"/>
              </a:ext>
            </a:extLst>
          </p:cNvPr>
          <p:cNvSpPr>
            <a:spLocks noGrp="1"/>
          </p:cNvSpPr>
          <p:nvPr>
            <p:ph type="body" sz="half" idx="2"/>
          </p:nvPr>
        </p:nvSpPr>
        <p:spPr/>
        <p:txBody>
          <a:bodyPr/>
          <a:lstStyle/>
          <a:p>
            <a:endParaRPr lang="en-US"/>
          </a:p>
        </p:txBody>
      </p:sp>
      <p:sp>
        <p:nvSpPr>
          <p:cNvPr id="5" name="Rectangle 4">
            <a:extLst>
              <a:ext uri="{FF2B5EF4-FFF2-40B4-BE49-F238E27FC236}">
                <a16:creationId xmlns:a16="http://schemas.microsoft.com/office/drawing/2014/main" id="{842E99E1-4463-C819-B666-106524429ABF}"/>
              </a:ext>
            </a:extLst>
          </p:cNvPr>
          <p:cNvSpPr/>
          <p:nvPr/>
        </p:nvSpPr>
        <p:spPr>
          <a:xfrm>
            <a:off x="441960" y="286764"/>
            <a:ext cx="10919148" cy="2393805"/>
          </a:xfrm>
          <a:prstGeom prst="rect">
            <a:avLst/>
          </a:prstGeom>
          <a:noFill/>
        </p:spPr>
        <p:txBody>
          <a:bodyPr wrap="none" lIns="91440" tIns="45720" rIns="91440" bIns="45720">
            <a:prstTxWarp prst="textDeflate">
              <a:avLst/>
            </a:prstTxWarp>
            <a:spAutoFit/>
          </a:bodyPr>
          <a:lstStyle/>
          <a:p>
            <a:pPr algn="ctr"/>
            <a:r>
              <a:rPr lang="en-US" sz="5400" b="1" cap="none" spc="0" dirty="0">
                <a:ln w="12700">
                  <a:solidFill>
                    <a:schemeClr val="tx1"/>
                  </a:solidFill>
                  <a:prstDash val="solid"/>
                </a:ln>
                <a:solidFill>
                  <a:srgbClr val="0070C0"/>
                </a:solidFill>
                <a:effectLst>
                  <a:outerShdw dist="38100" dir="2640000" algn="bl" rotWithShape="0">
                    <a:schemeClr val="accent1"/>
                  </a:outerShdw>
                </a:effectLst>
              </a:rPr>
              <a:t>Our Teaching Approach </a:t>
            </a:r>
          </a:p>
        </p:txBody>
      </p:sp>
      <p:sp>
        <p:nvSpPr>
          <p:cNvPr id="6" name="TextBox 5">
            <a:extLst>
              <a:ext uri="{FF2B5EF4-FFF2-40B4-BE49-F238E27FC236}">
                <a16:creationId xmlns:a16="http://schemas.microsoft.com/office/drawing/2014/main" id="{604FBA25-1BAE-F20C-A528-E0F241297F16}"/>
              </a:ext>
            </a:extLst>
          </p:cNvPr>
          <p:cNvSpPr txBox="1"/>
          <p:nvPr/>
        </p:nvSpPr>
        <p:spPr>
          <a:xfrm>
            <a:off x="382044" y="3895594"/>
            <a:ext cx="6870527" cy="2215991"/>
          </a:xfrm>
          <a:prstGeom prst="rect">
            <a:avLst/>
          </a:prstGeom>
          <a:noFill/>
        </p:spPr>
        <p:txBody>
          <a:bodyPr wrap="square" rtlCol="0">
            <a:spAutoFit/>
          </a:bodyPr>
          <a:lstStyle/>
          <a:p>
            <a:pPr algn="ctr"/>
            <a:endParaRPr lang="en-US" sz="2800" dirty="0"/>
          </a:p>
          <a:p>
            <a:pPr algn="ctr"/>
            <a:r>
              <a:rPr lang="en-US" sz="2000" b="1" dirty="0">
                <a:highlight>
                  <a:srgbClr val="FFFF00"/>
                </a:highlight>
              </a:rPr>
              <a:t>Every lesson answers three essential questions: </a:t>
            </a:r>
          </a:p>
          <a:p>
            <a:pPr marL="285750" indent="-285750">
              <a:buFont typeface="Wingdings" panose="05000000000000000000" pitchFamily="2" charset="2"/>
              <a:buChar char="ü"/>
            </a:pPr>
            <a:endParaRPr lang="en-US" dirty="0"/>
          </a:p>
          <a:p>
            <a:pPr marL="285750" indent="-285750">
              <a:buFont typeface="Wingdings" panose="05000000000000000000" pitchFamily="2" charset="2"/>
              <a:buChar char="ü"/>
            </a:pPr>
            <a:r>
              <a:rPr lang="en-US" dirty="0"/>
              <a:t>What do examiners actually mark? </a:t>
            </a:r>
          </a:p>
          <a:p>
            <a:pPr marL="285750" indent="-285750">
              <a:buFont typeface="Wingdings" panose="05000000000000000000" pitchFamily="2" charset="2"/>
              <a:buChar char="ü"/>
            </a:pPr>
            <a:r>
              <a:rPr lang="en-US" dirty="0"/>
              <a:t>Why do candidates lose points? </a:t>
            </a:r>
          </a:p>
          <a:p>
            <a:pPr marL="285750" indent="-285750">
              <a:buFont typeface="Wingdings" panose="05000000000000000000" pitchFamily="2" charset="2"/>
              <a:buChar char="ü"/>
            </a:pPr>
            <a:r>
              <a:rPr lang="en-US" dirty="0"/>
              <a:t>How can you increase your band score in the shortest time?</a:t>
            </a:r>
          </a:p>
          <a:p>
            <a:pPr algn="ctr"/>
            <a:r>
              <a:rPr lang="en-US" dirty="0"/>
              <a:t> “</a:t>
            </a:r>
            <a:endParaRPr lang="en-US" sz="2800" dirty="0"/>
          </a:p>
        </p:txBody>
      </p:sp>
    </p:spTree>
    <p:extLst>
      <p:ext uri="{BB962C8B-B14F-4D97-AF65-F5344CB8AC3E}">
        <p14:creationId xmlns:p14="http://schemas.microsoft.com/office/powerpoint/2010/main" val="208949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animEffect transition="in" filter="randombar(horizontal)">
                                      <p:cBhvr>
                                        <p:cTn id="13" dur="500"/>
                                        <p:tgtEl>
                                          <p:spTgt spid="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6">
                                            <p:txEl>
                                              <p:pRg st="4" end="4"/>
                                            </p:txEl>
                                          </p:spTgt>
                                        </p:tgtEl>
                                        <p:attrNameLst>
                                          <p:attrName>style.visibility</p:attrName>
                                        </p:attrNameLst>
                                      </p:cBhvr>
                                      <p:to>
                                        <p:strVal val="visible"/>
                                      </p:to>
                                    </p:set>
                                    <p:animEffect transition="in" filter="randombar(horizontal)">
                                      <p:cBhvr>
                                        <p:cTn id="18" dur="500"/>
                                        <p:tgtEl>
                                          <p:spTgt spid="6">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animEffect transition="in" filter="randombar(horizontal)">
                                      <p:cBhvr>
                                        <p:cTn id="23"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71936-B2A2-D008-DF1D-9E1251B29228}"/>
              </a:ext>
            </a:extLst>
          </p:cNvPr>
          <p:cNvSpPr>
            <a:spLocks noGrp="1"/>
          </p:cNvSpPr>
          <p:nvPr>
            <p:ph type="title"/>
          </p:nvPr>
        </p:nvSpPr>
        <p:spPr/>
        <p:txBody>
          <a:bodyPr/>
          <a:lstStyle/>
          <a:p>
            <a:endParaRPr lang="en-US"/>
          </a:p>
        </p:txBody>
      </p:sp>
      <p:sp>
        <p:nvSpPr>
          <p:cNvPr id="3" name="Picture Placeholder 2">
            <a:extLst>
              <a:ext uri="{FF2B5EF4-FFF2-40B4-BE49-F238E27FC236}">
                <a16:creationId xmlns:a16="http://schemas.microsoft.com/office/drawing/2014/main" id="{8DF2C989-CF15-7905-EC4C-51710F1E27F4}"/>
              </a:ext>
            </a:extLst>
          </p:cNvPr>
          <p:cNvSpPr>
            <a:spLocks noGrp="1"/>
          </p:cNvSpPr>
          <p:nvPr>
            <p:ph type="pic" idx="1"/>
          </p:nvPr>
        </p:nvSpPr>
        <p:spPr/>
      </p:sp>
      <p:sp>
        <p:nvSpPr>
          <p:cNvPr id="4" name="Text Placeholder 3">
            <a:extLst>
              <a:ext uri="{FF2B5EF4-FFF2-40B4-BE49-F238E27FC236}">
                <a16:creationId xmlns:a16="http://schemas.microsoft.com/office/drawing/2014/main" id="{9C6D4BB7-4B02-08D9-DE53-E7067C2E95C0}"/>
              </a:ext>
            </a:extLst>
          </p:cNvPr>
          <p:cNvSpPr>
            <a:spLocks noGrp="1"/>
          </p:cNvSpPr>
          <p:nvPr>
            <p:ph type="body" sz="half" idx="2"/>
          </p:nvPr>
        </p:nvSpPr>
        <p:spPr/>
        <p:txBody>
          <a:bodyPr/>
          <a:lstStyle/>
          <a:p>
            <a:endParaRPr lang="en-US"/>
          </a:p>
        </p:txBody>
      </p:sp>
      <p:sp>
        <p:nvSpPr>
          <p:cNvPr id="5" name="Rectangle 4">
            <a:extLst>
              <a:ext uri="{FF2B5EF4-FFF2-40B4-BE49-F238E27FC236}">
                <a16:creationId xmlns:a16="http://schemas.microsoft.com/office/drawing/2014/main" id="{1433E582-0F68-01E1-166F-2D8C1D72640A}"/>
              </a:ext>
            </a:extLst>
          </p:cNvPr>
          <p:cNvSpPr/>
          <p:nvPr/>
        </p:nvSpPr>
        <p:spPr>
          <a:xfrm>
            <a:off x="1178199" y="1126009"/>
            <a:ext cx="6766725" cy="1569660"/>
          </a:xfrm>
          <a:prstGeom prst="rect">
            <a:avLst/>
          </a:prstGeom>
          <a:noFill/>
        </p:spPr>
        <p:txBody>
          <a:bodyPr wrap="none" lIns="91440" tIns="45720" rIns="91440" bIns="45720">
            <a:spAutoFit/>
          </a:bodyPr>
          <a:lstStyle/>
          <a:p>
            <a:pPr algn="ctr"/>
            <a:r>
              <a:rPr lang="en-US" sz="4800" b="1" dirty="0">
                <a:solidFill>
                  <a:srgbClr val="0070C0"/>
                </a:solidFill>
                <a:highlight>
                  <a:srgbClr val="FFFF00"/>
                </a:highlight>
                <a:latin typeface="Bodoni MT" panose="02070603080606020203" pitchFamily="18" charset="0"/>
              </a:rPr>
              <a:t>IELTS Academic or </a:t>
            </a:r>
          </a:p>
          <a:p>
            <a:pPr algn="ctr"/>
            <a:r>
              <a:rPr lang="en-US" sz="4800" b="1" dirty="0">
                <a:solidFill>
                  <a:srgbClr val="0070C0"/>
                </a:solidFill>
                <a:highlight>
                  <a:srgbClr val="FFFF00"/>
                </a:highlight>
                <a:latin typeface="Bodoni MT" panose="02070603080606020203" pitchFamily="18" charset="0"/>
              </a:rPr>
              <a:t>IELTS General Training?</a:t>
            </a:r>
            <a:endParaRPr lang="en-US" sz="4800" b="1" cap="none" spc="0" dirty="0">
              <a:ln w="0"/>
              <a:solidFill>
                <a:srgbClr val="0070C0"/>
              </a:solidFill>
              <a:effectLst>
                <a:outerShdw blurRad="38100" dist="25400" dir="5400000" algn="ctr" rotWithShape="0">
                  <a:srgbClr val="6E747A">
                    <a:alpha val="43000"/>
                  </a:srgbClr>
                </a:outerShdw>
              </a:effectLst>
              <a:highlight>
                <a:srgbClr val="FFFF00"/>
              </a:highlight>
              <a:latin typeface="Bodoni MT" panose="02070603080606020203" pitchFamily="18" charset="0"/>
            </a:endParaRPr>
          </a:p>
        </p:txBody>
      </p:sp>
      <p:pic>
        <p:nvPicPr>
          <p:cNvPr id="6" name="Picture 5">
            <a:extLst>
              <a:ext uri="{FF2B5EF4-FFF2-40B4-BE49-F238E27FC236}">
                <a16:creationId xmlns:a16="http://schemas.microsoft.com/office/drawing/2014/main" id="{A3D318D3-DA2C-E796-EE3A-E4C36B0FC7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642" y="3318496"/>
            <a:ext cx="4556068" cy="3134516"/>
          </a:xfrm>
          <a:prstGeom prst="ellipse">
            <a:avLst/>
          </a:prstGeom>
          <a:ln>
            <a:noFill/>
          </a:ln>
          <a:effectLst>
            <a:softEdge rad="112500"/>
          </a:effectLst>
        </p:spPr>
      </p:pic>
    </p:spTree>
    <p:extLst>
      <p:ext uri="{BB962C8B-B14F-4D97-AF65-F5344CB8AC3E}">
        <p14:creationId xmlns:p14="http://schemas.microsoft.com/office/powerpoint/2010/main" val="2629138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Wood Type</Template>
  <TotalTime>130</TotalTime>
  <Words>701</Words>
  <Application>Microsoft Office PowerPoint</Application>
  <PresentationFormat>Widescreen</PresentationFormat>
  <Paragraphs>49</Paragraphs>
  <Slides>8</Slides>
  <Notes>7</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vt:i4>
      </vt:variant>
    </vt:vector>
  </HeadingPairs>
  <TitlesOfParts>
    <vt:vector size="20" baseType="lpstr">
      <vt:lpstr>Aldhabi</vt:lpstr>
      <vt:lpstr>Aptos Display</vt:lpstr>
      <vt:lpstr>Arial</vt:lpstr>
      <vt:lpstr>Arial Rounded MT Bold</vt:lpstr>
      <vt:lpstr>Bodoni MT</vt:lpstr>
      <vt:lpstr>Eras Bold ITC</vt:lpstr>
      <vt:lpstr>Euphemia</vt:lpstr>
      <vt:lpstr>Rockwell</vt:lpstr>
      <vt:lpstr>Rockwell Condensed</vt:lpstr>
      <vt:lpstr>SegoeuiPc</vt:lpstr>
      <vt:lpstr>Wingdings</vt:lpstr>
      <vt:lpstr>Wood Type</vt:lpstr>
      <vt:lpstr>IELTs EXAMINATion</vt:lpstr>
      <vt:lpstr>PowerPoint Presentation</vt:lpstr>
      <vt:lpstr>Coverage</vt:lpstr>
      <vt:lpstr>What Is IELTS?</vt:lpstr>
      <vt:lpstr>Who Needs IELTS? </vt:lpstr>
      <vt:lpstr>Common Misunderstandings About IELTS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April Ampong</dc:creator>
  <cp:lastModifiedBy>April Ampong</cp:lastModifiedBy>
  <cp:revision>1</cp:revision>
  <dcterms:created xsi:type="dcterms:W3CDTF">2025-12-30T11:49:35Z</dcterms:created>
  <dcterms:modified xsi:type="dcterms:W3CDTF">2025-12-30T14:00:13Z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